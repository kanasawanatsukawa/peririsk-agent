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c1bbe256344aa" /><Relationship Type="http://schemas.openxmlformats.org/officeDocument/2006/relationships/extended-properties" Target="/docProps/app.xml" Id="Rd89548772b1f4d48" /><Relationship Type="http://schemas.openxmlformats.org/officeDocument/2006/relationships/officeDocument" Target="/ppt/presentation.xml" Id="R7aef6e9ee2af4c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6dd74175d4d6e"/>
    <p:sldMasterId xmlns:r="http://schemas.openxmlformats.org/officeDocument/2006/relationships" id="2147483660" r:id="Rc4da3d6e7d0745b9"/>
  </p:sldMasterIdLst>
  <p:notesMasterIdLst>
    <p:notesMasterId xmlns:r="http://schemas.openxmlformats.org/officeDocument/2006/relationships" r:id="R44064d8a39164bfc"/>
  </p:notesMasterIdLst>
  <p:sldIdLst>
    <p:sldId xmlns:r="http://schemas.openxmlformats.org/officeDocument/2006/relationships" id="256" r:id="R6d51de78d6294e77"/>
    <p:sldId xmlns:r="http://schemas.openxmlformats.org/officeDocument/2006/relationships" id="257" r:id="R3e2d09bbce044154"/>
    <p:sldId xmlns:r="http://schemas.openxmlformats.org/officeDocument/2006/relationships" id="258" r:id="Ra66d41007bf84aac"/>
    <p:sldId xmlns:r="http://schemas.openxmlformats.org/officeDocument/2006/relationships" id="259" r:id="Ra39aebe59624483c"/>
    <p:sldId xmlns:r="http://schemas.openxmlformats.org/officeDocument/2006/relationships" id="260" r:id="R9ed15f53984d43ab"/>
    <p:sldId xmlns:r="http://schemas.openxmlformats.org/officeDocument/2006/relationships" id="261" r:id="Rf5768773f2344a72"/>
    <p:sldId xmlns:r="http://schemas.openxmlformats.org/officeDocument/2006/relationships" id="262" r:id="R6e2e8a53791f47d9"/>
    <p:sldId xmlns:r="http://schemas.openxmlformats.org/officeDocument/2006/relationships" id="263" r:id="R3c70cf1c787e423e"/>
    <p:sldId xmlns:r="http://schemas.openxmlformats.org/officeDocument/2006/relationships" id="264" r:id="R343941d746e44903"/>
    <p:sldId xmlns:r="http://schemas.openxmlformats.org/officeDocument/2006/relationships" id="265" r:id="R55ea868000e7423a"/>
    <p:sldId xmlns:r="http://schemas.openxmlformats.org/officeDocument/2006/relationships" id="266" r:id="R7c7b63bdf60e45c4"/>
    <p:sldId xmlns:r="http://schemas.openxmlformats.org/officeDocument/2006/relationships" id="267" r:id="Rf1b52d167c6841c7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548c15a4e4618" /><Relationship Type="http://schemas.openxmlformats.org/officeDocument/2006/relationships/slideMaster" Target="/ppt/slideMasters/slideMaster1.xml" Id="R76b6dd74175d4d6e" /><Relationship Type="http://schemas.openxmlformats.org/officeDocument/2006/relationships/slideMaster" Target="/ppt/slideMasters/slideMaster2.xml" Id="Rc4da3d6e7d0745b9" /><Relationship Type="http://schemas.openxmlformats.org/officeDocument/2006/relationships/notesMaster" Target="/ppt/notesMasters/notesMaster1.xml" Id="R44064d8a39164bfc" /><Relationship Type="http://schemas.openxmlformats.org/officeDocument/2006/relationships/presProps" Target="/ppt/presProps.xml" Id="Ra769bd95db4a406f" /><Relationship Type="http://schemas.openxmlformats.org/officeDocument/2006/relationships/viewProps" Target="/ppt/viewProps.xml" Id="R1703ff1379ff4830" /><Relationship Type="http://schemas.openxmlformats.org/officeDocument/2006/relationships/tableStyles" Target="/ppt/tableStyles.xml" Id="Reea53542f6934e9c" /><Relationship Type="http://schemas.openxmlformats.org/officeDocument/2006/relationships/slide" Target="/ppt/slides/slide1.xml" Id="R6d51de78d6294e77" /><Relationship Type="http://schemas.openxmlformats.org/officeDocument/2006/relationships/slide" Target="/ppt/slides/slide2.xml" Id="R3e2d09bbce044154" /><Relationship Type="http://schemas.openxmlformats.org/officeDocument/2006/relationships/slide" Target="/ppt/slides/slide3.xml" Id="Ra66d41007bf84aac" /><Relationship Type="http://schemas.openxmlformats.org/officeDocument/2006/relationships/slide" Target="/ppt/slides/slide4.xml" Id="Ra39aebe59624483c" /><Relationship Type="http://schemas.openxmlformats.org/officeDocument/2006/relationships/slide" Target="/ppt/slides/slide5.xml" Id="R9ed15f53984d43ab" /><Relationship Type="http://schemas.openxmlformats.org/officeDocument/2006/relationships/slide" Target="/ppt/slides/slide6.xml" Id="Rf5768773f2344a72" /><Relationship Type="http://schemas.openxmlformats.org/officeDocument/2006/relationships/slide" Target="/ppt/slides/slide7.xml" Id="R6e2e8a53791f47d9" /><Relationship Type="http://schemas.openxmlformats.org/officeDocument/2006/relationships/slide" Target="/ppt/slides/slide8.xml" Id="R3c70cf1c787e423e" /><Relationship Type="http://schemas.openxmlformats.org/officeDocument/2006/relationships/slide" Target="/ppt/slides/slide9.xml" Id="R343941d746e44903" /><Relationship Type="http://schemas.openxmlformats.org/officeDocument/2006/relationships/slide" Target="/ppt/slides/slide10.xml" Id="R55ea868000e7423a" /><Relationship Type="http://schemas.openxmlformats.org/officeDocument/2006/relationships/slide" Target="/ppt/slides/slide11.xml" Id="R7c7b63bdf60e45c4" /><Relationship Type="http://schemas.openxmlformats.org/officeDocument/2006/relationships/slide" Target="/ppt/slides/slide12.xml" Id="Rf1b52d167c6841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94c685f834e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d298bd8d145b2" /><Relationship Type="http://schemas.openxmlformats.org/officeDocument/2006/relationships/notesMaster" Target="/ppt/notesMasters/notesMaster1.xml" Id="R0fe84e4dc18f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28b5ffce949f4" /><Relationship Type="http://schemas.openxmlformats.org/officeDocument/2006/relationships/notesMaster" Target="/ppt/notesMasters/notesMaster1.xml" Id="Re07f7cc856bc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26a3b618d04f68" /><Relationship Type="http://schemas.openxmlformats.org/officeDocument/2006/relationships/notesMaster" Target="/ppt/notesMasters/notesMaster1.xml" Id="R2e9260521ba44e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64e9bf38b4a99" /><Relationship Type="http://schemas.openxmlformats.org/officeDocument/2006/relationships/notesMaster" Target="/ppt/notesMasters/notesMaster1.xml" Id="R41ddd7238e39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07afd354ca47db" /><Relationship Type="http://schemas.openxmlformats.org/officeDocument/2006/relationships/notesMaster" Target="/ppt/notesMasters/notesMaster1.xml" Id="R9d538bdf6a78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6e744337ee447d" /><Relationship Type="http://schemas.openxmlformats.org/officeDocument/2006/relationships/notesMaster" Target="/ppt/notesMasters/notesMaster1.xml" Id="Rbb9c25aa0da942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56864e47984b44" /><Relationship Type="http://schemas.openxmlformats.org/officeDocument/2006/relationships/notesMaster" Target="/ppt/notesMasters/notesMaster1.xml" Id="R27d44cff7c0645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ea23bea4c04d53" /><Relationship Type="http://schemas.openxmlformats.org/officeDocument/2006/relationships/notesMaster" Target="/ppt/notesMasters/notesMaster1.xml" Id="R1ac6eaf563404a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c0e02b3e134bfe" /><Relationship Type="http://schemas.openxmlformats.org/officeDocument/2006/relationships/notesMaster" Target="/ppt/notesMasters/notesMaster1.xml" Id="Rf21b67723a324b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893f8b3f8b4f72" /><Relationship Type="http://schemas.openxmlformats.org/officeDocument/2006/relationships/notesMaster" Target="/ppt/notesMasters/notesMaster1.xml" Id="Rb0a8c1591f464e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1e47932173475a" /><Relationship Type="http://schemas.openxmlformats.org/officeDocument/2006/relationships/notesMaster" Target="/ppt/notesMasters/notesMaster1.xml" Id="R3090b7eef26a41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a90d34416440af" /><Relationship Type="http://schemas.openxmlformats.org/officeDocument/2006/relationships/notesMaster" Target="/ppt/notesMasters/notesMaster1.xml" Id="R70e57075c79445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【开场 · 约20秒】</a:t>
            </a:r>
          </a:p>
          <a:p xmlns:a="http://schemas.openxmlformats.org/drawingml/2006/main">
            <a:pPr algn="l">
              <a:buNone/>
            </a:pPr>
            <a:r>
              <a:t>各位老师好，我汇报的是 PeriRisk，围术期麻醉风险评估 Agent。今天重点讲三件事：为什么做、怎么实现、以及 5 个不同病例上的验证结果。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【背景 · 约45秒】</a:t>
            </a:r>
          </a:p>
          <a:p xmlns:a="http://schemas.openxmlformats.org/drawingml/2006/main">
            <a:pPr algn="l">
              <a:buNone/>
            </a:pPr>
            <a:r>
              <a:t>术前评估是标准流程。2021 年一项系统综述汇总 15 项研究、31496 例患者，虚拟评估可节省约 24 到 137 分钟/患者。我们不是替代评估流程，而是把信息查询、规则执行和报告草稿串成一条可追溯的链路。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【架构 · 约40秒】</a:t>
            </a:r>
          </a:p>
          <a:p xmlns:a="http://schemas.openxmlformats.org/drawingml/2006/main">
            <a:pPr algn="l">
              <a:buNone/>
            </a:pPr>
            <a:r>
              <a:t>核心原则是：大模型负责决策调度，本地代码负责确定性计算。应用层由 Agent 决定下一步调用什么工具；工具层有查病历、算心率、算 ASA；底层由 DeepSeek 写报告，Python 和 scipy 做数值计算，VitalDB 提供真实数据。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【ASA 规则 · 约45秒】</a:t>
            </a:r>
          </a:p>
          <a:p xmlns:a="http://schemas.openxmlformats.org/drawingml/2006/main">
            <a:pPr algn="l">
              <a:buNone/>
            </a:pPr>
            <a:r>
              <a:t>ASA 用简化规则演示。先按基础疾病定级，再算血压地板，最后取较高值。例如 50 岁、无基础病、收缩压 146，基础是 I 级，但血压地板把它抬到 II 级。82 岁病情不稳定则直接是 V 级，后面的规则不会把它降下来。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【心率方法 · 约40秒】</a:t>
            </a:r>
          </a:p>
          <a:p xmlns:a="http://schemas.openxmlformats.org/drawingml/2006/main">
            <a:pPr algn="l">
              <a:buNone/>
            </a:pPr>
            <a:r>
              <a:t>心率工具从 PLETH 脉搏波找峰。采样率 500Hz，两个峰至少间隔 0.4 秒，prominence 设为 0.5。这里要说明限制：0.4 秒把可检测上限限制在约 150 次/分；prominence 是经验值，还没有做参数网格搜索。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病例结果 · 约50秒】</a:t>
            </a:r>
          </a:p>
          <a:p xmlns:a="http://schemas.openxmlformats.org/drawingml/2006/main">
            <a:pPr algn="l">
              <a:buNone/>
            </a:pPr>
            <a:r>
              <a:t>这部分是这两周新增的工作。我们从 VitalDB 选了 5 个不同病例，每个病例截取 60 秒 PLETH 波形和同窗口的 PLETH_HR、综合 HR。算法心率范围是 71 到 98 次/分；算法对同源 PLETH_HR 的平均差是 1.5，对综合 HR 的平均差是 1.9。注意，这仍然是 5 例小样本，不是临床准确率。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【Agent 主循环 · 约45秒】</a:t>
            </a:r>
          </a:p>
          <a:p xmlns:a="http://schemas.openxmlformats.org/drawingml/2006/main">
            <a:pPr algn="l">
              <a:buNone/>
            </a:pPr>
            <a:r>
              <a:t>Agent 第一轮只拿到系统提示词和用户任务。模型返回 tool_calls 后，本地 Python 执行对应工具，再用 tool_call_id 把结果回填。模型再次看到工具结果，继续决定下一步，直到不再调用工具、直接输出报告。on_event 只负责把过程通知给 CLI 或网页。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【防幻觉 · 约35秒】</a:t>
            </a:r>
          </a:p>
          <a:p xmlns:a="http://schemas.openxmlformats.org/drawingml/2006/main">
            <a:pPr algn="l">
              <a:buNone/>
            </a:pPr>
            <a:r>
              <a:t>报告只允许引用工具真实返回的字段。系统提示词明确禁止写性别、舒张压、造影结果等未返回信息；每条结论后面要附“（依据：…）”；循环最多 8 轮，防止死循环和持续消耗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【问题与优化 · 约45秒】</a:t>
            </a:r>
          </a:p>
          <a:p xmlns:a="http://schemas.openxmlformats.org/drawingml/2006/main">
            <a:pPr algn="l">
              <a:buNone/>
            </a:pPr>
            <a:r>
              <a:t>已解决三项关键问题：改用 requests 直连 API；ASA 加入血压地板；用字段白名单和依据标注约束幻觉。</a:t>
            </a:r>
          </a:p>
          <a:p xmlns:a="http://schemas.openxmlformats.org/drawingml/2006/main">
            <a:pPr algn="l">
              <a:buNone/>
            </a:pPr>
            <a:r>
              <a:t>仍需优化三点：把病例扩到 20–30 例，并区分规则一致性与临床准确率；对 prominence×distance 做网格搜索和滤波；继续按 ASA 指南扩展 BMI、手术类型和急诊等因素。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例评估 · 约50秒】</a:t>
            </a:r>
          </a:p>
          <a:p xmlns:a="http://schemas.openxmlformats.org/drawingml/2006/main">
            <a:pPr algn="l">
              <a:buNone/>
            </a:pPr>
            <a:r>
              <a:t>这张表要先讲清楚口径。预期分级是本地规则引擎直算；Agent 分级是大模型传参后由同一个规则引擎返回的。5/5 一致说明模型参数传递正确，不代表临床准确率 100%。C01 到 C05 是同源差 0.8、1.4、0.4、1.2、3.8，综合 HR 差分别是 4.4、1.0、0.3、0.5、3.1。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【运行截图 · 约30秒】</a:t>
            </a:r>
          </a:p>
          <a:p xmlns:a="http://schemas.openxmlformats.org/drawingml/2006/main">
            <a:pPr algn="l">
              <a:buNone/>
            </a:pPr>
            <a:r>
              <a:t>左侧是陈伟 case_004 的真实工具调用过程：第一轮查病历，第二轮调用心率工具和 ASA 工具。</a:t>
            </a:r>
          </a:p>
          <a:p xmlns:a="http://schemas.openxmlformats.org/drawingml/2006/main">
            <a:pPr algn="l">
              <a:buNone/>
            </a:pPr>
            <a:r>
              <a:t>本次使用 60 秒窗口，检测 85 个峰，算法心率 85.0 次/分，PLETH_HR 86.2 次/分，综合 HR 85.5 次/分；右侧报告中每条结论都附带工具返回值依据。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最后是 5 篇核心参考文献，全部有本地全文 PDF，位于 references/pdf/。老师问到具体结论时，直接打开对应 PDF，搜索 Results 或 Discussion 即可核对原句。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91e95664d4b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17cfc6fcd4d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82af7c4af42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68b7667f146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adeb19d4643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1c692a74545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24dc308ad433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a686859d4480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50bdd1e364a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f814fc8a944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d2bb29a614a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80aef3f30b4c5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72104D7F-6ACF-4502-9087-25608B4AD9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0EB29183-7C76-424B-9DEC-F96E38A64E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E03444FF-C148-4720-BFE9-AC92B25488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6D7A6A07-D7C3-4616-99D1-E194D8B920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FDCC68CA-3186-4947-A54A-29CAA1BF7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26C86837-55EE-40FD-BD10-AA192907B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E5BEF5BB-39D3-494D-B4A2-7BCA8983E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5623F4BF-B41B-41D0-B535-8F047D79D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6231F05E-1B67-4C9B-AF37-82DFF51649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6BA0238E-8A7A-481D-8E41-0080C1B5A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195DBFED-C30C-4581-957F-F66DF5D39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92EB66E7-2059-4D4F-AB45-45909B12E1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B39728B3-B8B6-498D-A0DE-BE07C95D5D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DFA213B4-4225-453C-8A3A-FA19E981E2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05817DA1-CED0-44E5-A18A-D732530089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B6562AD-C0FE-4FE4-BB05-E8CF2F49C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8C683D01-3970-4943-AB48-CD5298796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1014D24-62E8-4CF2-8634-3D61500760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AEEF949-E5BE-4BE3-B7F6-7EFC205C0F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AD1889FE-19F6-4C96-9E93-AD1C0610D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63DE30F3-371A-4DB6-93F4-7D778B75C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CF9975F-EC44-4B70-938B-9FDA9E7B7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65A8639-2C08-4336-9FE2-E693A5FE6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42790F-B7FC-46E0-8DF9-54F58CF0B4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8A5F424-4CDC-4A40-A544-B9AF95632F5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27ADD50-E25E-48F8-8F02-C5EA6ADC4EE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ACCEA92-0BEB-4DB2-9869-832370AD0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65EAE52-5B25-4F20-AC07-502C96FF2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06CFC69-A2D2-4CEE-BC6C-8CC318A87E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5F559C2D-7122-4F67-B53A-DD13BC543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09E77AA-5B56-42FC-B294-AC966FC8F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67FE4A2B-35CA-430E-BF28-1577EA530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4C44EA2-3785-480B-927B-E289DBB38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BC1A7E23-4F12-467C-8BAD-62B0D09F01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38918938-7E65-4F52-A708-1D0AB3FCED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2A1EF108-2023-4DD5-92D9-C04D50AF2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5D8D4E79-002B-4C68-BCC8-47B72D944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39E64E36-2B6E-4DA4-82D9-F8A575DD5E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7BAE03C1-A5BE-48CE-A0C4-1477B247FE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E08C4C2-775D-4EFF-87A9-9EE09BBAFE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F398661C-BAA5-43C8-AB16-00499787E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02D581B8-3BC6-44FF-91CB-F71597FFCE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80D0C9BF-AE77-445A-931A-4D3E796A6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C29F339-9486-4615-9299-07C50318A46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C978115E-FCFF-4D51-9D9C-9B9BA2162C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737C437-D089-473C-9610-DA123FB854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77C74DC6-7B17-4C4A-A947-4B9E94446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4988727D-4FCE-4063-B1CB-2B001C423E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F7BCFDDA-4761-410F-AAA1-C1253C7EA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CED0479-79E7-46D2-BCBB-D06B3643F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74A8583-A613-498D-928A-5BEB169B1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084A0334-D72B-412E-8509-EF58EA8678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50CFE77E-A21E-4A7C-B9D0-70EA0497A9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1BEE6EED-44D3-49C5-BD76-7583ADE7E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AAA0A807-427A-4B54-897E-E61CFDEC5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B93B8DD1-966D-4607-A111-5BB2E7A0C8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C242DB78-31DE-4350-AC84-D7A550C85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6C17755B-7168-4335-A151-BF35600548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29f448e4e4c6b" /><Relationship Type="http://schemas.openxmlformats.org/officeDocument/2006/relationships/slideLayout" Target="/ppt/slideLayouts/slideLayout1.xml" Id="R4384bda4ec3f4cf2" /><Relationship Type="http://schemas.openxmlformats.org/officeDocument/2006/relationships/slideLayout" Target="/ppt/slideLayouts/slideLayout2.xml" Id="R73ee457d17c24bc9" /><Relationship Type="http://schemas.openxmlformats.org/officeDocument/2006/relationships/slideLayout" Target="/ppt/slideLayouts/slideLayout3.xml" Id="Reddb3324a4524071" /><Relationship Type="http://schemas.openxmlformats.org/officeDocument/2006/relationships/slideLayout" Target="/ppt/slideLayouts/slideLayout4.xml" Id="R9141139ee8af4522" /><Relationship Type="http://schemas.openxmlformats.org/officeDocument/2006/relationships/slideLayout" Target="/ppt/slideLayouts/slideLayout5.xml" Id="R64252593d54044e7" /><Relationship Type="http://schemas.openxmlformats.org/officeDocument/2006/relationships/slideLayout" Target="/ppt/slideLayouts/slideLayout6.xml" Id="R8aaf9a40b30f44e1" /><Relationship Type="http://schemas.openxmlformats.org/officeDocument/2006/relationships/slideLayout" Target="/ppt/slideLayouts/slideLayout7.xml" Id="Re2296924e0084a87" /><Relationship Type="http://schemas.openxmlformats.org/officeDocument/2006/relationships/slideLayout" Target="/ppt/slideLayouts/slideLayout8.xml" Id="Rbe03fbe6814141bd" /><Relationship Type="http://schemas.openxmlformats.org/officeDocument/2006/relationships/slideLayout" Target="/ppt/slideLayouts/slideLayout9.xml" Id="R55872946f5b74419" /><Relationship Type="http://schemas.openxmlformats.org/officeDocument/2006/relationships/slideLayout" Target="/ppt/slideLayouts/slideLayout10.xml" Id="Ra259e649577a47b2" /><Relationship Type="http://schemas.openxmlformats.org/officeDocument/2006/relationships/slideLayout" Target="/ppt/slideLayouts/slideLayout11.xml" Id="R7f05f612e8b9497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a04af77b17b48f7" /><Relationship Type="http://schemas.openxmlformats.org/officeDocument/2006/relationships/slideLayout" Target="/ppt/slideLayouts/slideLayout12.xml" Id="Ra9073b6dcd43455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33D13C2F-0824-4388-904E-9181A8D10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E2FCE4D-4975-48FD-A69F-8169A8CBB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F5072481-FFCC-4BD0-AEC9-080C08219C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3F3B916-01E3-4D70-9F1B-7B0B0DCC76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B08AF98-E22E-49D3-B719-A3F344BBF3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4bda4ec3f4cf2"/>
    <p:sldLayoutId xmlns:r="http://schemas.openxmlformats.org/officeDocument/2006/relationships" id="2147483650" r:id="R73ee457d17c24bc9"/>
    <p:sldLayoutId xmlns:r="http://schemas.openxmlformats.org/officeDocument/2006/relationships" id="2147483651" r:id="Reddb3324a4524071"/>
    <p:sldLayoutId xmlns:r="http://schemas.openxmlformats.org/officeDocument/2006/relationships" id="2147483652" r:id="R9141139ee8af4522"/>
    <p:sldLayoutId xmlns:r="http://schemas.openxmlformats.org/officeDocument/2006/relationships" id="2147483653" r:id="R64252593d54044e7"/>
    <p:sldLayoutId xmlns:r="http://schemas.openxmlformats.org/officeDocument/2006/relationships" id="2147483654" r:id="R8aaf9a40b30f44e1"/>
    <p:sldLayoutId xmlns:r="http://schemas.openxmlformats.org/officeDocument/2006/relationships" id="2147483655" r:id="Re2296924e0084a87"/>
    <p:sldLayoutId xmlns:r="http://schemas.openxmlformats.org/officeDocument/2006/relationships" id="2147483656" r:id="Rbe03fbe6814141bd"/>
    <p:sldLayoutId xmlns:r="http://schemas.openxmlformats.org/officeDocument/2006/relationships" id="2147483657" r:id="R55872946f5b74419"/>
    <p:sldLayoutId xmlns:r="http://schemas.openxmlformats.org/officeDocument/2006/relationships" id="2147483658" r:id="Ra259e649577a47b2"/>
    <p:sldLayoutId xmlns:r="http://schemas.openxmlformats.org/officeDocument/2006/relationships" id="2147483659" r:id="R7f05f612e8b9497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9073b6dcd43455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01ee444f814673" /><Relationship Type="http://schemas.openxmlformats.org/officeDocument/2006/relationships/notesSlide" Target="/ppt/notesSlides/notesSlide1.xml" Id="Rcc163f0158f6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6dbaf95e97493d" /><Relationship Type="http://schemas.openxmlformats.org/officeDocument/2006/relationships/notesSlide" Target="/ppt/notesSlides/notesSlide2.xml" Id="Rf0d96feef4bf48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2ea508e8194bd0" /><Relationship Type="http://schemas.openxmlformats.org/officeDocument/2006/relationships/notesSlide" Target="/ppt/notesSlides/notesSlide3.xml" Id="R60ca7e16cb8d44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8d48e056034271" /><Relationship Type="http://schemas.openxmlformats.org/officeDocument/2006/relationships/notesSlide" Target="/ppt/notesSlides/notesSlide4.xml" Id="R9605680fb586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85833eac424534" /><Relationship Type="http://schemas.openxmlformats.org/officeDocument/2006/relationships/notesSlide" Target="/ppt/notesSlides/notesSlide5.xml" Id="R6b6b0a03af2c41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17725582074992" /><Relationship Type="http://schemas.openxmlformats.org/officeDocument/2006/relationships/notesSlide" Target="/ppt/notesSlides/notesSlide6.xml" Id="Rbb64761861644f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bf97646e5e411e" /><Relationship Type="http://schemas.openxmlformats.org/officeDocument/2006/relationships/notesSlide" Target="/ppt/notesSlides/notesSlide7.xml" Id="R6eaf19bc3c6e42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75f08c528e4b1f" /><Relationship Type="http://schemas.openxmlformats.org/officeDocument/2006/relationships/notesSlide" Target="/ppt/notesSlides/notesSlide8.xml" Id="R07ef01d9e531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5e8d04f559404b" /><Relationship Type="http://schemas.openxmlformats.org/officeDocument/2006/relationships/notesSlide" Target="/ppt/notesSlides/notesSlide9.xml" Id="Rde0308b65d0d46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56eda73bb947b7" /><Relationship Type="http://schemas.openxmlformats.org/officeDocument/2006/relationships/notesSlide" Target="/ppt/notesSlides/notesSlide10.xml" Id="Reac7ea74da0847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c4056a332e4b8f" /><Relationship Type="http://schemas.openxmlformats.org/officeDocument/2006/relationships/image" Target="/ppt/media/image.png" Id="Rf7a31025c0c941e2" /><Relationship Type="http://schemas.openxmlformats.org/officeDocument/2006/relationships/image" Target="/ppt/media/image2.png" Id="R68d2afdb53a84a7a" /><Relationship Type="http://schemas.openxmlformats.org/officeDocument/2006/relationships/notesSlide" Target="/ppt/notesSlides/notesSlide11.xml" Id="R4d9be92a65ec44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7c32dfd9ea49b6" /><Relationship Type="http://schemas.openxmlformats.org/officeDocument/2006/relationships/notesSlide" Target="/ppt/notesSlides/notesSlide12.xml" Id="Rf31ea2dbb2bb481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3366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DE405D-8272-4303-B2C0-B996688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524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生物医学工程 · 课题组组会汇报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6E18D7B-410D-43FE-9BF9-25D6377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PeriRisk Agent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6B0B021-289F-4A12-9AEE-75378CB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2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DCEBFF"/>
                </a:solidFill>
                <a:latin typeface="Noto Sans SC"/>
                <a:ea typeface="Noto Sans SC"/>
                <a:cs typeface="Noto Sans SC"/>
              </a:rPr>
              <a:t>围术期风险评估智能体 —— 开发进度与技术细节汇报</a:t>
            </a:r>
            <a:endParaRPr sz="1100"/>
          </a:p>
        </p:txBody>
      </p:sp>
      <p:cxnSp>
        <p:nvCxnSpPr>
          <p:cNvPr id="5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9CCC3B3-DDF1-4175-90AD-7DA946208DFC}"/>
              </a:ext>
            </a:extLst>
          </p:cNvPr>
          <p:cNvCxnSpPr/>
          <p:nvPr/>
        </p:nvCxnSpPr>
        <p:spPr>
          <a:xfrm xmlns:a="http://schemas.openxmlformats.org/drawingml/2006/main" rot="-17188">
            <a:off x="1016016" y="44386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FC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B78C9E5-8F48-48FA-AB49-18EAED2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508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汇报人：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范浩然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日期：2026 年 10 月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26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</a:t>
            </a:r>
            <a:endParaRPr sz="1500" b="0" i="0" u="none" strike="noStrike">
              <a:solidFill>
                <a:srgbClr val="C8DCF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3D340E5-04E5-4272-835F-D6DC760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826000"/>
            <a:ext cx="47307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技术栈：DeepSeek Function Calling + Python + Streamlit</a:t>
            </a:r>
            <a:endParaRPr sz="1100"/>
          </a:p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数据：VitalDB 公开生理数据集</a:t>
            </a:r>
            <a:endParaRPr sz="1300" b="0" i="0" u="none" strike="noStrike">
              <a:solidFill>
                <a:srgbClr val="B4CDF0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996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21C9D0C-87D5-45BC-87FC-66E7D971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01 · 项目背景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0691074-14FA-4E3F-B60B-FABAFDDE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术前风险评估：一个被低估的临床瓶颈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8F365626-EE3B-44B3-AE6D-7404115B0C5C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B337C05-0653-442B-BC80-15095FF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D471C5F-F8C4-4F51-AC35-9F321A6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时间成本高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E55EEF5-667F-4E21-9654-BE00F64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2021 年系统综述汇总 15 项研究、31496 例患者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虚拟评估可节省约 24–137 分钟/患者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17A0FD7-8278-4527-BEF0-A91BE66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27C5192-24F6-496C-B28D-0D2BA95F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主观偏差大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5059A3F9-FD4F-4303-B26D-5DDF41C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分级依赖医生经验判断，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不同医生对同一患者分级可能差 1–2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漏项率在基层医院更高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02A966F-2FB7-404A-A3B1-B3615198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1977A1B-D608-4E33-99A5-F2F8572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基层资源缺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73831EF-129A-4D5D-8AA9-7E41ECE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基层医院麻醉医生短缺，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评估规范性压力大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缺乏标准化辅助工具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065E934-8F0E-442D-A6B7-1622BDF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B473633-AEF6-41C0-BB04-660269C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2926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7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本项目目标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F0D7056-DF34-4BFA-BE94-25338CE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724400"/>
            <a:ext cx="10160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构建一个 </a:t>
            </a:r>
            <a:r>
              <a:rPr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大模型自主调度工具链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 的围术期风险评估 Agent：输入患者病历 + 监护波形（PPG），自动完成病历查询 → 心率检测 → ASA 分级 → 三段式评估报告输出。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核心设计原则：</a:t>
            </a:r>
            <a:r>
              <a:rPr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数值计算与规则判定在本地完成，不依赖大模型"猜测"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；大模型只负责任务拆解、工具调度和报告生成。</a:t>
            </a:r>
            <a:endParaRPr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D95CF68B-0764-4DB8-B534-2183BBA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D81CD49-BBC2-457C-9185-3179AFC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02 / 12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385F126-5907-4376-986E-ABE1F0C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证据：[1] Zhang et al., J Clin Anesth 2021（15项研究，节省24–137min/患者）；[2] Sankar et al., Br J Anaesth 2014（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21%(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n=2245)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在手术室被分配到更高的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ASA-PS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等级，而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12%(n=1340)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被分配到更低的等级。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）；[3] Karim, 2021（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ASA-PS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评分存在165例(61.3%)的一致情况(即正确分配)和105例(38.7%)的不一致情况(即差异)</a:t>
            </a: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46995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B213A7B-584A-46DD-88B6-1D8BD7CF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02 · 技术架构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4AE906D-E0B7-443C-BA83-8191BD1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三层架构：大模型决策 + 本地计算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113141F-FF38-4A01-BDE7-F44E6A15A9D5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8D8D7BF-4038-4C20-8F69-C080CAD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FF1FDE7-EE5A-4321-ADC5-67D35FDB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应用层 · Agent 主循环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FFA3E51-C542-41C3-BC98-4C58AB6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15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DeepSeek 通过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Function Calling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自主拆解任务、调用工具、回填结果；内置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8 轮对话安全阀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防止死循环；系统提示词限定字段白名单防幻觉</a:t>
            </a:r>
            <a:endParaRPr sz="1100"/>
          </a:p>
        </p:txBody>
      </p:sp>
      <p:cxnSp>
        <p:nvCxnSpPr>
          <p:cNvPr id="8" name="Connector 8">
            <a:extLst xmlns:a="http://schemas.openxmlformats.org/drawingml/2006/main">
              <a:ext uri="{FF2B5EF4-FFF2-40B4-BE49-F238E27FC236}">
                <a16:creationId xmlns:a16="http://schemas.microsoft.com/office/drawing/2014/main" id="{26C9F528-6652-4877-9D49-13A96F3CEA3C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30735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1789D77-A024-4D3E-8254-91B573D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78C6372D-C57E-4589-B211-2C61721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365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工具层 · Function Calling 工具链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44EBBDD-C9CC-47B2-A427-C45DC4E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671A233-02BB-4F1C-AE25-9CE049C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get_patient_record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查询病历（年龄/既往史/收缩压）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716A51B-E9E2-4409-B97C-EBE4605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450A3D9-7983-4D40-9E7C-4252A90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analyze_waveform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PPG 峰值法算心率（scipy 本地）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D46013D-29FF-4315-A242-C73D2AE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F088CDD1-02CF-43C1-BB8E-00E7196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assess_asa_grade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规则引擎（纯逻辑，不调 AI）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7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B318E4C5-2EAE-404C-A79C-C23CCD3BE931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49150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7CB2AF4-C881-4FFC-9847-7F5BB51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952500"/>
          </a:xfrm>
          <a:prstGeom xmlns:a="http://schemas.openxmlformats.org/drawingml/2006/main" prst="roundRect">
            <a:avLst>
              <a:gd name="adj" fmla="val 10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2D55DBA6-D365-49A0-89C1-97725AEF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07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数据模型层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23D9B739-630F-48D1-B762-57607AC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24500"/>
            <a:ext cx="10160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大模型：DeepSeek API（llm.py 统一封装） ｜ 数据：VitalDB 公开生理数据集（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5 个病例，每个 60 秒 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PLETH，500Hz</a:t>
            </a: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 ｜ 计算：Python + scipy（find_peaks 峰值检测）</a:t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B9C326C-9FE4-4197-87C5-A5D983D7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0FED399-2152-4A6D-B739-2C79BE17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03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82636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D7911BF-6C7A-47E7-9312-05E180E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04 · 模块一 · ASA 规则引擎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0488935-1553-42F8-8E29-4E534B71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ASA 分级：基础规则 + 血压地板，只升不降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B21F6EA-0D87-4FA7-BBE8-67AB1D6B5E6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86E516B-8175-4ECB-ADB5-6A4A372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基础规则（按优先级从上到下）</a:t>
            </a:r>
            <a:endParaRPr sz="1100"/>
          </a:p>
        </p:txBody>
      </p:sp>
      <p:graphicFrame>
        <p:nvGraphicFramePr>
          <p:cNvPr id="6" name="Table 6">
            <a:extLst xmlns:a="http://schemas.openxmlformats.org/drawingml/2006/main">
              <a:ext uri="{FF2B5EF4-FFF2-40B4-BE49-F238E27FC236}">
                <a16:creationId xmlns:a16="http://schemas.microsoft.com/office/drawing/2014/main" id="{53225416-37BB-40C9-BC87-AA7965B076D6}"/>
              </a:ext>
            </a:extLst>
          </p:cNvPr>
          <p:cNvGraphicFramePr/>
          <p:nvPr/>
        </p:nvGraphicFramePr>
        <p:xfrm>
          <a:off xmlns:a="http://schemas.openxmlformats.org/drawingml/2006/main" x="762000" y="2032000"/>
          <a:ext xmlns:a="http://schemas.openxmlformats.org/drawingml/2006/main" cx="5080000" cy="254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1016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级别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年龄≥80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濒死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年龄&lt;80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随时威胁生命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肾衰 + 冠心病（叠加）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两种重病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 或 糖尿病</a:t>
                      </a: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或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两者都有</a:t>
                      </a:r>
                      <a:endParaRPr sz="11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重度系统性疾病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 ≥ 65（健康）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高龄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其他（健康年轻）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正常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4C9FB0F-8C0D-4B18-94DF-00E0D82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血压地板（后加入的优化）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5F9731-08D2-44E9-9A0B-E49FB9E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32000"/>
            <a:ext cx="5080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032F75A-D12B-40C8-BDF7-A823C51B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59000"/>
            <a:ext cx="4699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≥ 180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III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140–179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 级</a:t>
            </a:r>
            <a:endParaRPr sz="1200" b="1" i="0" u="none" strike="noStrike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&lt; 140 或未提供 → 不抬高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137D988-D582-49B2-BD0F-C535108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492500"/>
            <a:ext cx="5080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05408E9-FF9A-4E87-98C5-F6D34C2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3619500"/>
            <a:ext cx="4699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核心设计：取 max(基础级别, 血压地板)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高血压只负责"抬高级别"，不会让 IV/V 级患者被降级。内部用数字 1-5 定级，最后映射成文案。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9DB098D-AB96-4989-A53A-8A596DEA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76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22240E2-E8DB-485F-BC45-4FDC196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4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具体实现要点（asa_risk.py · assess_asa 函数）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461B03D-9C07-4007-9E26-74DF8B7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systolic_bp 参数默认 None，不传表示不考虑血压，旧调用方一行不改也能运行（向后兼容）；② 规则是演示简化版，真实 ASA 分级由医生结合检查结果综合判断；③ 被别的模块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引用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时 __main__ 保护块不执行，避免打印干扰。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B0E2B2D-C04D-4927-9771-1E4B4C6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2BB728D-3B04-4D84-8FB4-CCE3D00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04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2943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B2728EA-C249-4197-BCA5-A2C2763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波形心率检测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CECFE33-07A2-4762-B3CF-A9F49E7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PPG 峰值法：从真实脉搏波算心率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F286807-B66F-4692-BC9E-7C979BF8D77E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E6894E-6704-4375-8BAF-3A58445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算法原理（analyze_waveform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AF46675-142A-4CC1-8CE8-8C3EEF3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5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3547E88-901A-4606-8F87-7A6755E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读数据：读取当前病例目录下的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waveform_60s.csv，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使用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PLETH 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脉搏波通道，采样率 500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Hz。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选窗口：segment_seconds 由模型决定（默认 60 秒），</a:t>
            </a: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接口允许 5–120 秒，当前病例实际使用 60 秒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找峰值：scipy.signal.find_peaks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distance = fs × 0.4 = 200 点：当前配置可检测上限约 150 次/分，更高心率可能漏检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prominence = 0.5：经验值，尚未调参，可能漏检弱搏动或计入噪声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算心率：心率 = 峰值数 × 60 / 秒数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对照：同一窗口的 PLETH_HR 与 HR 分开报告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D0EEE3B-9D01-404B-98A1-BC6EB11F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关键参数选择理由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862372A-458F-4C34-9908-7DC906B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32000"/>
            <a:ext cx="4826000" cy="11430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2FDB760-9AC9-441D-A847-06AD3653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159000"/>
            <a:ext cx="444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distance = 0.4 秒：当前配置把可检测上限限制在约 150 次/分；更高心率可能漏检，这是已知限制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BEAE944-6C94-401B-9242-4220B66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65500"/>
            <a:ext cx="4826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9BF0838-3821-427C-8434-E857088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492500"/>
            <a:ext cx="444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prominence = 0.5：经验值，尚未调参；可能漏检弱搏动，或把噪声峰当成心跳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02CE574-7172-46BE-B482-685F35EB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3D0B44C-4ECB-4CF1-890E-4338E8EC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开发中的关键决策：为什么心率检测不交给大模型？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5A2C780-2271-416D-BCDD-FBD21BD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86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大模型不擅长数值计算（容易"猜"心率），所以心率检测用 scipy 本地精确计算，大模型只负责"决定分析多长时间的波形"。这是本项目"大模型决策 + 本地计算"架构的核心体现。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3684FA9-0D2E-4F93-8B0E-28B524D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E1B1E72-A699-477D-94A2-1ADD46C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05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373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DC9FF97-1462-48D9-BB54-79F3033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心率检测结果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B0A0477-C486-44DB-B435-2332E925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个不同病例：同源平均差 1.5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30ACD1E-3180-48BF-A524-3693D087808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FDEC87D-297A-4794-AB3A-2C4187C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B159E1B-1C39-45D6-A791-6B3D9910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5 例算法心率范围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F3D90D3-386F-47DB-866B-2FD4378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71–98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FB502FC-BC1B-4E9F-8DCA-C8A0BDA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次/分（5 个病例，60 秒窗口）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003B4AC-FED0-48FA-BB9D-3E28B25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2BC25A8-D3BB-4079-908E-C05BEC2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同源平均差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D12C160-FD6C-4B16-9BD1-08FC8E3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1.5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D015413-D3C9-4479-902F-A74CF29D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次/分（算法 vs PLETH_HR）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E4FAA1F-35B7-47D7-9538-8E29BF59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FD4AE5E9-95A0-43DE-9611-1BF6A1F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综合 HR 平均差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FF2771D-AC57-4BE5-B7C9-59B3B12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1.9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00ADFA1-9D65-4A2E-A8F3-4F896BC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次/分（算法 vs HR）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75F9CB29-ECF9-4F80-803A-6B6B7B2E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五例范围：同源差 0.4–3.8，平均 1.5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96E6D84-DA7A-4DBD-B935-8A3ACA15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CD1E21E-00E8-47BB-B270-80CA7A6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五段波形均截取各自 60 秒窗口，来自 5 个不同病例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C687534A-E05D-4250-963A-24489E7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3441BAE-1A6D-4C5C-BAC3-30A0480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② 同源差 0.4–3.8，均值 1.5；综合 HR 差 0.3–4.4，均值 1.9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F9941B17-A0EF-43E5-9A86-9F84DB11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7000"/>
            <a:ext cx="10668000" cy="6985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EE27185-BFE4-4AB9-A0FE-A3F9FE4C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口径：5 个病例、5 段独立波形；仍是小样本示范，不代表临床准确率。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9480713-9972-41AC-B7ED-2C63A1F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4B8E4EEB-38DF-4F34-9071-0DAD1FD0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06 / 12</a:t>
            </a:r>
            <a:endParaRPr sz="1100"/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07352B5-901E-4578-A518-E6D5338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数据：VitalDB 病例 1–5，同一 60 秒窗口的 PLETH 波形与监护仪参考心率。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07408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D0F2DD-46AB-4512-A59B-C489F71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Agent 主循环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68DCB83-8027-4904-80A6-DF3C9B7A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Function Calling：大模型自主调度三工具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6807B03-4EBC-497F-A413-B8099D1F9DCE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0C78C1E-ACCB-4E53-9898-159D94E9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主循环逻辑（run_agent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4D7979-5BAE-45A4-9621-8EC2F2B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794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4151B33-E07D-4350-B956-BD0843DD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初始化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：messages = [系统提示词, 用户任务]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问大脑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：chat_with_tools(messages, TOOLS)，把工具菜单一并发给 DeepSeek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判断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：返回含 tool_calls → 大脑点名了工具；只有 content → 信息够了，直接出报告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执行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：TOOL_FUNCTIONS[name] 本地执行，出错也把错误喂回去让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纠错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回填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：结果以 role=tool 追加到 messages，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用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 tool_call_id 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对应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⑥ 循环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：回到②，最多 8 轮（MAX_ROUNDS=8 安全阀）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FA21876-45BD-4961-9088-D676D08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三个工具的 JSON Schema</a:t>
            </a:r>
            <a:endParaRPr sz="1100"/>
          </a:p>
        </p:txBody>
      </p:sp>
      <p:graphicFrame>
        <p:nvGraphicFramePr>
          <p:cNvPr id="9" name="Table 9">
            <a:extLst xmlns:a="http://schemas.openxmlformats.org/drawingml/2006/main">
              <a:ext uri="{FF2B5EF4-FFF2-40B4-BE49-F238E27FC236}">
                <a16:creationId xmlns:a16="http://schemas.microsoft.com/office/drawing/2014/main" id="{FD3271CA-CABD-49FA-A2BB-8D6F67F9CF60}"/>
              </a:ext>
            </a:extLst>
          </p:cNvPr>
          <p:cNvGraphicFramePr/>
          <p:nvPr/>
        </p:nvGraphicFramePr>
        <p:xfrm>
          <a:off xmlns:a="http://schemas.openxmlformats.org/drawingml/2006/main" x="6604000" y="2032000"/>
          <a:ext xmlns:a="http://schemas.openxmlformats.org/drawingml/2006/main" cx="4826000" cy="24155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12240"/>
                <a:gridCol w="2124075"/>
                <a:gridCol w="1289685"/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返回字段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get_patient_record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年龄/既往史/收缩压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analyze_waveform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segment_seconds</a:t>
                      </a: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waveform_id</a:t>
                      </a:r>
                      <a:endParaRPr sz="10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算法心率/对照心率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403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assess_asa_grade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年龄、冠心病、糖尿病、肾功能、病情稳定性、收缩压</a:t>
                      </a:r>
                      <a:endParaRPr sz="1000" b="0" i="0" u="none" strike="noStrike">
                        <a:solidFill>
                          <a:srgbClr val="1F2329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分级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endParaRPr sz="1100"/>
                    </a:p>
                  </a:txBody>
                  <a:tcPr marL="101600" marR="101600" marT="44450" marB="444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688E7F4-07D4-4B05-B7FC-7BD4DDE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64000"/>
            <a:ext cx="4826000" cy="762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F3C7">
              <a:alpha val="100000"/>
            </a:srgbClr>
          </a:solidFill>
          <a:ln xmlns:a="http://schemas.openxmlformats.org/drawingml/2006/main" w="12700" cap="flat" cmpd="sng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515E0AA-6E19-41C6-86F2-02F94A19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191000"/>
            <a:ext cx="44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API 规则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：大脑的"点名单"必须原样放回对话历史（messages.append(msg)），工具结果凭 tool_call_id 对账，否则对不上号。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8EA75B7-D3AE-4892-A0DE-13F66CB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825500"/>
          </a:xfrm>
          <a:prstGeom xmlns:a="http://schemas.openxmlformats.org/drawingml/2006/main" prst="roundRect">
            <a:avLst>
              <a:gd name="adj" fmla="val 12307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E550446-3CE5-4FD9-8AF8-1884312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7000"/>
            <a:ext cx="1028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on_event 回调设计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：run_agent 接受可选回调函数，每发生一件事（进入思考轮/点名工具/工具返回）就调一次。CLI 模式走彩色打印+Spinner 动画，Web 模式把事件喂给界面——Agent 循环逻辑只写一份，CLI 和 Web 共用。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36421E5-2FAB-4538-8743-18B94BB2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2AF68354-4917-4886-949F-963233B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07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33176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3CCCCEC-09B5-453E-8A66-CFAC26D2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防幻觉机制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6572259-8BCE-415A-B1F5-2C45672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防幻觉：字段白名单 + 依据标注 + 8 轮安全阀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1693CBF-4B63-4CCF-8DAE-EE4B06B9CE99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A7E940C-BAB7-4BEF-B00E-8D92FB1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9E5A9C2-3CE6-4711-8B92-0D00E6C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机制一：字段白名单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8DFFBB0-4A8B-45D3-A5B2-D92E5EC0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系统提示词明确列出三个工具返回的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全部字段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，限定模型只能引用这些字段。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明确禁止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写入工具未返回的信息：性别、舒张压、高血压诊断、冠脉造影结果等。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中文报告中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布尔值必须写成"有/无"，不许出现 true/false。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9321062-DEF7-4501-B494-923D68A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EE6A148-170E-4D6D-8A9E-2E663943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机制二：结论附依据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02312A4E-595C-4D28-82EC-2AD24450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报告中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每一条结论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句末必须用括号附实际引用的工具返回值。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示例：（依据：病历工具返回 年龄68岁、收缩压158mmHg；ASA规则引擎判定 III级）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找不到工具返回值支撑的结论，就不写。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9A73548-4FFE-485C-81E8-94C75355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84FFA6B-7F99-4754-9E36-BDC7F66A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机制三：8 轮安全阀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A9197DC-3098-4413-91F4-207E078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MAX_ROUNDS = 8，Agent 循环超过 8 轮</a:t>
            </a: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强制收敛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，输出当前可用结论。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防止大脑陷入死循环、重复调用同一工具烧 API 额度。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实际运行每例约 3 轮即收敛。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BE6F1D8-9A9C-4DC8-B240-02E2769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系统提示词中的字段白名单（</a:t>
            </a: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示例</a:t>
            </a: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摘录）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C2AC7D7-C240-4117-9782-0DC93E7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8500"/>
            <a:ext cx="10668000" cy="13970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B31BFB8-BAA1-46DD-8F5E-B1AAF3C6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5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"三个工具返回的字段仅限于：病历工具 get_patient_record（姓名、年龄、冠心病、糖尿病、肾功能不全、病情不稳定、收缩压）；心率工具 analyze_waveform（分析时长秒、检测心跳次数、算法心率、监护仪对照心率）；ASA规则引擎 assess_asa_grade（ASA分级）。"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"工具不返回性别（绝不能写'男性/女性'）、舒张压、高血压诊断、冠脉造影结果等，这些一律不能写。"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9D18362-ADAF-41F4-8E4C-2543A9D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6C50E6E-8DDF-4205-BC9B-C073B120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08 / 12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1AB2DAA8-B01C-4349-9170-CE70E68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证据：[4] Roustan &amp; Bastardot, 2025（临床LLM幻觉治理框架）；[5] Omar et al., Commun Med 2025（临床决策支持中的对抗性幻觉）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2538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0F274CD-B24A-4869-9E8B-08ED650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08 · 问题与优化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18DBEAD-C272-4757-A645-335FEED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工程问题、当前处理与下一步优化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4E0EBCE-5324-4F54-93D7-25B228D80223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3BA59D9E-C30F-4696-93AF-59B1A57FD65C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000250"/>
                <a:gridCol w="3857625"/>
                <a:gridCol w="3857625"/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 / 不足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当前处理 / 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下一步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openai 库中文请求挂起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peririsk_agent_v1.py 调 DeepSeek 时，中文 prompt 无响应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requests 直连 API，统一封装 chat_with_tools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未纳入血压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初版只看年龄和既往史，SBP 146 的 50 岁患者被判 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加入 systolic_bp 与血压地板，取 max 且只升不降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6653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已解决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大模型编造病历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报告出现“男性”“舒张压 95”等工具未返回信息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13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字段白名单 + 结论附依据 + 8 轮上限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验证样本仍小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 个病例、5 段 60 秒波形；ASA 5/5 只是规则一致性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扩到 20–30 例，区分规则一致性与临床准确率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心率参数未调优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prominence=0.5、distance=0.4 秒均为经验配置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 prominence×distance 网格搜索并加带通滤波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991B1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待优化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规则简化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 6 个字段，未纳入 BMI、手术类型、急诊/择期、肿瘤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 ASA 指南扩展字段，并用医生反馈校准</a:t>
                      </a: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A408E9E-D42E-4E4F-9969-DF3BF6F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43B9A30-41AC-46BC-83AC-8298A1DB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09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91631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BEB1D6A-5933-4986-9A6C-603A7DF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09 · 具体结果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9393DFE-D607-4430-9EAC-473AFF4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例评估：验证参数传递与规则一致性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1DD447A-C5CE-4A3F-9FD0-46E6BD173C15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9FDDD3E-0A4C-4217-B7C9-A083CDC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5284AB0-AEF3-49B8-A3F5-07B8806D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ASA 规则一致性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8EA418D-3437-4E98-98DB-83D78FD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2A60B0-52CA-4B59-B1FD-1E46820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A1CC085-EE78-4EA2-878D-9719F68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工具调用顺序正确率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26B11D8-5759-4A73-9532-56CD3E6C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94DFACD-768D-4FBB-8C9A-071CE08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892BAE9-F86C-4991-A75A-02B35D3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同源平均差（5例）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4CDA838-1091-44BC-B5E3-48385C6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1.5 次/分</a:t>
            </a:r>
            <a:endParaRPr sz="1100"/>
          </a:p>
        </p:txBody>
      </p:sp>
      <p:graphicFrame>
        <p:nvGraphicFramePr>
          <p:cNvPr id="14" name="Table 14">
            <a:extLst xmlns:a="http://schemas.openxmlformats.org/drawingml/2006/main">
              <a:ext uri="{FF2B5EF4-FFF2-40B4-BE49-F238E27FC236}">
                <a16:creationId xmlns:a16="http://schemas.microsoft.com/office/drawing/2014/main" id="{303045B7-A891-408E-8193-5B6E621CF888}"/>
              </a:ext>
            </a:extLst>
          </p:cNvPr>
          <p:cNvGraphicFramePr/>
          <p:nvPr/>
        </p:nvGraphicFramePr>
        <p:xfrm>
          <a:off xmlns:a="http://schemas.openxmlformats.org/drawingml/2006/main" x="762000" y="2921000"/>
          <a:ext xmlns:a="http://schemas.openxmlformats.org/drawingml/2006/main" cx="10668000" cy="279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2000"/>
                <a:gridCol w="635000"/>
                <a:gridCol w="1016000"/>
                <a:gridCol w="1016000"/>
                <a:gridCol w="635000"/>
                <a:gridCol w="2286000"/>
                <a:gridCol w="635000"/>
                <a:gridCol w="1016000"/>
                <a:gridCol w="635000"/>
                <a:gridCol w="762000"/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Agent 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一致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调用顺序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同源差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波形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张三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李四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健康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王秀兰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无基础病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陈伟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50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轻度高血压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赵芳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E93D954-CC5B-4625-82AC-850C5C8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本表验证模型参数传递与规则一致性；预期值由同一规则引擎计算，不代表临床准确率。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21F63BA-DE42-44F9-BB93-9F73410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A3546D0-F20A-45D0-B29F-F998158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10 / 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52766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8388917-9A43-4F08-A0FC-F51895D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10</a:t>
            </a: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 · 具体结果 · 运行演示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7F04C16-2E5A-4A4C-B0EA-C48CAD3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实际运行效果：三段式术前评估报告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7E467132-91E1-44C6-8FCF-1DDA20248250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Picture 9">
            <a:extLst xmlns:a="http://schemas.openxmlformats.org/drawingml/2006/main">
              <a:ext uri="{FF2B5EF4-FFF2-40B4-BE49-F238E27FC236}">
                <a16:creationId xmlns:a16="http://schemas.microsoft.com/office/drawing/2014/main" id="{BA2F835B-7691-4E2A-8CEB-A8A3EC3BB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31025c0c941e2"/>
          <a:srcRect xmlns:a="http://schemas.openxmlformats.org/drawingml/2006/main" l="26180" t="0" r="25240" b="18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24000"/>
            <a:ext cx="5257800" cy="4191000"/>
          </a:xfrm>
          <a:prstGeom xmlns:a="http://schemas.openxmlformats.org/drawingml/2006/main" prst="roundRect">
            <a:avLst>
              <a:gd name="adj" fmla="val 2666"/>
            </a:avLst>
          </a:prstGeom>
          <a:ln xmlns:a="http://schemas.openxmlformats.org/drawingml/2006/main"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7EADA4A9-7365-4D39-A769-734F5FB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Agent 调度过程与三段式评估报告，结论均附工具依据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EE537DA-52B0-49E6-9CD5-1FA39252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20625AA-9D4E-48A1-8E0D-9A8A001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11 / 12</a:t>
            </a:r>
            <a:endParaRPr sz="1100"/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BC5D6-9014-4036-BAFA-1994F007F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2afdb53a84a7a"/>
          <a:srcRect xmlns:a="http://schemas.openxmlformats.org/drawingml/2006/main" l="26180" t="10980" r="25240" b="7800"/>
          <a:stretch xmlns:a="http://schemas.openxmlformats.org/drawingml/2006/main"/>
        </p:blipFill>
        <p:spPr>
          <a:xfrm xmlns:a="http://schemas.openxmlformats.org/drawingml/2006/main">
            <a:off x="762000" y="1524000"/>
            <a:ext cx="52578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08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2DCE7E9-4C8E-4FAE-BC92-CC9FC2F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11 · 参考文献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6B4D22B-6F91-437A-B719-9011F2D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核心参考文献（5 篇）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1F23D904-5476-472B-8475-10C7F2006F47}"/>
              </a:ext>
            </a:extLst>
          </p:cNvPr>
          <p:cNvCxnSpPr/>
          <p:nvPr/>
        </p:nvCxnSpPr>
        <p:spPr>
          <a:xfrm xmlns:a="http://schemas.openxmlformats.org/drawingml/2006/main" rot="-38195">
            <a:off x="762035" y="1136650"/>
            <a:ext cx="1143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295652EA-39D0-49AC-BF16-766E8DD1A6AD}"/>
              </a:ext>
            </a:extLst>
          </p:cNvPr>
          <p:cNvGraphicFramePr/>
          <p:nvPr/>
        </p:nvGraphicFramePr>
        <p:xfrm>
          <a:off xmlns:a="http://schemas.openxmlformats.org/drawingml/2006/main" x="762000" y="1270000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400"/>
                <a:gridCol w="5054600"/>
                <a:gridCol w="5207000"/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#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 · 标题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Zhang K, Rashid-Kolvear M, Waseem R, Englesakis M, Chung F. Virtual preoperative assessment in surgical patients: a systematic review and meta-analysis. J Clin Anesth. 2021;75:110540. doi:10.1016/j.jclinane.2021.110540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开放全文：PMC9759637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Sankar A, Johnson SR, Beattie WS, Tait G, Wijeysundera DN. Reliability of the American Society of Anesthesiologists physical status scale in clinical practice. Br J Anaesth. 2014;113(3):424-432. doi:10.1093/bja/aeu100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开放全文：PMC4136425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Karim HMR. Common Clinical Dilemma Leading to American Society of Anaesthesiologists Physical Status Class Assignment Variation and the Impact of 2019 Amendment. Turk J Anaesthesiol Reanim. 2021;49(2):186-189. doi:10.5152/tjar.2021.178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开放全文：PMC8098727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Roustan D, Bastardot F. The Clinicians' Guide to Large Language Models: A General Perspective With a Focus on Hallucinations. Interact J Med Res. 2025;14:e59823. doi:10.2196/59823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开放全文：PMC11815294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Omar M, Sorin V, Collins JD, et al. Multi-model assurance analysis showing large language models are highly vulnerable to adversarial hallucination attacks during clinical decision support. Commun Med. 2025;5:330. doi:10.1038/s43856-025-01021-3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9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开放全文：PMC12318031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8E2402-AAE8-4B83-9D78-DF44DA89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pPr>
            <a:r>
              <a:rPr sz="790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全文 PDF 在 references/pdf/；每篇均可翻页，并搜索 Results/Discussion 核对原句。</a:t>
            </a:r>
            <a:endParaRPr sz="790">
              <a:solidFill>
                <a:srgbClr val="787D8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7026802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2026-10-27T02:16:16.6130000Z</dcterms:created>
  <dcterms:modified xsi:type="dcterms:W3CDTF">2026-10-27T02:16:16.6130000Z</dcterms:modified>
</coreProperties>
</file>