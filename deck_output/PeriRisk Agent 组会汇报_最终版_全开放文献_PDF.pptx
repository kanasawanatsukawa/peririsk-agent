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</p:sldIdLst>
  <p:sldSz cx="12192000" cy="6858000"/>
  <p:notesSz cx="6858000" cy="9144000"/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L="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1pPr>
    <a:lvl2pPr marL="457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2pPr>
    <a:lvl3pPr marL="914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3pPr>
    <a:lvl4pPr marL="1371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4pPr>
    <a:lvl5pPr marL="18288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5pPr>
    <a:lvl6pPr marL="22860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6pPr>
    <a:lvl7pPr marL="2743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7pPr>
    <a:lvl8pPr marL="3200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8pPr>
    <a:lvl9pPr marL="3657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【开场 · 约20秒】</a:t>
            </a:r>
          </a:p>
          <a:p>
            <a:pPr algn="l">
              <a:buNone/>
            </a:pPr>
            <a:r>
              <a:t>各位老师好，我汇报的是 PeriRisk，围术期麻醉风险评估 Agent。今天重点讲三件事：为什么做、怎么实现、以及 5 个不同病例上的验证结果。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【背景 · 约45秒】</a:t>
            </a:r>
          </a:p>
          <a:p>
            <a:pPr algn="l">
              <a:buNone/>
            </a:pPr>
            <a:r>
              <a:t>术前评估是标准流程。2021 年一项系统综述汇总 15 项研究、31496 例患者，虚拟评估可节省约 24 到 137 分钟/患者。我们不是替代评估流程，而是把信息查询、规则执行和报告草稿串成一条可追溯的链路。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【架构 · 约40秒】</a:t>
            </a:r>
          </a:p>
          <a:p>
            <a:pPr algn="l">
              <a:buNone/>
            </a:pPr>
            <a:r>
              <a:t>核心原则是：大模型负责决策调度，本地代码负责确定性计算。应用层由 Agent 决定下一步调用什么工具；工具层有查病历、算心率、算 ASA；底层由 DeepSeek 写报告，Python 和 scipy 做数值计算，VitalDB 提供真实数据。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【ASA 规则 · 约45秒】</a:t>
            </a:r>
          </a:p>
          <a:p>
            <a:pPr algn="l">
              <a:buNone/>
            </a:pPr>
            <a:r>
              <a:t>ASA 用简化规则演示。先按基础疾病定级，再算血压地板，最后取较高值。例如 50 岁、无基础病、收缩压 146，基础是 I 级，但血压地板把它抬到 II 级。82 岁病情不稳定则直接是 V 级，后面的规则不会把它降下来。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【心率方法 · 约40秒】</a:t>
            </a:r>
          </a:p>
          <a:p>
            <a:pPr algn="l">
              <a:buNone/>
            </a:pPr>
            <a:r>
              <a:t>心率工具从 PLETH 脉搏波找峰。采样率 500Hz，两个峰至少间隔 0.4 秒，prominence 设为 0.5。这里要说明限制：0.4 秒把可检测上限限制在约 150 次/分；prominence 是经验值，还没有做参数网格搜索。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【5 病例结果 · 约50秒】</a:t>
            </a:r>
          </a:p>
          <a:p>
            <a:pPr algn="l">
              <a:buNone/>
            </a:pPr>
            <a:r>
              <a:t>这部分是这两周新增的工作。我们从 VitalDB 选了 5 个不同病例，每个病例截取 60 秒 PLETH 波形和同窗口的 PLETH_HR、综合 HR。算法心率范围是 71 到 98 次/分；算法对同源 PLETH_HR 的平均差是 1.5，对综合 HR 的平均差是 1.9。注意，这仍然是 5 例小样本，不是临床准确率。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【Agent 主循环 · 约45秒】</a:t>
            </a:r>
          </a:p>
          <a:p>
            <a:pPr algn="l">
              <a:buNone/>
            </a:pPr>
            <a:r>
              <a:t>Agent 第一轮只拿到系统提示词和用户任务。模型返回 tool_calls 后，本地 Python 执行对应工具，再用 tool_call_id 把结果回填。模型再次看到工具结果，继续决定下一步，直到不再调用工具、直接输出报告。on_event 只负责把过程通知给 CLI 或网页。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【防幻觉 · 约35秒】</a:t>
            </a:r>
          </a:p>
          <a:p>
            <a:pPr algn="l">
              <a:buNone/>
            </a:pPr>
            <a:r>
              <a:t>报告只允许引用工具真实返回的字段。系统提示词明确禁止写性别、舒张压、造影结果等未返回信息；每条结论后面要附“（依据：…）”；循环最多 8 轮，防止死循环和持续消耗 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【三个关键决策 · 约40秒】</a:t>
            </a:r>
          </a:p>
          <a:p>
            <a:pPr algn="l">
              <a:buNone/>
            </a:pPr>
            <a:r>
              <a:t>这里不再罗列五个工程小坑，只保留三个关键决策：第一，openai 库当时发中文 prompt 会挂起，所以改用 requests 直连；第二，ASA 初版漏了血压，所以加入血压地板；第三，大模型曾编造病历，所以加入字段白名单和依据标注。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【5 例评估 · 约50秒】</a:t>
            </a:r>
          </a:p>
          <a:p>
            <a:pPr algn="l">
              <a:buNone/>
            </a:pPr>
            <a:r>
              <a:t>这张表要先讲清楚口径。预期分级是本地规则引擎直算；Agent 分级是大模型传参后由同一个规则引擎返回的。5/5 一致说明模型参数传递正确，不代表临床准确率 100%。C01 到 C05 是同源差 0.8、1.4、0.4、1.2、3.8，综合 HR 差分别是 4.4、1.0、0.3、0.5、3.1。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【运行截图 · 约30秒】</a:t>
            </a:r>
          </a:p>
          <a:p>
            <a:pPr algn="l">
              <a:buNone/>
            </a:pPr>
            <a:r>
              <a:t>这是一次真实运行的报告截图。右边展示三段式结构：风险评估、麻醉关注点、建议；每条结论都带工具依据。现场如果要求完整跑 Agent，我会说明需要 API Key 和网络，公共电脑不适合保存密钥，所以完整流程优先用真实录屏展示。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【当前局限 · 约40秒】</a:t>
            </a:r>
          </a:p>
          <a:p>
            <a:pPr algn="l">
              <a:buNone/>
            </a:pPr>
            <a:r>
              <a:t>当前仍是 5 个手工病例、5 段波形，样本小；每段只取一个 60 秒窗口；没有做 prominence 和 distance 的网格搜索；ASA 规则也只有 6 个字段。下一步先扩到 20 个以上病例，再做参数调优和 ASA 字段扩展。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最后是 5 篇核心参考文献，全部有本地全文 PDF，位于 references/pdf/。老师问到具体结论时，直接打开对应 PDF，搜索 Results 或 Discussion 即可核对原句。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"/>
        <p:cNvGrpSpPr/>
        <p:nvPr/>
      </p:nvGrpSpPr>
      <p:grpSpPr/>
      <p:sp>
        <p:nvSpPr>
          <p:cNvPr id="12" name="Shape 30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"/>
        <p:cNvGrpSpPr/>
        <p:nvPr/>
      </p:nvGrpSpPr>
      <p:grpSpPr/>
      <p:sp>
        <p:nvSpPr>
          <p:cNvPr id="18" name="Shape 54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"/>
        <p:cNvGrpSpPr/>
        <p:nvPr/>
      </p:nvGrpSpPr>
      <p:grpSpPr/>
      <p:sp>
        <p:nvSpPr>
          <p:cNvPr id="24" name="Shape 59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"/>
        <p:cNvGrpSpPr/>
        <p:nvPr/>
      </p:nvGrpSpPr>
      <p:grpSpPr/>
      <p:sp>
        <p:nvSpPr>
          <p:cNvPr id="30" name="Shape 9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"/>
        <p:cNvGrpSpPr/>
        <p:nvPr/>
      </p:nvGrpSpPr>
      <p:grpSpPr/>
      <p:sp>
        <p:nvSpPr>
          <p:cNvPr id="37" name="Shape 35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"/>
        <p:cNvGrpSpPr/>
        <p:nvPr/>
      </p:nvGrpSpPr>
      <p:grpSpPr/>
      <p:sp>
        <p:nvSpPr>
          <p:cNvPr id="46" name="Shape 20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"/>
        <p:cNvGrpSpPr/>
        <p:nvPr/>
      </p:nvGrpSpPr>
      <p:grpSpPr/>
      <p:sp>
        <p:nvSpPr>
          <p:cNvPr id="51" name="Shape 6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"/>
        <p:cNvGrpSpPr/>
        <p:nvPr/>
      </p:nvGrpSpPr>
      <p:grpSpPr/>
      <p:sp>
        <p:nvSpPr>
          <p:cNvPr id="55" name="Shape 43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"/>
        <p:cNvGrpSpPr/>
        <p:nvPr/>
      </p:nvGrpSpPr>
      <p:grpSpPr/>
      <p:sp>
        <p:nvSpPr>
          <p:cNvPr id="62" name="Shape 24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"/>
        <p:cNvGrpSpPr/>
        <p:nvPr/>
      </p:nvGrpSpPr>
      <p:grpSpPr/>
      <p:sp>
        <p:nvSpPr>
          <p:cNvPr id="69" name="Shape 49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"/>
        <p:cNvGrpSpPr/>
        <p:nvPr/>
      </p:nvGrpSpPr>
      <p:grpSpPr/>
      <p:sp>
        <p:nvSpPr>
          <p:cNvPr id="75" name="Shape 15"/>
          <p:cNvSpPr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hap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/>
        </p:txBody>
      </p:sp>
      <p:sp>
        <p:nvSpPr>
          <p:cNvPr id="8" name="Shape 3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/>
        </p:txBody>
      </p:sp>
      <p:sp>
        <p:nvSpPr>
          <p:cNvPr id="9" name="Shape 4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/>
        </p:txBody>
      </p:sp>
      <p:sp>
        <p:nvSpPr>
          <p:cNvPr id="10" name="Shape 5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366">
                <a:alpha val="100000"/>
              </a:srgbClr>
            </a:gs>
            <a:gs pos="100000">
              <a:srgbClr val="2563E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1016000" y="152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0" i="0" u="none" strike="noStrike">
                <a:solidFill>
                  <a:srgbClr val="B4D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生物医学工程 · 课题组组会汇报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1016000" y="2286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4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PeriRisk Agent</a:t>
            </a:r>
            <a:endParaRPr sz="1100"/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 strike="noStrike">
                <a:solidFill>
                  <a:srgbClr val="DCE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围术期风险评估智能体 —— 开发进度与技术细节汇报</a:t>
            </a:r>
            <a:endParaRPr sz="1100"/>
          </a:p>
        </p:txBody>
      </p:sp>
      <p:cxnSp>
        <p:nvCxnSpPr>
          <p:cNvPr id="5" name="Connector 5"/>
          <p:cNvCxnSpPr/>
          <p:nvPr/>
        </p:nvCxnSpPr>
        <p:spPr>
          <a:xfrm rot="-17188">
            <a:off x="1016016" y="4438650"/>
            <a:ext cx="2540000" cy="12700"/>
          </a:xfrm>
          <a:prstGeom prst="straightConnector1">
            <a:avLst/>
          </a:prstGeom>
          <a:ln w="38100" cap="flat">
            <a:solidFill>
              <a:srgbClr val="FFC85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>
            <a:spLocks noGrp="1"/>
          </p:cNvSpPr>
          <p:nvPr/>
        </p:nvSpPr>
        <p:spPr>
          <a:xfrm>
            <a:off x="1016000" y="4826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sz="1500" b="0" i="0" u="none" strike="noStrike">
                <a:solidFill>
                  <a:srgbClr val="C8DC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汇报人：</a:t>
            </a:r>
            <a:r>
              <a:rPr sz="1500" b="0" i="0" u="none" strike="noStrike">
                <a:solidFill>
                  <a:srgbClr val="C8DC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范浩然</a:t>
            </a:r>
            <a:endParaRPr sz="1100"/>
          </a:p>
          <a:p>
            <a:pPr marL="0" indent="0" algn="l">
              <a:lnSpc>
                <a:spcPct val="150000"/>
              </a:lnSpc>
              <a:buNone/>
            </a:pPr>
            <a:r>
              <a:rPr sz="1500" b="0" i="0" u="none" strike="noStrike">
                <a:solidFill>
                  <a:srgbClr val="C8DC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日期：2026 年 10 月</a:t>
            </a:r>
            <a:r>
              <a:rPr sz="1500" b="0" i="0" u="none" strike="noStrike">
                <a:solidFill>
                  <a:srgbClr val="C8DC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26</a:t>
            </a:r>
            <a:r>
              <a:rPr sz="1500" b="0" i="0" u="none" strike="noStrike">
                <a:solidFill>
                  <a:srgbClr val="C8DC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日</a:t>
            </a:r>
            <a:endParaRPr sz="1500" b="0" i="0" u="none" strike="noStrike">
              <a:solidFill>
                <a:srgbClr val="C8DC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6445250" y="4826000"/>
            <a:ext cx="473075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sz="1300" b="0" i="0" u="none" strike="noStrike">
                <a:solidFill>
                  <a:srgbClr val="B4CD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技术栈：DeepSeek Function Calling + Python + Streamlit</a:t>
            </a:r>
            <a:endParaRPr sz="1100"/>
          </a:p>
          <a:p>
            <a:pPr marL="0" indent="0" algn="r">
              <a:lnSpc>
                <a:spcPct val="150000"/>
              </a:lnSpc>
              <a:buNone/>
            </a:pPr>
            <a:r>
              <a:rPr sz="1300" b="0" i="0" u="none" strike="noStrike">
                <a:solidFill>
                  <a:srgbClr val="B4CD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数据：VitalDB 公开生理数据集</a:t>
            </a:r>
            <a:endParaRPr sz="1300" b="0" i="0" u="none" strike="noStrike">
              <a:solidFill>
                <a:srgbClr val="B4CD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 · 项目背景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8255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术前风险评估：一个被低估的临床瓶颈</a:t>
            </a:r>
            <a:endParaRPr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762032" y="1454150"/>
            <a:ext cx="1270000" cy="12700"/>
          </a:xfrm>
          <a:prstGeom prst="straightConnector1">
            <a:avLst/>
          </a:prstGeom>
          <a:ln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62000" y="1778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6" name="AutoShape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52500" y="190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时间成本高</a:t>
            </a:r>
            <a:endParaRPr sz="1100"/>
          </a:p>
        </p:txBody>
      </p:sp>
      <p:sp>
        <p:nvSpPr>
          <p:cNvPr id="7" name="AutoShape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52500" y="2349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2021 年系统综述汇总 15 项研究、31496 例患者</a:t>
            </a:r>
            <a:endParaRPr sz="1100"/>
          </a:p>
          <a:p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虚拟评估可节省约 24–137 分钟/患者</a:t>
            </a:r>
            <a:endParaRPr sz="13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445000" y="1778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9" name="AutoShape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635500" y="190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主观偏差大</a:t>
            </a:r>
            <a:endParaRPr sz="1100"/>
          </a:p>
        </p:txBody>
      </p:sp>
      <p:sp>
        <p:nvSpPr>
          <p:cNvPr id="10" name="AutoShape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635500" y="2349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ASA 分级依赖医生经验判断，</a:t>
            </a:r>
            <a:r>
              <a:rPr sz="13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不同医生对同一患者分级可能差 1–2 级</a:t>
            </a:r>
            <a:endParaRPr sz="1100"/>
          </a:p>
          <a:p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漏项率在基层医院更高</a:t>
            </a:r>
            <a:endParaRPr sz="13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128000" y="1778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2" name="AutoShape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318500" y="190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基层资源缺</a:t>
            </a:r>
            <a:endParaRPr sz="1100"/>
          </a:p>
        </p:txBody>
      </p:sp>
      <p:sp>
        <p:nvSpPr>
          <p:cNvPr id="13" name="AutoShape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318500" y="2349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基层医院麻醉医生短缺，</a:t>
            </a:r>
            <a:r>
              <a:rPr sz="13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评估规范性压力大</a:t>
            </a:r>
            <a:endParaRPr sz="1100"/>
          </a:p>
          <a:p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缺乏标准化辅助工具</a:t>
            </a:r>
            <a:endParaRPr sz="13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>
            <a:spLocks noGrp="1"/>
          </p:cNvSpPr>
          <p:nvPr/>
        </p:nvSpPr>
        <p:spPr>
          <a:xfrm>
            <a:off x="762000" y="4127500"/>
            <a:ext cx="10668000" cy="1524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5" name="AutoShape 15"/>
          <p:cNvSpPr>
            <a:spLocks noGrp="1"/>
          </p:cNvSpPr>
          <p:nvPr/>
        </p:nvSpPr>
        <p:spPr>
          <a:xfrm>
            <a:off x="1016000" y="42926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7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本项目目标</a:t>
            </a:r>
            <a:endParaRPr sz="1100"/>
          </a:p>
        </p:txBody>
      </p:sp>
      <p:sp>
        <p:nvSpPr>
          <p:cNvPr id="16" name="AutoShape 16"/>
          <p:cNvSpPr>
            <a:spLocks noGrp="1"/>
          </p:cNvSpPr>
          <p:nvPr/>
        </p:nvSpPr>
        <p:spPr>
          <a:xfrm>
            <a:off x="1016000" y="47244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构建一个 </a:t>
            </a:r>
            <a:r>
              <a:rPr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大模型自主调度工具链</a:t>
            </a:r>
            <a:r>
              <a:rPr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的围术期风险评估 Agent：输入患者病历 + 监护波形（PPG），自动完成病历查询 → 心率检测 → ASA 分级 → 三段式评估报告输出。</a:t>
            </a:r>
            <a:endParaRPr sz="1100"/>
          </a:p>
          <a:p>
            <a:pPr marL="0" indent="0" algn="l">
              <a:lnSpc>
                <a:spcPct val="150000"/>
              </a:lnSpc>
              <a:buNone/>
            </a:pPr>
            <a:r>
              <a:rPr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核心设计原则：</a:t>
            </a:r>
            <a:r>
              <a:rPr sz="1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数值计算与规则判定在本地完成，不依赖大模型"猜测"</a:t>
            </a:r>
            <a:r>
              <a:rPr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；大模型只负责任务拆解、工具调度和报告生成。</a:t>
            </a:r>
            <a:endParaRPr sz="14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AutoShape 17"/>
          <p:cNvSpPr>
            <a:spLocks noGrp="1"/>
          </p:cNvSpPr>
          <p:nvPr/>
        </p:nvSpPr>
        <p:spPr>
          <a:xfrm>
            <a:off x="762000" y="6223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PeriRisk Agent 组会汇报</a:t>
            </a:r>
            <a:endParaRPr sz="1100"/>
          </a:p>
        </p:txBody>
      </p:sp>
      <p:sp>
        <p:nvSpPr>
          <p:cNvPr id="18" name="AutoShape 18"/>
          <p:cNvSpPr>
            <a:spLocks noGrp="1"/>
          </p:cNvSpPr>
          <p:nvPr/>
        </p:nvSpPr>
        <p:spPr>
          <a:xfrm>
            <a:off x="10160000" y="6223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 / 13</a:t>
            </a:r>
            <a:endParaRPr sz="1100"/>
          </a:p>
        </p:txBody>
      </p:sp>
      <p:sp>
        <p:nvSpPr>
          <p:cNvPr id="19" name="AutoShape 19"/>
          <p:cNvSpPr>
            <a:spLocks noGrp="1"/>
          </p:cNvSpPr>
          <p:nvPr/>
        </p:nvSpPr>
        <p:spPr>
          <a:xfrm>
            <a:off x="762000" y="5753100"/>
            <a:ext cx="1066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9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证据：[1] Zhang et al., J Clin Anesth 2021（15项研究，节省24–137min/患者）；[2] Sankar et al., Br J Anaesth 2014（</a:t>
            </a:r>
            <a:r>
              <a:rPr lang="zh-CN" altLang="en-US" sz="9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21%(</a:t>
            </a:r>
            <a:r>
              <a:rPr lang="en-US" altLang="zh-CN" sz="9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n=2245)</a:t>
            </a:r>
            <a:r>
              <a:rPr lang="zh-CN" altLang="en-US" sz="9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在手术室被分配到更高的</a:t>
            </a:r>
            <a:r>
              <a:rPr lang="en-US" altLang="zh-CN" sz="9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ASA-PS</a:t>
            </a:r>
            <a:r>
              <a:rPr lang="zh-CN" altLang="en-US" sz="9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等级，而</a:t>
            </a:r>
            <a:r>
              <a:rPr lang="en-US" altLang="zh-CN" sz="9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12%(n=1340)</a:t>
            </a:r>
            <a:r>
              <a:rPr lang="zh-CN" altLang="en-US" sz="9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被分配到更低的等级。</a:t>
            </a:r>
            <a:r>
              <a:rPr sz="9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）；[3] Karim, 2021（</a:t>
            </a:r>
            <a:r>
              <a:rPr lang="en-US" altLang="zh-CN" sz="9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ASA-PS</a:t>
            </a:r>
            <a:r>
              <a:rPr lang="zh-CN" altLang="en-US" sz="9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评分存在165例(61.3%)的一致情况(即正确分配)和105例(38.7%)的不一致情况(即差异)</a:t>
            </a:r>
            <a:r>
              <a:rPr sz="9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）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50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 · 技术架构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8255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三层架构：大模型决策 + 本地计算</a:t>
            </a:r>
            <a:endParaRPr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762032" y="1454150"/>
            <a:ext cx="1270000" cy="12700"/>
          </a:xfrm>
          <a:prstGeom prst="straightConnector1">
            <a:avLst/>
          </a:prstGeom>
          <a:ln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>
            <a:spLocks noGrp="1"/>
          </p:cNvSpPr>
          <p:nvPr/>
        </p:nvSpPr>
        <p:spPr>
          <a:xfrm>
            <a:off x="762000" y="1714500"/>
            <a:ext cx="10668000" cy="1206500"/>
          </a:xfrm>
          <a:prstGeom prst="roundRect">
            <a:avLst>
              <a:gd name="adj" fmla="val 8421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1016000" y="1841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B4D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应用层 · Agent 主循环</a:t>
            </a:r>
            <a:endParaRPr sz="1100"/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016000" y="215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33000"/>
              </a:lnSpc>
              <a:buNone/>
            </a:pPr>
            <a:r>
              <a:rPr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DeepSeek 通过 </a:t>
            </a:r>
            <a:r>
              <a:rPr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Function Calling</a:t>
            </a:r>
            <a:r>
              <a:rPr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自主拆解任务、调用工具、回填结果；内置 </a:t>
            </a:r>
            <a:r>
              <a:rPr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8 轮对话安全阀</a:t>
            </a:r>
            <a:r>
              <a:rPr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防止死循环；系统提示词限定字段白名单防幻觉</a:t>
            </a:r>
            <a:endParaRPr sz="1100"/>
          </a:p>
        </p:txBody>
      </p:sp>
      <p:cxnSp>
        <p:nvCxnSpPr>
          <p:cNvPr id="8" name="Connector 8"/>
          <p:cNvCxnSpPr/>
          <p:nvPr/>
        </p:nvCxnSpPr>
        <p:spPr>
          <a:xfrm rot="5262563">
            <a:off x="5937250" y="3073527"/>
            <a:ext cx="317500" cy="12700"/>
          </a:xfrm>
          <a:prstGeom prst="straightConnector1">
            <a:avLst/>
          </a:prstGeom>
          <a:ln w="25400" cap="flat">
            <a:solidFill>
              <a:srgbClr val="646A73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>
            <a:spLocks noGrp="1"/>
          </p:cNvSpPr>
          <p:nvPr/>
        </p:nvSpPr>
        <p:spPr>
          <a:xfrm>
            <a:off x="762000" y="3238500"/>
            <a:ext cx="10668000" cy="1524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1016000" y="3365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工具层 · Function Calling 工具链</a:t>
            </a:r>
            <a:endParaRPr sz="1100"/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1016000" y="3746500"/>
            <a:ext cx="30480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2" name="AutoShape 12"/>
          <p:cNvSpPr>
            <a:spLocks noGrp="1"/>
          </p:cNvSpPr>
          <p:nvPr/>
        </p:nvSpPr>
        <p:spPr>
          <a:xfrm>
            <a:off x="1143000" y="3835400"/>
            <a:ext cx="279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get_patient_record</a:t>
            </a:r>
            <a:endParaRPr sz="1100"/>
          </a:p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查询病历（年龄/既往史/收缩压）</a:t>
            </a:r>
            <a:endParaRPr sz="12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4572000" y="3746500"/>
            <a:ext cx="30480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4" name="AutoShape 14"/>
          <p:cNvSpPr>
            <a:spLocks noGrp="1"/>
          </p:cNvSpPr>
          <p:nvPr/>
        </p:nvSpPr>
        <p:spPr>
          <a:xfrm>
            <a:off x="4699000" y="3835400"/>
            <a:ext cx="279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analyze_waveform</a:t>
            </a:r>
            <a:endParaRPr sz="1100"/>
          </a:p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PPG 峰值法算心率（scipy 本地）</a:t>
            </a:r>
            <a:endParaRPr sz="12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5"/>
          <p:cNvSpPr>
            <a:spLocks noGrp="1"/>
          </p:cNvSpPr>
          <p:nvPr/>
        </p:nvSpPr>
        <p:spPr>
          <a:xfrm>
            <a:off x="8128000" y="3746500"/>
            <a:ext cx="30480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6" name="AutoShape 16"/>
          <p:cNvSpPr>
            <a:spLocks noGrp="1"/>
          </p:cNvSpPr>
          <p:nvPr/>
        </p:nvSpPr>
        <p:spPr>
          <a:xfrm>
            <a:off x="8255000" y="3835400"/>
            <a:ext cx="279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assess_asa_grade</a:t>
            </a:r>
            <a:endParaRPr sz="1100"/>
          </a:p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ASA 规则引擎（纯逻辑，不调 AI）</a:t>
            </a:r>
            <a:endParaRPr sz="12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262563">
            <a:off x="5937250" y="4915027"/>
            <a:ext cx="317500" cy="12700"/>
          </a:xfrm>
          <a:prstGeom prst="straightConnector1">
            <a:avLst/>
          </a:prstGeom>
          <a:ln w="25400" cap="flat">
            <a:solidFill>
              <a:srgbClr val="646A73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8" name="AutoShape 18"/>
          <p:cNvSpPr>
            <a:spLocks noGrp="1"/>
          </p:cNvSpPr>
          <p:nvPr/>
        </p:nvSpPr>
        <p:spPr>
          <a:xfrm>
            <a:off x="762000" y="5080000"/>
            <a:ext cx="10668000" cy="952500"/>
          </a:xfrm>
          <a:prstGeom prst="roundRect">
            <a:avLst>
              <a:gd name="adj" fmla="val 1066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9" name="AutoShape 19"/>
          <p:cNvSpPr>
            <a:spLocks noGrp="1"/>
          </p:cNvSpPr>
          <p:nvPr/>
        </p:nvSpPr>
        <p:spPr>
          <a:xfrm>
            <a:off x="1016000" y="5207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数据模型层</a:t>
            </a:r>
            <a:endParaRPr sz="1100"/>
          </a:p>
        </p:txBody>
      </p:sp>
      <p:sp>
        <p:nvSpPr>
          <p:cNvPr id="20" name="AutoShape 20"/>
          <p:cNvSpPr>
            <a:spLocks noGrp="1"/>
          </p:cNvSpPr>
          <p:nvPr/>
        </p:nvSpPr>
        <p:spPr>
          <a:xfrm>
            <a:off x="1016000" y="55245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大模型：DeepSeek API（llm.py 统一封装） ｜ 数据：VitalDB 公开生理数据集（</a:t>
            </a:r>
            <a:r>
              <a:rPr lang="zh-CN" alt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 个病例，每个 60 秒 </a:t>
            </a:r>
            <a:r>
              <a:rPr lang="en-US" altLang="zh-CN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PLETH，500Hz</a:t>
            </a:r>
            <a:r>
              <a:rPr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） ｜ 计算：Python + scipy（find_peaks 峰值检测）</a:t>
            </a:r>
            <a:endParaRPr sz="1100"/>
          </a:p>
        </p:txBody>
      </p:sp>
      <p:sp>
        <p:nvSpPr>
          <p:cNvPr id="21" name="AutoShape 21"/>
          <p:cNvSpPr>
            <a:spLocks noGrp="1"/>
          </p:cNvSpPr>
          <p:nvPr/>
        </p:nvSpPr>
        <p:spPr>
          <a:xfrm>
            <a:off x="762000" y="62865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PeriRisk Agent 组会汇报</a:t>
            </a:r>
            <a:endParaRPr sz="1100"/>
          </a:p>
        </p:txBody>
      </p:sp>
      <p:sp>
        <p:nvSpPr>
          <p:cNvPr id="22" name="AutoShape 22"/>
          <p:cNvSpPr>
            <a:spLocks noGrp="1"/>
          </p:cNvSpPr>
          <p:nvPr/>
        </p:nvSpPr>
        <p:spPr>
          <a:xfrm>
            <a:off x="10160000" y="62865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 / 13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50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 · 模块一 · ASA 规则引擎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8255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ASA 分级：基础规则 + 血压地板，只升不降</a:t>
            </a:r>
            <a:endParaRPr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762032" y="1454150"/>
            <a:ext cx="1270000" cy="12700"/>
          </a:xfrm>
          <a:prstGeom prst="straightConnector1">
            <a:avLst/>
          </a:prstGeom>
          <a:ln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>
            <a:spLocks noGrp="1"/>
          </p:cNvSpPr>
          <p:nvPr/>
        </p:nvSpPr>
        <p:spPr>
          <a:xfrm>
            <a:off x="762000" y="1651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基础规则（按优先级从上到下）</a:t>
            </a:r>
            <a:endParaRPr sz="1100"/>
          </a:p>
        </p:txBody>
      </p:sp>
      <p:graphicFrame>
        <p:nvGraphicFramePr>
          <p:cNvPr id="6" name="Table 6"/>
          <p:cNvGraphicFramePr/>
          <p:nvPr/>
        </p:nvGraphicFramePr>
        <p:xfrm>
          <a:off x="762000" y="2032000"/>
          <a:ext cx="5080000" cy="2540000"/>
        </p:xfrm>
        <a:graphic>
          <a:graphicData uri="http://schemas.openxmlformats.org/drawingml/2006/table">
            <a:tbl>
              <a:tblPr/>
              <a:tblGrid>
                <a:gridCol w="2540000"/>
                <a:gridCol w="1016000"/>
                <a:gridCol w="1524000"/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条件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级别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说明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病情不稳定 + 年龄≥80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V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濒死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病情不稳定 + 年龄&lt;80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IV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随时威胁生命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肾衰 + 冠心病（叠加）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IV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两种重病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冠心病 或 糖尿病</a:t>
                      </a: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 </a:t>
                      </a:r>
                      <a:r>
                        <a:rPr sz="1100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或</a:t>
                      </a:r>
                      <a:r>
                        <a:rPr lang="en-US" sz="1100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 </a:t>
                      </a:r>
                      <a:r>
                        <a:rPr lang="zh-CN" sz="1100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两者都有</a:t>
                      </a:r>
                      <a:endParaRPr lang="zh-CN" sz="1100" b="0" i="0" u="none" strike="noStrike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+mn-ea"/>
                      </a:endParaRPr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III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重度系统性疾病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年龄 ≥ 65（健康）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II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高龄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其他（健康年轻）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I 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正常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>
            <a:spLocks noGrp="1"/>
          </p:cNvSpPr>
          <p:nvPr/>
        </p:nvSpPr>
        <p:spPr>
          <a:xfrm>
            <a:off x="6350000" y="1651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血压地板（后加入的优化）</a:t>
            </a:r>
            <a:endParaRPr sz="1100"/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6350000" y="2032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6540500" y="2159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42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收缩压 ≥ 180 mmHg → 至少 </a:t>
            </a:r>
            <a:r>
              <a:rPr sz="12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III 级</a:t>
            </a:r>
            <a:endParaRPr sz="1100"/>
          </a:p>
          <a:p>
            <a:pPr marL="0" indent="0" algn="l">
              <a:lnSpc>
                <a:spcPct val="142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收缩压 140–179 mmHg → 至少 </a:t>
            </a:r>
            <a:r>
              <a:rPr sz="12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II 级</a:t>
            </a:r>
            <a:endParaRPr sz="1200" b="1" i="0" u="none" strike="noStrike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收缩压 &lt; 140 或未提供 → 不抬高</a:t>
            </a:r>
            <a:endParaRPr sz="12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6350000" y="3492500"/>
            <a:ext cx="5080000" cy="1079500"/>
          </a:xfrm>
          <a:prstGeom prst="roundRect">
            <a:avLst>
              <a:gd name="adj" fmla="val 94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6540500" y="3619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核心设计：取 max(基础级别, 血压地板)</a:t>
            </a:r>
            <a:endParaRPr sz="1100"/>
          </a:p>
          <a:p>
            <a:pPr marL="0" indent="0" algn="l">
              <a:lnSpc>
                <a:spcPct val="133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高血压只负责"抬高级别"，不会让 IV/V 级患者被降级。内部用数字 1-5 定级，最后映射成文案。</a:t>
            </a:r>
            <a:endParaRPr sz="12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>
            <a:spLocks noGrp="1"/>
          </p:cNvSpPr>
          <p:nvPr/>
        </p:nvSpPr>
        <p:spPr>
          <a:xfrm>
            <a:off x="762000" y="4927600"/>
            <a:ext cx="10668000" cy="1079500"/>
          </a:xfrm>
          <a:prstGeom prst="roundRect">
            <a:avLst>
              <a:gd name="adj" fmla="val 9411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952500" y="50546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具体实现要点（asa_risk.py · assess_asa 函数）</a:t>
            </a:r>
            <a:endParaRPr sz="1100"/>
          </a:p>
        </p:txBody>
      </p:sp>
      <p:sp>
        <p:nvSpPr>
          <p:cNvPr id="14" name="AutoShape 14"/>
          <p:cNvSpPr>
            <a:spLocks noGrp="1"/>
          </p:cNvSpPr>
          <p:nvPr/>
        </p:nvSpPr>
        <p:spPr>
          <a:xfrm>
            <a:off x="952500" y="54102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33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① systolic_bp 参数默认 None，不传表示不考虑血压，旧调用方一行不改也能运行（向后兼容）；② 规则是演示简化版，真实 ASA 分级由医生结合检查结果综合判断；③ 被别的模块</a:t>
            </a:r>
            <a:r>
              <a:rPr lang="zh-CN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引用</a:t>
            </a: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时 __main__ 保护块不执行，避免打印干扰。</a:t>
            </a:r>
            <a:endParaRPr sz="1100"/>
          </a:p>
        </p:txBody>
      </p:sp>
      <p:sp>
        <p:nvSpPr>
          <p:cNvPr id="15" name="AutoShape 15"/>
          <p:cNvSpPr>
            <a:spLocks noGrp="1"/>
          </p:cNvSpPr>
          <p:nvPr/>
        </p:nvSpPr>
        <p:spPr>
          <a:xfrm>
            <a:off x="762000" y="6223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PeriRisk Agent 组会汇报</a:t>
            </a:r>
            <a:endParaRPr sz="1100"/>
          </a:p>
        </p:txBody>
      </p:sp>
      <p:sp>
        <p:nvSpPr>
          <p:cNvPr id="16" name="AutoShape 16"/>
          <p:cNvSpPr>
            <a:spLocks noGrp="1"/>
          </p:cNvSpPr>
          <p:nvPr/>
        </p:nvSpPr>
        <p:spPr>
          <a:xfrm>
            <a:off x="10160000" y="6223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 / 13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50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 · 模块二 · 波形心率检测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8255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PPG 峰值法：从真实脉搏波算心率</a:t>
            </a:r>
            <a:endParaRPr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762032" y="1454150"/>
            <a:ext cx="1270000" cy="12700"/>
          </a:xfrm>
          <a:prstGeom prst="straightConnector1">
            <a:avLst/>
          </a:prstGeom>
          <a:ln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>
            <a:spLocks noGrp="1"/>
          </p:cNvSpPr>
          <p:nvPr/>
        </p:nvSpPr>
        <p:spPr>
          <a:xfrm>
            <a:off x="762000" y="1651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算法原理（analyze_waveform 函数）</a:t>
            </a:r>
            <a:endParaRPr sz="1100"/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762000" y="2032000"/>
            <a:ext cx="5334000" cy="2540000"/>
          </a:xfrm>
          <a:prstGeom prst="roundRect">
            <a:avLst>
              <a:gd name="adj" fmla="val 400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952500" y="2184400"/>
            <a:ext cx="4953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>
            <a:defPPr>
              <a:defRPr sz="1125"/>
            </a:defPPr>
            <a:lvl1pPr>
              <a:buNone/>
              <a:defRPr sz="1125"/>
            </a:lvl1pPr>
            <a:lvl2pPr>
              <a:buNone/>
              <a:defRPr sz="1125"/>
            </a:lvl2pPr>
            <a:lvl3pPr>
              <a:buNone/>
              <a:defRPr sz="1125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① </a:t>
            </a:r>
            <a:r>
              <a:rPr lang="zh-CN" altLang="en-US" sz="1125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读数据：读取当前病例目录下的 </a:t>
            </a:r>
            <a:r>
              <a:rPr lang="en-US" altLang="zh-CN" sz="1125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waveform_60s.csv，</a:t>
            </a:r>
            <a:r>
              <a:rPr lang="zh-CN" altLang="en-US" sz="1125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使用 </a:t>
            </a:r>
            <a:r>
              <a:rPr lang="en-US" altLang="zh-CN" sz="1125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PLETH </a:t>
            </a:r>
            <a:r>
              <a:rPr lang="zh-CN" altLang="en-US" sz="1125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脉搏波通道，采样率 500</a:t>
            </a:r>
            <a:r>
              <a:rPr lang="en-US" altLang="zh-CN" sz="1125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Hz。</a:t>
            </a:r>
            <a:endParaRPr lang="en-US" altLang="zh-CN" sz="1125" b="1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② 选窗口：segment_seconds 由模型决定（默认 60 秒），</a:t>
            </a:r>
            <a:r>
              <a:rPr lang="zh-CN" altLang="en-US" sz="1125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接口允许 5–120 秒，当前病例实际使用 60 秒</a:t>
            </a:r>
            <a:endParaRPr lang="zh-CN" altLang="en-US" sz="1125" b="1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③ 找峰值：scipy.signal.find_peaks</a:t>
            </a:r>
            <a:endParaRPr sz="1125" b="1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  <a:buNone/>
            </a:pPr>
            <a:r>
              <a:rPr sz="1125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　 · distance = fs × 0.4 = 200 点：当前配置可检测上限约 150 次/分，更高心率可能漏检</a:t>
            </a:r>
            <a:endParaRPr sz="1125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  <a:buNone/>
            </a:pPr>
            <a:r>
              <a:rPr sz="1125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　 · prominence = 0.5：经验值，尚未调参，可能漏检弱搏动或计入噪声</a:t>
            </a:r>
            <a:endParaRPr sz="1125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④ 算心率：心率 = 峰值数 × 60 / 秒数</a:t>
            </a:r>
            <a:endParaRPr sz="1125" b="1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⑤ 对照：同一窗口的 PLETH_HR 与 HR 分开报告</a:t>
            </a:r>
            <a:endParaRPr sz="1125" b="1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6604000" y="1651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关键参数选择理由</a:t>
            </a:r>
            <a:endParaRPr sz="1100"/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6604000" y="2032000"/>
            <a:ext cx="4826000" cy="1143000"/>
          </a:xfrm>
          <a:prstGeom prst="roundRect">
            <a:avLst>
              <a:gd name="adj" fmla="val 888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6794500" y="2159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distance = 0.4 秒：当前配置把可检测上限限制在约 150 次/分；更高心率可能漏检，这是已知限制</a:t>
            </a:r>
            <a:endParaRPr sz="1100"/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6604000" y="3365500"/>
            <a:ext cx="4826000" cy="1206500"/>
          </a:xfrm>
          <a:prstGeom prst="roundRect">
            <a:avLst>
              <a:gd name="adj" fmla="val 842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2" name="AutoShape 12"/>
          <p:cNvSpPr>
            <a:spLocks noGrp="1"/>
          </p:cNvSpPr>
          <p:nvPr/>
        </p:nvSpPr>
        <p:spPr>
          <a:xfrm>
            <a:off x="6794500" y="34925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prominence = 0.5：经验值，尚未调参；可能漏检弱搏动，或把噪声峰当成心跳</a:t>
            </a:r>
            <a:endParaRPr sz="1100"/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762000" y="4826000"/>
            <a:ext cx="10668000" cy="1079500"/>
          </a:xfrm>
          <a:prstGeom prst="roundRect">
            <a:avLst>
              <a:gd name="adj" fmla="val 9411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4" name="AutoShape 14"/>
          <p:cNvSpPr>
            <a:spLocks noGrp="1"/>
          </p:cNvSpPr>
          <p:nvPr/>
        </p:nvSpPr>
        <p:spPr>
          <a:xfrm>
            <a:off x="952500" y="49530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开发中的关键决策：为什么心率检测不交给大模型？</a:t>
            </a:r>
            <a:endParaRPr sz="1100"/>
          </a:p>
        </p:txBody>
      </p:sp>
      <p:sp>
        <p:nvSpPr>
          <p:cNvPr id="15" name="AutoShape 15"/>
          <p:cNvSpPr>
            <a:spLocks noGrp="1"/>
          </p:cNvSpPr>
          <p:nvPr/>
        </p:nvSpPr>
        <p:spPr>
          <a:xfrm>
            <a:off x="952500" y="53086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33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大模型不擅长数值计算（容易"猜"心率），所以心率检测用 scipy 本地精确计算，大模型只负责"决定分析多长时间的波形"。这是本项目"大模型决策 + 本地计算"架构的核心体现。</a:t>
            </a:r>
            <a:endParaRPr sz="1100"/>
          </a:p>
        </p:txBody>
      </p:sp>
      <p:sp>
        <p:nvSpPr>
          <p:cNvPr id="16" name="AutoShape 16"/>
          <p:cNvSpPr>
            <a:spLocks noGrp="1"/>
          </p:cNvSpPr>
          <p:nvPr/>
        </p:nvSpPr>
        <p:spPr>
          <a:xfrm>
            <a:off x="762000" y="6223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PeriRisk Agent 组会汇报</a:t>
            </a:r>
            <a:endParaRPr sz="1100"/>
          </a:p>
        </p:txBody>
      </p:sp>
      <p:sp>
        <p:nvSpPr>
          <p:cNvPr id="17" name="AutoShape 17"/>
          <p:cNvSpPr>
            <a:spLocks noGrp="1"/>
          </p:cNvSpPr>
          <p:nvPr/>
        </p:nvSpPr>
        <p:spPr>
          <a:xfrm>
            <a:off x="10160000" y="6223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 / 13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50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 · 模块二 · 心率检测结果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8255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 个不同病例：同源平均差 1.5</a:t>
            </a:r>
            <a:endParaRPr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762032" y="1454150"/>
            <a:ext cx="1270000" cy="12700"/>
          </a:xfrm>
          <a:prstGeom prst="straightConnector1">
            <a:avLst/>
          </a:prstGeom>
          <a:ln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>
            <a:spLocks noGrp="1"/>
          </p:cNvSpPr>
          <p:nvPr/>
        </p:nvSpPr>
        <p:spPr>
          <a:xfrm>
            <a:off x="762000" y="1778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1016000" y="1968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B4D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 例算法心率范围</a:t>
            </a:r>
            <a:endParaRPr sz="1100"/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016000" y="2349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4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71–98</a:t>
            </a:r>
            <a:endParaRPr sz="1100"/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1016000" y="29845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B4D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次/分（5 个病例，60 秒窗口）</a:t>
            </a:r>
            <a:endParaRPr sz="1100"/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4445000" y="1778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4699000" y="1968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同源平均差</a:t>
            </a:r>
            <a:endParaRPr sz="1100"/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4699000" y="2349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4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1.5</a:t>
            </a:r>
            <a:endParaRPr sz="1100"/>
          </a:p>
        </p:txBody>
      </p:sp>
      <p:sp>
        <p:nvSpPr>
          <p:cNvPr id="12" name="AutoShape 12"/>
          <p:cNvSpPr>
            <a:spLocks noGrp="1"/>
          </p:cNvSpPr>
          <p:nvPr/>
        </p:nvSpPr>
        <p:spPr>
          <a:xfrm>
            <a:off x="4699000" y="29845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次/分（算法 vs PLETH_HR）</a:t>
            </a:r>
            <a:endParaRPr sz="1100"/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8128000" y="1778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4" name="AutoShape 14"/>
          <p:cNvSpPr>
            <a:spLocks noGrp="1"/>
          </p:cNvSpPr>
          <p:nvPr/>
        </p:nvSpPr>
        <p:spPr>
          <a:xfrm>
            <a:off x="8382000" y="1968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综合 HR 平均差</a:t>
            </a:r>
            <a:endParaRPr sz="1100"/>
          </a:p>
        </p:txBody>
      </p:sp>
      <p:sp>
        <p:nvSpPr>
          <p:cNvPr id="15" name="AutoShape 15"/>
          <p:cNvSpPr>
            <a:spLocks noGrp="1"/>
          </p:cNvSpPr>
          <p:nvPr/>
        </p:nvSpPr>
        <p:spPr>
          <a:xfrm>
            <a:off x="8382000" y="2349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42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1.9</a:t>
            </a:r>
            <a:endParaRPr sz="1100"/>
          </a:p>
        </p:txBody>
      </p:sp>
      <p:sp>
        <p:nvSpPr>
          <p:cNvPr id="16" name="AutoShape 16"/>
          <p:cNvSpPr>
            <a:spLocks noGrp="1"/>
          </p:cNvSpPr>
          <p:nvPr/>
        </p:nvSpPr>
        <p:spPr>
          <a:xfrm>
            <a:off x="8382000" y="29845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次/分（算法 vs HR）</a:t>
            </a:r>
            <a:endParaRPr sz="1100"/>
          </a:p>
        </p:txBody>
      </p:sp>
      <p:sp>
        <p:nvSpPr>
          <p:cNvPr id="17" name="AutoShape 17"/>
          <p:cNvSpPr>
            <a:spLocks noGrp="1"/>
          </p:cNvSpPr>
          <p:nvPr/>
        </p:nvSpPr>
        <p:spPr>
          <a:xfrm>
            <a:off x="762000" y="3619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五例范围：同源差 0.4–3.8，平均 1.5</a:t>
            </a:r>
            <a:endParaRPr sz="1100"/>
          </a:p>
        </p:txBody>
      </p:sp>
      <p:sp>
        <p:nvSpPr>
          <p:cNvPr id="18" name="AutoShape 18"/>
          <p:cNvSpPr>
            <a:spLocks noGrp="1"/>
          </p:cNvSpPr>
          <p:nvPr/>
        </p:nvSpPr>
        <p:spPr>
          <a:xfrm>
            <a:off x="762000" y="4000500"/>
            <a:ext cx="5080000" cy="1016000"/>
          </a:xfrm>
          <a:prstGeom prst="roundRect">
            <a:avLst>
              <a:gd name="adj" fmla="val 1000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9" name="AutoShape 19"/>
          <p:cNvSpPr>
            <a:spLocks noGrp="1"/>
          </p:cNvSpPr>
          <p:nvPr/>
        </p:nvSpPr>
        <p:spPr>
          <a:xfrm>
            <a:off x="952500" y="4127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① 五段波形均截取各自 60 秒窗口，来自 5 个不同病例</a:t>
            </a:r>
            <a:endParaRPr sz="1100"/>
          </a:p>
        </p:txBody>
      </p:sp>
      <p:sp>
        <p:nvSpPr>
          <p:cNvPr id="20" name="AutoShape 20"/>
          <p:cNvSpPr>
            <a:spLocks noGrp="1"/>
          </p:cNvSpPr>
          <p:nvPr/>
        </p:nvSpPr>
        <p:spPr>
          <a:xfrm>
            <a:off x="6350000" y="4000500"/>
            <a:ext cx="5080000" cy="1016000"/>
          </a:xfrm>
          <a:prstGeom prst="roundRect">
            <a:avLst>
              <a:gd name="adj" fmla="val 1000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21" name="AutoShape 21"/>
          <p:cNvSpPr>
            <a:spLocks noGrp="1"/>
          </p:cNvSpPr>
          <p:nvPr/>
        </p:nvSpPr>
        <p:spPr>
          <a:xfrm>
            <a:off x="6540500" y="4127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② 同源差 0.4–3.8，均值 1.5；综合 HR 差 0.3–4.4，均值 1.9</a:t>
            </a:r>
            <a:endParaRPr sz="1100"/>
          </a:p>
        </p:txBody>
      </p:sp>
      <p:sp>
        <p:nvSpPr>
          <p:cNvPr id="22" name="AutoShape 22"/>
          <p:cNvSpPr>
            <a:spLocks noGrp="1"/>
          </p:cNvSpPr>
          <p:nvPr/>
        </p:nvSpPr>
        <p:spPr>
          <a:xfrm>
            <a:off x="762000" y="5207000"/>
            <a:ext cx="10668000" cy="698500"/>
          </a:xfrm>
          <a:prstGeom prst="roundRect">
            <a:avLst>
              <a:gd name="adj" fmla="val 14545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23" name="AutoShape 23"/>
          <p:cNvSpPr>
            <a:spLocks noGrp="1"/>
          </p:cNvSpPr>
          <p:nvPr/>
        </p:nvSpPr>
        <p:spPr>
          <a:xfrm>
            <a:off x="952500" y="53340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口径：5 个病例、5 段独立波形；仍是小样本示范，不代表临床准确率。</a:t>
            </a:r>
            <a:endParaRPr sz="1100"/>
          </a:p>
        </p:txBody>
      </p:sp>
      <p:sp>
        <p:nvSpPr>
          <p:cNvPr id="24" name="AutoShape 24"/>
          <p:cNvSpPr>
            <a:spLocks noGrp="1"/>
          </p:cNvSpPr>
          <p:nvPr/>
        </p:nvSpPr>
        <p:spPr>
          <a:xfrm>
            <a:off x="762000" y="6223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PeriRisk Agent 组会汇报</a:t>
            </a:r>
            <a:endParaRPr sz="1100"/>
          </a:p>
        </p:txBody>
      </p:sp>
      <p:sp>
        <p:nvSpPr>
          <p:cNvPr id="25" name="AutoShape 25"/>
          <p:cNvSpPr>
            <a:spLocks noGrp="1"/>
          </p:cNvSpPr>
          <p:nvPr/>
        </p:nvSpPr>
        <p:spPr>
          <a:xfrm>
            <a:off x="10160000" y="6223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 / 13</a:t>
            </a:r>
            <a:endParaRPr sz="1100"/>
          </a:p>
        </p:txBody>
      </p:sp>
      <p:sp>
        <p:nvSpPr>
          <p:cNvPr id="26" name="AutoShape 26"/>
          <p:cNvSpPr>
            <a:spLocks noGrp="1"/>
          </p:cNvSpPr>
          <p:nvPr/>
        </p:nvSpPr>
        <p:spPr>
          <a:xfrm>
            <a:off x="762000" y="5943600"/>
            <a:ext cx="1066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数据：VitalDB 病例 1–5，同一 60 秒窗口的 PLETH 波形与监护仪参考心率。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50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 · 模块三 · Agent 主循环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8255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Function Calling：大模型自主调度三工具</a:t>
            </a:r>
            <a:endParaRPr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762032" y="1454150"/>
            <a:ext cx="1270000" cy="12700"/>
          </a:xfrm>
          <a:prstGeom prst="straightConnector1">
            <a:avLst/>
          </a:prstGeom>
          <a:ln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>
            <a:spLocks noGrp="1"/>
          </p:cNvSpPr>
          <p:nvPr/>
        </p:nvSpPr>
        <p:spPr>
          <a:xfrm>
            <a:off x="762000" y="1651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主循环逻辑（run_agent 函数）</a:t>
            </a:r>
            <a:endParaRPr sz="1100"/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762000" y="2032000"/>
            <a:ext cx="5334000" cy="2794000"/>
          </a:xfrm>
          <a:prstGeom prst="roundRect">
            <a:avLst>
              <a:gd name="adj" fmla="val 363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952500" y="2184400"/>
            <a:ext cx="4953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① 初始化</a:t>
            </a: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：messages = [系统提示词, 用户任务]</a:t>
            </a:r>
            <a:endParaRPr sz="1100"/>
          </a:p>
          <a:p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② 问大脑</a:t>
            </a: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：chat_with_tools(messages, TOOLS)，把工具菜单一并发给 DeepSeek</a:t>
            </a:r>
            <a:endParaRPr sz="12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③ 判断</a:t>
            </a: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：返回含 tool_calls → 大脑点名了工具；只有 content → 信息够了，直接出报告</a:t>
            </a:r>
            <a:endParaRPr sz="12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④ 执行</a:t>
            </a: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：TOOL_FUNCTIONS[name] 本地执行，出错也把错误喂回去让</a:t>
            </a:r>
            <a:r>
              <a:rPr lang="zh-CN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大模型</a:t>
            </a: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纠错</a:t>
            </a:r>
            <a:endParaRPr sz="12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⑤ 回填</a:t>
            </a: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：结果以 role=tool 追加到 messages，</a:t>
            </a:r>
            <a:r>
              <a:rPr lang="zh-CN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</a:t>
            </a: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tool_call_id </a:t>
            </a:r>
            <a:r>
              <a:rPr lang="zh-CN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对应</a:t>
            </a:r>
            <a:endParaRPr sz="12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⑥ 循环</a:t>
            </a: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：回到②，最多 8 轮（MAX_ROUNDS=8 安全阀）</a:t>
            </a:r>
            <a:endParaRPr sz="12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6604000" y="1651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三个工具的 JSON Schema</a:t>
            </a:r>
            <a:endParaRPr sz="1100"/>
          </a:p>
        </p:txBody>
      </p:sp>
      <p:graphicFrame>
        <p:nvGraphicFramePr>
          <p:cNvPr id="9" name="Table 9"/>
          <p:cNvGraphicFramePr/>
          <p:nvPr>
            <p:custDataLst>
              <p:tags r:id="rId1"/>
            </p:custDataLst>
          </p:nvPr>
        </p:nvGraphicFramePr>
        <p:xfrm>
          <a:off x="6604000" y="2032000"/>
          <a:ext cx="4826000" cy="2415540"/>
        </p:xfrm>
        <a:graphic>
          <a:graphicData uri="http://schemas.openxmlformats.org/drawingml/2006/table">
            <a:tbl>
              <a:tblPr/>
              <a:tblGrid>
                <a:gridCol w="1412240"/>
                <a:gridCol w="2124075"/>
                <a:gridCol w="1289685"/>
              </a:tblGrid>
              <a:tr h="44005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工具名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参数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返回字段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get_patient_record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无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年龄/既往史/收缩压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analyze_waveform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segment_seconds</a:t>
                      </a:r>
                      <a:r>
                        <a:rPr lang="zh-CN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、</a:t>
                      </a:r>
                      <a:r>
                        <a:rPr lang="en-US" altLang="zh-CN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waveform_id</a:t>
                      </a:r>
                      <a:endParaRPr lang="en-US" altLang="zh-CN" sz="1000" b="0" i="0" u="none" strike="noStrike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算法心率/对照心率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403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assess_asa_grade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年龄、冠心病、糖尿病、肾功能、病情稳定性、收缩压</a:t>
                      </a:r>
                      <a:endParaRPr lang="zh-CN" altLang="en-US" sz="1000" b="0" i="0" u="none" strike="noStrike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ASA 分级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endParaRPr sz="1100"/>
                    </a:p>
                  </a:txBody>
                  <a:tcPr marL="101600" marR="101600" marT="44450" marB="444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AutoShape 10"/>
          <p:cNvSpPr>
            <a:spLocks noGrp="1"/>
          </p:cNvSpPr>
          <p:nvPr/>
        </p:nvSpPr>
        <p:spPr>
          <a:xfrm>
            <a:off x="6604000" y="4064000"/>
            <a:ext cx="4826000" cy="762000"/>
          </a:xfrm>
          <a:prstGeom prst="roundRect">
            <a:avLst>
              <a:gd name="adj" fmla="val 13333"/>
            </a:avLst>
          </a:prstGeom>
          <a:solidFill>
            <a:srgbClr val="FEF3C7">
              <a:alpha val="100000"/>
            </a:srgbClr>
          </a:solidFill>
          <a:ln w="12700" cap="flat" cmpd="sng">
            <a:solidFill>
              <a:srgbClr val="D9770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6794500" y="41910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API 规则</a:t>
            </a: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：大脑的"点名单"必须原样放回对话历史（messages.append(msg)），工具结果凭 tool_call_id 对账，否则对不上号。</a:t>
            </a:r>
            <a:endParaRPr sz="1100"/>
          </a:p>
        </p:txBody>
      </p:sp>
      <p:sp>
        <p:nvSpPr>
          <p:cNvPr id="12" name="AutoShape 12"/>
          <p:cNvSpPr>
            <a:spLocks noGrp="1"/>
          </p:cNvSpPr>
          <p:nvPr/>
        </p:nvSpPr>
        <p:spPr>
          <a:xfrm>
            <a:off x="762000" y="5080000"/>
            <a:ext cx="10668000" cy="825500"/>
          </a:xfrm>
          <a:prstGeom prst="roundRect">
            <a:avLst>
              <a:gd name="adj" fmla="val 12307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952500" y="52070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on_event 回调设计</a:t>
            </a:r>
            <a:r>
              <a:rPr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：run_agent 接受可选回调函数，每发生一件事（进入思考轮/点名工具/工具返回）就调一次。CLI 模式走彩色打印+Spinner 动画，Web 模式把事件喂给界面——Agent 循环逻辑只写一份，CLI 和 Web 共用。</a:t>
            </a:r>
            <a:endParaRPr sz="1100"/>
          </a:p>
        </p:txBody>
      </p:sp>
      <p:sp>
        <p:nvSpPr>
          <p:cNvPr id="14" name="AutoShape 14"/>
          <p:cNvSpPr>
            <a:spLocks noGrp="1"/>
          </p:cNvSpPr>
          <p:nvPr/>
        </p:nvSpPr>
        <p:spPr>
          <a:xfrm>
            <a:off x="762000" y="6223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PeriRisk Agent 组会汇报</a:t>
            </a:r>
            <a:endParaRPr sz="1100"/>
          </a:p>
        </p:txBody>
      </p:sp>
      <p:sp>
        <p:nvSpPr>
          <p:cNvPr id="15" name="AutoShape 15"/>
          <p:cNvSpPr>
            <a:spLocks noGrp="1"/>
          </p:cNvSpPr>
          <p:nvPr/>
        </p:nvSpPr>
        <p:spPr>
          <a:xfrm>
            <a:off x="10160000" y="6223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 / 13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50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 · 模块三 · 防幻觉机制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8255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防幻觉：字段白名单 + 依据标注 + 8 轮安全阀</a:t>
            </a:r>
            <a:endParaRPr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762032" y="1454150"/>
            <a:ext cx="1270000" cy="12700"/>
          </a:xfrm>
          <a:prstGeom prst="straightConnector1">
            <a:avLst/>
          </a:prstGeom>
          <a:ln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62000" y="1714500"/>
            <a:ext cx="3365500" cy="2159000"/>
          </a:xfrm>
          <a:prstGeom prst="roundRect">
            <a:avLst>
              <a:gd name="adj" fmla="val 4705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6" name="AutoShape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52500" y="1841500"/>
            <a:ext cx="298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机制一：字段白名单</a:t>
            </a:r>
            <a:endParaRPr sz="1100"/>
          </a:p>
        </p:txBody>
      </p:sp>
      <p:sp>
        <p:nvSpPr>
          <p:cNvPr id="7" name="AutoShape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52500" y="2222500"/>
            <a:ext cx="2984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系统提示词明确列出三个工具返回的</a:t>
            </a:r>
            <a:r>
              <a:rPr sz="11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全部字段</a:t>
            </a: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，限定模型只能引用这些字段。</a:t>
            </a:r>
            <a:endParaRPr sz="1100"/>
          </a:p>
          <a:p>
            <a:pPr marL="0" indent="0" algn="l">
              <a:lnSpc>
                <a:spcPct val="133000"/>
              </a:lnSpc>
              <a:buNone/>
            </a:pPr>
            <a:r>
              <a:rPr sz="11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明确禁止</a:t>
            </a: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写入工具未返回的信息：性别、舒张压、高血压诊断、冠脉造影结果等。</a:t>
            </a:r>
            <a:endParaRPr sz="11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zh-CN" alt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中文报告中</a:t>
            </a: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布尔值必须写成"有/无"，不许出现 true/false。</a:t>
            </a:r>
            <a:endParaRPr sz="11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406900" y="1714500"/>
            <a:ext cx="3365500" cy="2159000"/>
          </a:xfrm>
          <a:prstGeom prst="roundRect">
            <a:avLst>
              <a:gd name="adj" fmla="val 4705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9" name="AutoShape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597400" y="1841500"/>
            <a:ext cx="298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机制二：结论附依据</a:t>
            </a:r>
            <a:endParaRPr sz="1100"/>
          </a:p>
        </p:txBody>
      </p:sp>
      <p:sp>
        <p:nvSpPr>
          <p:cNvPr id="10" name="AutoShape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597400" y="2222500"/>
            <a:ext cx="2984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报告中</a:t>
            </a:r>
            <a:r>
              <a:rPr sz="11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每一条结论</a:t>
            </a: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句末必须用括号附实际引用的工具返回值。</a:t>
            </a:r>
            <a:endParaRPr sz="1100"/>
          </a:p>
          <a:p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示例：（依据：病历工具返回 年龄68岁、收缩压158mmHg；ASA规则引擎判定 III级）</a:t>
            </a:r>
            <a:endParaRPr sz="11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找不到工具返回值支撑的结论，就不写。</a:t>
            </a:r>
            <a:endParaRPr sz="11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064500" y="1714500"/>
            <a:ext cx="3365500" cy="2159000"/>
          </a:xfrm>
          <a:prstGeom prst="roundRect">
            <a:avLst>
              <a:gd name="adj" fmla="val 4705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2" name="AutoShape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255000" y="1841500"/>
            <a:ext cx="298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机制三：8 轮安全阀</a:t>
            </a:r>
            <a:endParaRPr sz="1100"/>
          </a:p>
        </p:txBody>
      </p:sp>
      <p:sp>
        <p:nvSpPr>
          <p:cNvPr id="13" name="AutoShape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255000" y="2222500"/>
            <a:ext cx="2984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MAX_ROUNDS = 8，Agent 循环超过 8 轮</a:t>
            </a:r>
            <a:r>
              <a:rPr sz="11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强制收敛</a:t>
            </a: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，输出当前可用结论。</a:t>
            </a:r>
            <a:endParaRPr sz="1100"/>
          </a:p>
          <a:p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防止大脑陷入死循环、重复调用同一工具烧 API 额度。</a:t>
            </a:r>
            <a:endParaRPr sz="11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实际运行每例约 3 轮即收敛。</a:t>
            </a:r>
            <a:endParaRPr sz="11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>
            <a:spLocks noGrp="1"/>
          </p:cNvSpPr>
          <p:nvPr/>
        </p:nvSpPr>
        <p:spPr>
          <a:xfrm>
            <a:off x="762000" y="4127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系统提示词中的字段白名单（</a:t>
            </a:r>
            <a:r>
              <a:rPr lang="zh-CN" alt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示例</a:t>
            </a:r>
            <a:r>
              <a:rPr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摘录）</a:t>
            </a:r>
            <a:endParaRPr sz="1100"/>
          </a:p>
        </p:txBody>
      </p:sp>
      <p:sp>
        <p:nvSpPr>
          <p:cNvPr id="15" name="AutoShape 15"/>
          <p:cNvSpPr>
            <a:spLocks noGrp="1"/>
          </p:cNvSpPr>
          <p:nvPr/>
        </p:nvSpPr>
        <p:spPr>
          <a:xfrm>
            <a:off x="762000" y="4508500"/>
            <a:ext cx="10668000" cy="1397000"/>
          </a:xfrm>
          <a:prstGeom prst="roundRect">
            <a:avLst>
              <a:gd name="adj" fmla="val 7272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6" name="AutoShape 16"/>
          <p:cNvSpPr>
            <a:spLocks noGrp="1"/>
          </p:cNvSpPr>
          <p:nvPr/>
        </p:nvSpPr>
        <p:spPr>
          <a:xfrm>
            <a:off x="952500" y="4635500"/>
            <a:ext cx="1028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42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"三个工具返回的字段仅限于：病历工具 get_patient_record（姓名、年龄、冠心病、糖尿病、肾功能不全、病情不稳定、收缩压）；心率工具 analyze_waveform（分析时长秒、检测心跳次数、算法心率、监护仪对照心率）；ASA规则引擎 assess_asa_grade（ASA分级）。"</a:t>
            </a:r>
            <a:endParaRPr sz="1100"/>
          </a:p>
          <a:p>
            <a:pPr marL="0" indent="0" algn="l">
              <a:lnSpc>
                <a:spcPct val="142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"工具不返回性别（绝不能写'男性/女性'）、舒张压、高血压诊断、冠脉造影结果等，这些一律不能写。"</a:t>
            </a:r>
            <a:endParaRPr sz="11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AutoShape 17"/>
          <p:cNvSpPr>
            <a:spLocks noGrp="1"/>
          </p:cNvSpPr>
          <p:nvPr/>
        </p:nvSpPr>
        <p:spPr>
          <a:xfrm>
            <a:off x="762000" y="6223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PeriRisk Agent 组会汇报</a:t>
            </a:r>
            <a:endParaRPr sz="1100"/>
          </a:p>
        </p:txBody>
      </p:sp>
      <p:sp>
        <p:nvSpPr>
          <p:cNvPr id="18" name="AutoShape 18"/>
          <p:cNvSpPr>
            <a:spLocks noGrp="1"/>
          </p:cNvSpPr>
          <p:nvPr/>
        </p:nvSpPr>
        <p:spPr>
          <a:xfrm>
            <a:off x="10160000" y="6223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08 / 13</a:t>
            </a:r>
            <a:endParaRPr sz="1100"/>
          </a:p>
        </p:txBody>
      </p:sp>
      <p:sp>
        <p:nvSpPr>
          <p:cNvPr id="19" name="AutoShape 19"/>
          <p:cNvSpPr>
            <a:spLocks noGrp="1"/>
          </p:cNvSpPr>
          <p:nvPr/>
        </p:nvSpPr>
        <p:spPr>
          <a:xfrm>
            <a:off x="762000" y="5943600"/>
            <a:ext cx="1066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证据：[4] Roustan &amp; Bastardot, 2025（临床LLM幻觉治理框架）；[5] Omar et al., Commun Med 2025（临床决策支持中的对抗性幻觉）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50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08 · 踩坑记录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8255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三个关键问题与设计决策</a:t>
            </a:r>
            <a:endParaRPr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762032" y="1454150"/>
            <a:ext cx="1270000" cy="12700"/>
          </a:xfrm>
          <a:prstGeom prst="straightConnector1">
            <a:avLst/>
          </a:prstGeom>
          <a:ln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/>
          <p:cNvGraphicFramePr/>
          <p:nvPr/>
        </p:nvGraphicFramePr>
        <p:xfrm>
          <a:off x="762000" y="1714500"/>
          <a:ext cx="10668000" cy="3600450"/>
        </p:xfrm>
        <a:graphic>
          <a:graphicData uri="http://schemas.openxmlformats.org/drawingml/2006/table">
            <a:tbl>
              <a:tblPr/>
              <a:tblGrid>
                <a:gridCol w="508000"/>
                <a:gridCol w="2159000"/>
                <a:gridCol w="3937000"/>
                <a:gridCol w="406400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#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问题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具体表现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解决方案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openai 库中文卡住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peririsk_agent_v1.py 用 openai 库调 DeepSeek，发中文 prompt 时请求挂起无响应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弃用 openai 库，改用 requests 直接 POST API（llm.py），统一封装 chat_with_tools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ASA 没考虑血压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初版规则引擎只看年龄和既往史，高血压患者被低估（如 SBP 146 的 50 岁患者被判 I 级）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加 systolic_bp 参数和"血压地板"，取 max(基础级别, 血压地板)，只升不降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大模型编造病历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报告里出现工具没返回的信息（如"男性"、"舒张压 95"），属于典型幻觉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系统提示词加字段白名单 + 每条结论必须附"（依据：…）"，找不到依据就不写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>
            <a:spLocks noGrp="1"/>
          </p:cNvSpPr>
          <p:nvPr/>
        </p:nvSpPr>
        <p:spPr>
          <a:xfrm>
            <a:off x="762000" y="6223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PeriRisk Agent 组会汇报</a:t>
            </a:r>
            <a:endParaRPr sz="1100"/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0160000" y="6223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09 / 13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50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09 · 具体结果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8255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 例评估：验证参数传递与规则一致性</a:t>
            </a:r>
            <a:endParaRPr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762032" y="1454150"/>
            <a:ext cx="1270000" cy="12700"/>
          </a:xfrm>
          <a:prstGeom prst="straightConnector1">
            <a:avLst/>
          </a:prstGeom>
          <a:ln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>
            <a:spLocks noGrp="1"/>
          </p:cNvSpPr>
          <p:nvPr/>
        </p:nvSpPr>
        <p:spPr>
          <a:xfrm>
            <a:off x="762000" y="1651000"/>
            <a:ext cx="3302000" cy="1016000"/>
          </a:xfrm>
          <a:prstGeom prst="roundRect">
            <a:avLst>
              <a:gd name="adj" fmla="val 10000"/>
            </a:avLst>
          </a:prstGeom>
          <a:solidFill>
            <a:srgbClr val="DCFCE7">
              <a:alpha val="100000"/>
            </a:srgbClr>
          </a:solidFill>
          <a:ln w="127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1016000" y="1778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ASA 规则一致性</a:t>
            </a:r>
            <a:endParaRPr sz="1100"/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016000" y="2095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6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100% (5/5)</a:t>
            </a:r>
            <a:endParaRPr sz="1100"/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4445000" y="1651000"/>
            <a:ext cx="3302000" cy="1016000"/>
          </a:xfrm>
          <a:prstGeom prst="roundRect">
            <a:avLst>
              <a:gd name="adj" fmla="val 10000"/>
            </a:avLst>
          </a:prstGeom>
          <a:solidFill>
            <a:srgbClr val="DCFCE7">
              <a:alpha val="100000"/>
            </a:srgbClr>
          </a:solidFill>
          <a:ln w="127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4699000" y="1778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工具调用顺序正确率</a:t>
            </a:r>
            <a:endParaRPr sz="1100"/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4699000" y="2095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6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100% (5/5)</a:t>
            </a:r>
            <a:endParaRPr sz="1100"/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8128000" y="1651000"/>
            <a:ext cx="3302000" cy="1016000"/>
          </a:xfrm>
          <a:prstGeom prst="roundRect">
            <a:avLst>
              <a:gd name="adj" fmla="val 1000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2" name="AutoShape 12"/>
          <p:cNvSpPr>
            <a:spLocks noGrp="1"/>
          </p:cNvSpPr>
          <p:nvPr/>
        </p:nvSpPr>
        <p:spPr>
          <a:xfrm>
            <a:off x="8382000" y="1778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同源平均差（5例）</a:t>
            </a:r>
            <a:endParaRPr sz="1100"/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8382000" y="2095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6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1.5 次/分</a:t>
            </a:r>
            <a:endParaRPr sz="1100"/>
          </a:p>
        </p:txBody>
      </p:sp>
      <p:graphicFrame>
        <p:nvGraphicFramePr>
          <p:cNvPr id="14" name="Table 14"/>
          <p:cNvGraphicFramePr/>
          <p:nvPr/>
        </p:nvGraphicFramePr>
        <p:xfrm>
          <a:off x="762000" y="2921000"/>
          <a:ext cx="10668000" cy="2794000"/>
        </p:xfrm>
        <a:graphic>
          <a:graphicData uri="http://schemas.openxmlformats.org/drawingml/2006/table">
            <a:tbl>
              <a:tblPr/>
              <a:tblGrid>
                <a:gridCol w="2032000"/>
                <a:gridCol w="635000"/>
                <a:gridCol w="1016000"/>
                <a:gridCol w="1016000"/>
                <a:gridCol w="635000"/>
                <a:gridCol w="2286000"/>
                <a:gridCol w="635000"/>
                <a:gridCol w="1016000"/>
                <a:gridCol w="635000"/>
                <a:gridCol w="762000"/>
              </a:tblGrid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病例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年龄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预期ASA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Agent 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一致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调用顺序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顺序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同源差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波形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病情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张三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68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III级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III级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0.8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C01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冠心病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李四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45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1.4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C02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健康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王秀兰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72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0.4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C03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无基础病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陈伟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50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1.2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C04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轻度高血压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赵芳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82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V级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V级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3.8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C05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病情不稳定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AutoShape 15"/>
          <p:cNvSpPr>
            <a:spLocks noGrp="1"/>
          </p:cNvSpPr>
          <p:nvPr/>
        </p:nvSpPr>
        <p:spPr>
          <a:xfrm>
            <a:off x="762000" y="5969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本表验证模型参数传递与规则一致性；预期值由同一规则引擎计算，不代表临床准确率。</a:t>
            </a:r>
            <a:endParaRPr sz="1100"/>
          </a:p>
        </p:txBody>
      </p:sp>
      <p:sp>
        <p:nvSpPr>
          <p:cNvPr id="16" name="AutoShape 16"/>
          <p:cNvSpPr>
            <a:spLocks noGrp="1"/>
          </p:cNvSpPr>
          <p:nvPr/>
        </p:nvSpPr>
        <p:spPr>
          <a:xfrm>
            <a:off x="762000" y="6223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PeriRisk Agent 组会汇报</a:t>
            </a:r>
            <a:endParaRPr sz="1100"/>
          </a:p>
        </p:txBody>
      </p:sp>
      <p:sp>
        <p:nvSpPr>
          <p:cNvPr id="17" name="AutoShape 17"/>
          <p:cNvSpPr>
            <a:spLocks noGrp="1"/>
          </p:cNvSpPr>
          <p:nvPr/>
        </p:nvSpPr>
        <p:spPr>
          <a:xfrm>
            <a:off x="10160000" y="6223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 / 13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50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</a:t>
            </a:r>
            <a:r>
              <a:rPr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· 具体结果 · 运行演示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8255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实际运行效果：三段式术前评估报告</a:t>
            </a:r>
            <a:endParaRPr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762032" y="1454150"/>
            <a:ext cx="1270000" cy="12700"/>
          </a:xfrm>
          <a:prstGeom prst="straightConnector1">
            <a:avLst/>
          </a:prstGeom>
          <a:ln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 l="7777" r="7777"/>
          <a:stretch>
            <a:fillRect/>
          </a:stretch>
        </p:blipFill>
        <p:spPr>
          <a:xfrm>
            <a:off x="2286000" y="1524000"/>
            <a:ext cx="7620000" cy="4286250"/>
          </a:xfrm>
          <a:prstGeom prst="roundRect">
            <a:avLst>
              <a:gd name="adj" fmla="val 2666"/>
            </a:avLst>
          </a:prstGeom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</p:pic>
      <p:sp>
        <p:nvSpPr>
          <p:cNvPr id="10" name="AutoShape 10"/>
          <p:cNvSpPr>
            <a:spLocks noGrp="1"/>
          </p:cNvSpPr>
          <p:nvPr/>
        </p:nvSpPr>
        <p:spPr>
          <a:xfrm>
            <a:off x="2286000" y="5886450"/>
            <a:ext cx="762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三段式报告：每条结论附（依据：…），引用工具真实返回值，可追溯、可核查</a:t>
            </a:r>
            <a:endParaRPr sz="1100"/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762000" y="62865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PeriRisk Agent 组会汇报</a:t>
            </a:r>
            <a:endParaRPr sz="1100"/>
          </a:p>
        </p:txBody>
      </p:sp>
      <p:sp>
        <p:nvSpPr>
          <p:cNvPr id="14" name="AutoShape 14"/>
          <p:cNvSpPr>
            <a:spLocks noGrp="1"/>
          </p:cNvSpPr>
          <p:nvPr/>
        </p:nvSpPr>
        <p:spPr>
          <a:xfrm>
            <a:off x="10160000" y="62865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11 / 13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50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11</a:t>
            </a:r>
            <a:r>
              <a:rPr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· 待优化方向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8255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当前不足与具体优化方向</a:t>
            </a:r>
            <a:endParaRPr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762032" y="1454150"/>
            <a:ext cx="1270000" cy="12700"/>
          </a:xfrm>
          <a:prstGeom prst="straightConnector1">
            <a:avLst/>
          </a:prstGeom>
          <a:ln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/>
          <p:cNvGraphicFramePr/>
          <p:nvPr/>
        </p:nvGraphicFramePr>
        <p:xfrm>
          <a:off x="762000" y="1714500"/>
          <a:ext cx="10668000" cy="4191000"/>
        </p:xfrm>
        <a:graphic>
          <a:graphicData uri="http://schemas.openxmlformats.org/drawingml/2006/table">
            <a:tbl>
              <a:tblPr/>
              <a:tblGrid>
                <a:gridCol w="508000"/>
                <a:gridCol w="1905000"/>
                <a:gridCol w="3937000"/>
                <a:gridCol w="4318000"/>
              </a:tblGrid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#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1B1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不足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1B1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具体表现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1B1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优化方案（具体到做法）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1B1B">
                        <a:alpha val="100000"/>
                      </a:srgbClr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样本量太小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5 个手工病例；5 份独立波形；ASA 100% 仍是规则一致性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扩充到 20–30 例；增加更多患者波形；规则一致性与临床准确率分开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心率样本仍小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5 段 60 秒波形；同源差 0.4–3.8，均值 1.5；仍属小样本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扩充更多病例；再做 prominence×distance 网格搜索与带通滤波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ASA 规则简化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只考虑 6 个布尔/数值字段，未纳入 BMI、吸烟史、手术类型、急诊/择期等真实分级因素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扩展规则引擎字段（BMI≥30 至少 II、急诊手术升一级、恶性肿瘤至少 III）；参考 ASA 官方分级指南逐条映射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无标准数据接入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患者数据硬编码在 patient.py，无法对接真实 HIS/EMR 系统；无 FHIR 标准支持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实现 FHIR Patient/Observation 资源解析器；get_patient_record 改为从 FHIR Bundle 提取字段，兼容标准医疗数据格式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无医生反馈闭环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报告输出后无法收集医生修正意见，模型和规则无法迭代优化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界面加"医生修正"按钮，记录修正后的 ASA 分级和修改原因；定期用修正数据反哺规则引擎调参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>
            <a:spLocks noGrp="1"/>
          </p:cNvSpPr>
          <p:nvPr/>
        </p:nvSpPr>
        <p:spPr>
          <a:xfrm>
            <a:off x="762000" y="6223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PeriRisk Agent 组会汇报</a:t>
            </a:r>
            <a:endParaRPr sz="1100"/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0160000" y="6223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12 / 13</a:t>
            </a:r>
            <a:endParaRPr sz="1100"/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762000" y="5943600"/>
            <a:ext cx="1066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注：FHIR 是后续工作方向，不属于当前已验证结果。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3556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</a:t>
            </a:r>
            <a:r>
              <a:rPr lang="en-US" sz="11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</a:t>
            </a:r>
            <a:r>
              <a:rPr sz="11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· 参考文献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6350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核心参考文献（5 篇）</a:t>
            </a:r>
            <a:endParaRPr sz="1100"/>
          </a:p>
        </p:txBody>
      </p:sp>
      <p:cxnSp>
        <p:nvCxnSpPr>
          <p:cNvPr id="4" name="Connector 4"/>
          <p:cNvCxnSpPr/>
          <p:nvPr/>
        </p:nvCxnSpPr>
        <p:spPr>
          <a:xfrm rot="-38195">
            <a:off x="762035" y="1136650"/>
            <a:ext cx="1143000" cy="12700"/>
          </a:xfrm>
          <a:prstGeom prst="straightConnector1">
            <a:avLst/>
          </a:prstGeom>
          <a:ln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/>
          <p:cNvGraphicFramePr/>
          <p:nvPr/>
        </p:nvGraphicFramePr>
        <p:xfrm>
          <a:off x="762000" y="1270000"/>
          <a:ext cx="10668000" cy="3181350"/>
        </p:xfrm>
        <a:graphic>
          <a:graphicData uri="http://schemas.openxmlformats.org/drawingml/2006/table">
            <a:tbl>
              <a:tblPr/>
              <a:tblGrid>
                <a:gridCol w="406400"/>
                <a:gridCol w="5054600"/>
                <a:gridCol w="5207000"/>
              </a:tblGrid>
              <a:tr h="3238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#</a:t>
                      </a:r>
                      <a:endParaRPr sz="1100"/>
                    </a:p>
                  </a:txBody>
                  <a:tcPr marL="101600" marR="101600" marT="69850" marB="698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作者 · 标题</a:t>
                      </a:r>
                      <a:endParaRPr sz="1100"/>
                    </a:p>
                  </a:txBody>
                  <a:tcPr marL="101600" marR="101600" marT="69850" marB="698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原文</a:t>
                      </a:r>
                      <a:endParaRPr sz="1100"/>
                    </a:p>
                  </a:txBody>
                  <a:tcPr marL="101600" marR="101600" marT="69850" marB="698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Zhang K, Rashid-Kolvear M, Waseem R, Englesakis M, Chung F. Virtual preoperative assessment in surgical patients: a systematic review and meta-analysis. J Clin Anesth. 2021;75:110540. doi:10.1016/j.jclinane.2021.110540</a:t>
                      </a:r>
                      <a:endParaRPr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开放全文：PMC9759637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Sankar A, Johnson SR, Beattie WS, Tait G, Wijeysundera DN. Reliability of the American Society of Anesthesiologists physical status scale in clinical practice. Br J Anaesth. 2014;113(3):424-432. doi:10.1093/bja/aeu100</a:t>
                      </a:r>
                      <a:endParaRPr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开放全文：PMC4136425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Karim HMR. Common Clinical Dilemma Leading to American Society of Anaesthesiologists Physical Status Class Assignment Variation and the Impact of 2019 Amendment. Turk J Anaesthesiol Reanim. 2021;49(2):186-189. doi:10.5152/tjar.2021.178</a:t>
                      </a:r>
                      <a:endParaRPr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开放全文：PMC8098727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Roustan D, Bastardot F. The Clinicians' Guide to Large Language Models: A General Perspective With a Focus on Hallucinations. Interact J Med Res. 2025;14:e59823. doi:10.2196/59823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开放全文：PMC11815294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Omar M, Sorin V, Collins JD, et al. Multi-model assurance analysis showing large language models are highly vulnerable to adversarial hallucination attacks during clinical decision support. Commun Med. 2025;5:330. doi:10.1038/s43856-025-01021-3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开放全文：PMC12318031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762000" y="5953125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790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  <a:lvl1pPr algn="l">
              <a:buNone/>
              <a:defRPr sz="790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  <a:lvl2pPr algn="l">
              <a:buNone/>
              <a:defRPr sz="790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2pPr>
            <a:lvl3pPr algn="l">
              <a:buNone/>
              <a:defRPr sz="790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3pPr>
            <a:lvl4pPr algn="l">
              <a:buNone/>
              <a:defRPr sz="790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4pPr>
            <a:lvl5pPr algn="l">
              <a:buNone/>
              <a:defRPr sz="790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5pPr>
            <a:lvl6pPr algn="l">
              <a:buNone/>
              <a:defRPr sz="790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6pPr>
            <a:lvl7pPr algn="l">
              <a:buNone/>
              <a:defRPr sz="790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7pPr>
            <a:lvl8pPr algn="l">
              <a:buNone/>
              <a:defRPr sz="790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8pPr>
            <a:lvl9pPr algn="l">
              <a:buNone/>
              <a:defRPr sz="790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9pPr>
          </a:lstStyle>
          <a:p>
            <a:pPr algn="l">
              <a:buNone/>
              <a:defRPr sz="790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790">
                <a:solidFill>
                  <a:srgbClr val="787D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全文 PDF 在 references/pdf/；每篇均可翻页，并搜索 Results/Discussion 核对原句。</a:t>
            </a:r>
            <a:endParaRPr sz="790">
              <a:solidFill>
                <a:srgbClr val="787D8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0,&quot;left&quot;:60,&quot;top&quot;:140,&quot;width&quot;:840}"/>
</p:tagLst>
</file>

<file path=ppt/tags/tag2.xml><?xml version="1.0" encoding="utf-8"?>
<p:tagLst xmlns:p="http://schemas.openxmlformats.org/presentationml/2006/main">
  <p:tag name="KSO_WM_DIAGRAM_VIRTUALLY_FRAME" val="{&quot;height&quot;:160,&quot;left&quot;:60,&quot;top&quot;:140,&quot;width&quot;:840}"/>
</p:tagLst>
</file>

<file path=ppt/tags/tag3.xml><?xml version="1.0" encoding="utf-8"?>
<p:tagLst xmlns:p="http://schemas.openxmlformats.org/presentationml/2006/main">
  <p:tag name="KSO_WM_DIAGRAM_VIRTUALLY_FRAME" val="{&quot;height&quot;:160,&quot;left&quot;:60,&quot;top&quot;:140,&quot;width&quot;:840}"/>
</p:tagLst>
</file>

<file path=ppt/tags/tag4.xml><?xml version="1.0" encoding="utf-8"?>
<p:tagLst xmlns:p="http://schemas.openxmlformats.org/presentationml/2006/main">
  <p:tag name="KSO_WM_DIAGRAM_VIRTUALLY_FRAME" val="{&quot;height&quot;:160,&quot;left&quot;:60,&quot;top&quot;:140,&quot;width&quot;:840}"/>
</p:tagLst>
</file>

<file path=ppt/tags/tag5.xml><?xml version="1.0" encoding="utf-8"?>
<p:tagLst xmlns:p="http://schemas.openxmlformats.org/presentationml/2006/main">
  <p:tag name="KSO_WM_DIAGRAM_VIRTUALLY_FRAME" val="{&quot;height&quot;:160,&quot;left&quot;:60,&quot;top&quot;:140,&quot;width&quot;:840}"/>
</p:tagLst>
</file>

<file path=ppt/tags/tag6.xml><?xml version="1.0" encoding="utf-8"?>
<p:tagLst xmlns:p="http://schemas.openxmlformats.org/presentationml/2006/main">
  <p:tag name="KSO_WM_DIAGRAM_VIRTUALLY_FRAME" val="{&quot;height&quot;:160,&quot;left&quot;:60,&quot;top&quot;:140,&quot;width&quot;:840}"/>
</p:tagLst>
</file>

<file path=ppt/tags/tag7.xml><?xml version="1.0" encoding="utf-8"?>
<p:tagLst xmlns:p="http://schemas.openxmlformats.org/presentationml/2006/main">
  <p:tag name="KSO_WM_DIAGRAM_VIRTUALLY_FRAME" val="{&quot;height&quot;:160,&quot;left&quot;:60,&quot;top&quot;:140,&quot;width&quot;:840}"/>
</p:tagLst>
</file>

<file path=ppt/tags/tag8.xml><?xml version="1.0" encoding="utf-8"?>
<p:tagLst xmlns:p="http://schemas.openxmlformats.org/presentationml/2006/main">
  <p:tag name="KSO_WM_DIAGRAM_VIRTUALLY_FRAME" val="{&quot;height&quot;:160,&quot;left&quot;:60,&quot;top&quot;:140,&quot;width&quot;:840}"/>
</p:tagLst>
</file>

<file path=ppt/tags/tag9.xml><?xml version="1.0" encoding="utf-8"?>
<p:tagLst xmlns:p="http://schemas.openxmlformats.org/presentationml/2006/main">
  <p:tag name="KSO_WM_DIAGRAM_VIRTUALLY_FRAME" val="{&quot;height&quot;:160,&quot;left&quot;:60,&quot;top&quot;:140,&quot;width&quot;:840}"/>
</p:tagLst>
</file>

<file path=ppt/tags/tag10.xml><?xml version="1.0" encoding="utf-8"?>
<p:tagLst xmlns:p="http://schemas.openxmlformats.org/presentationml/2006/main">
  <p:tag name="TABLE_ENDDRAG_ORIGIN_RECT" val="380*190"/>
  <p:tag name="TABLE_ENDDRAG_RECT" val="520*160*380*190"/>
</p:tagLst>
</file>

<file path=ppt/tags/tag11.xml><?xml version="1.0" encoding="utf-8"?>
<p:tagLst xmlns:p="http://schemas.openxmlformats.org/presentationml/2006/main">
  <p:tag name="KSO_WM_DIAGRAM_VIRTUALLY_FRAME" val="{&quot;height&quot;:170,&quot;left&quot;:60,&quot;top&quot;:135,&quot;width&quot;:840}"/>
</p:tagLst>
</file>

<file path=ppt/tags/tag12.xml><?xml version="1.0" encoding="utf-8"?>
<p:tagLst xmlns:p="http://schemas.openxmlformats.org/presentationml/2006/main">
  <p:tag name="KSO_WM_DIAGRAM_VIRTUALLY_FRAME" val="{&quot;height&quot;:170,&quot;left&quot;:60,&quot;top&quot;:135,&quot;width&quot;:840}"/>
</p:tagLst>
</file>

<file path=ppt/tags/tag13.xml><?xml version="1.0" encoding="utf-8"?>
<p:tagLst xmlns:p="http://schemas.openxmlformats.org/presentationml/2006/main">
  <p:tag name="KSO_WM_DIAGRAM_VIRTUALLY_FRAME" val="{&quot;height&quot;:170,&quot;left&quot;:60,&quot;top&quot;:135,&quot;width&quot;:840}"/>
</p:tagLst>
</file>

<file path=ppt/tags/tag14.xml><?xml version="1.0" encoding="utf-8"?>
<p:tagLst xmlns:p="http://schemas.openxmlformats.org/presentationml/2006/main">
  <p:tag name="KSO_WM_DIAGRAM_VIRTUALLY_FRAME" val="{&quot;height&quot;:170,&quot;left&quot;:60,&quot;top&quot;:135,&quot;width&quot;:840}"/>
</p:tagLst>
</file>

<file path=ppt/tags/tag15.xml><?xml version="1.0" encoding="utf-8"?>
<p:tagLst xmlns:p="http://schemas.openxmlformats.org/presentationml/2006/main">
  <p:tag name="KSO_WM_DIAGRAM_VIRTUALLY_FRAME" val="{&quot;height&quot;:170,&quot;left&quot;:60,&quot;top&quot;:135,&quot;width&quot;:840}"/>
</p:tagLst>
</file>

<file path=ppt/tags/tag16.xml><?xml version="1.0" encoding="utf-8"?>
<p:tagLst xmlns:p="http://schemas.openxmlformats.org/presentationml/2006/main">
  <p:tag name="KSO_WM_DIAGRAM_VIRTUALLY_FRAME" val="{&quot;height&quot;:170,&quot;left&quot;:60,&quot;top&quot;:135,&quot;width&quot;:840}"/>
</p:tagLst>
</file>

<file path=ppt/tags/tag17.xml><?xml version="1.0" encoding="utf-8"?>
<p:tagLst xmlns:p="http://schemas.openxmlformats.org/presentationml/2006/main">
  <p:tag name="KSO_WM_DIAGRAM_VIRTUALLY_FRAME" val="{&quot;height&quot;:170,&quot;left&quot;:60,&quot;top&quot;:135,&quot;width&quot;:840}"/>
</p:tagLst>
</file>

<file path=ppt/tags/tag18.xml><?xml version="1.0" encoding="utf-8"?>
<p:tagLst xmlns:p="http://schemas.openxmlformats.org/presentationml/2006/main">
  <p:tag name="KSO_WM_DIAGRAM_VIRTUALLY_FRAME" val="{&quot;height&quot;:170,&quot;left&quot;:60,&quot;top&quot;:135,&quot;width&quot;:840}"/>
</p:tagLst>
</file>

<file path=ppt/tags/tag19.xml><?xml version="1.0" encoding="utf-8"?>
<p:tagLst xmlns:p="http://schemas.openxmlformats.org/presentationml/2006/main">
  <p:tag name="KSO_WM_DIAGRAM_VIRTUALLY_FRAME" val="{&quot;height&quot;:170,&quot;left&quot;:60,&quot;top&quot;:135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6602</Words>
  <Application>WPS 演示</Application>
  <PresentationFormat>Converted Presentation</PresentationFormat>
  <Paragraphs>570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范欲飞</cp:lastModifiedBy>
  <cp:revision>7</cp:revision>
  <dcterms:created xsi:type="dcterms:W3CDTF">2026-10-26T14:28:00Z</dcterms:created>
  <dcterms:modified xsi:type="dcterms:W3CDTF">2026-10-26T16:03:36Z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F96DFEA47EF74BC5A3F998166FF66FA5_12</vt:lpwstr>
  </property>
</Properties>
</file>