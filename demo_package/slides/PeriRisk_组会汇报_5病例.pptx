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4dd87450c645c4" /><Relationship Type="http://schemas.openxmlformats.org/officeDocument/2006/relationships/extended-properties" Target="/docProps/app.xml" Id="R7e8ca7b9d67a4744" /><Relationship Type="http://schemas.openxmlformats.org/officeDocument/2006/relationships/officeDocument" Target="/ppt/presentation.xml" Id="Re7c5c692b3c743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128d5bb66244d5"/>
    <p:sldMasterId xmlns:r="http://schemas.openxmlformats.org/officeDocument/2006/relationships" id="2147483660" r:id="R1a04db2f6fe543cc"/>
  </p:sldMasterIdLst>
  <p:notesMasterIdLst>
    <p:notesMasterId xmlns:r="http://schemas.openxmlformats.org/officeDocument/2006/relationships" r:id="R85997c9529bf4e0c"/>
  </p:notesMasterIdLst>
  <p:sldIdLst>
    <p:sldId xmlns:r="http://schemas.openxmlformats.org/officeDocument/2006/relationships" id="256" r:id="R30aa4d01482b48db"/>
    <p:sldId xmlns:r="http://schemas.openxmlformats.org/officeDocument/2006/relationships" id="257" r:id="Re0c9dd1525a5459a"/>
    <p:sldId xmlns:r="http://schemas.openxmlformats.org/officeDocument/2006/relationships" id="258" r:id="R42c9e2f787d447ce"/>
    <p:sldId xmlns:r="http://schemas.openxmlformats.org/officeDocument/2006/relationships" id="259" r:id="R24af769c98e94500"/>
    <p:sldId xmlns:r="http://schemas.openxmlformats.org/officeDocument/2006/relationships" id="260" r:id="Ra76d6eec309b4e3d"/>
    <p:sldId xmlns:r="http://schemas.openxmlformats.org/officeDocument/2006/relationships" id="261" r:id="Rdbba939b120b4d27"/>
    <p:sldId xmlns:r="http://schemas.openxmlformats.org/officeDocument/2006/relationships" id="262" r:id="R58d02ed53a0c4717"/>
    <p:sldId xmlns:r="http://schemas.openxmlformats.org/officeDocument/2006/relationships" id="263" r:id="Rebab4723594a4b1e"/>
    <p:sldId xmlns:r="http://schemas.openxmlformats.org/officeDocument/2006/relationships" id="264" r:id="R2c5e127251594475"/>
    <p:sldId xmlns:r="http://schemas.openxmlformats.org/officeDocument/2006/relationships" id="265" r:id="Rc62bd05a67e2419a"/>
    <p:sldId xmlns:r="http://schemas.openxmlformats.org/officeDocument/2006/relationships" id="266" r:id="Re273c879416b49fa"/>
    <p:sldId xmlns:r="http://schemas.openxmlformats.org/officeDocument/2006/relationships" id="267" r:id="R131b977933364a82"/>
    <p:sldId xmlns:r="http://schemas.openxmlformats.org/officeDocument/2006/relationships" id="268" r:id="R1f6f602afaf04242"/>
    <p:sldId xmlns:r="http://schemas.openxmlformats.org/officeDocument/2006/relationships" id="269" r:id="R5d296e74ac914273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9dd54201314de3" /><Relationship Type="http://schemas.openxmlformats.org/officeDocument/2006/relationships/slideMaster" Target="/ppt/slideMasters/slideMaster1.xml" Id="R4c128d5bb66244d5" /><Relationship Type="http://schemas.openxmlformats.org/officeDocument/2006/relationships/slideMaster" Target="/ppt/slideMasters/slideMaster2.xml" Id="R1a04db2f6fe543cc" /><Relationship Type="http://schemas.openxmlformats.org/officeDocument/2006/relationships/notesMaster" Target="/ppt/notesMasters/notesMaster1.xml" Id="R85997c9529bf4e0c" /><Relationship Type="http://schemas.openxmlformats.org/officeDocument/2006/relationships/presProps" Target="/ppt/presProps.xml" Id="Rf7732bab70b7460e" /><Relationship Type="http://schemas.openxmlformats.org/officeDocument/2006/relationships/viewProps" Target="/ppt/viewProps.xml" Id="Rd8d970b049114ffa" /><Relationship Type="http://schemas.openxmlformats.org/officeDocument/2006/relationships/tableStyles" Target="/ppt/tableStyles.xml" Id="R19d8f5051c0a48b9" /><Relationship Type="http://schemas.openxmlformats.org/officeDocument/2006/relationships/slide" Target="/ppt/slides/slide1.xml" Id="R30aa4d01482b48db" /><Relationship Type="http://schemas.openxmlformats.org/officeDocument/2006/relationships/slide" Target="/ppt/slides/slide2.xml" Id="Re0c9dd1525a5459a" /><Relationship Type="http://schemas.openxmlformats.org/officeDocument/2006/relationships/slide" Target="/ppt/slides/slide3.xml" Id="R42c9e2f787d447ce" /><Relationship Type="http://schemas.openxmlformats.org/officeDocument/2006/relationships/slide" Target="/ppt/slides/slide4.xml" Id="R24af769c98e94500" /><Relationship Type="http://schemas.openxmlformats.org/officeDocument/2006/relationships/slide" Target="/ppt/slides/slide5.xml" Id="Ra76d6eec309b4e3d" /><Relationship Type="http://schemas.openxmlformats.org/officeDocument/2006/relationships/slide" Target="/ppt/slides/slide6.xml" Id="Rdbba939b120b4d27" /><Relationship Type="http://schemas.openxmlformats.org/officeDocument/2006/relationships/slide" Target="/ppt/slides/slide7.xml" Id="R58d02ed53a0c4717" /><Relationship Type="http://schemas.openxmlformats.org/officeDocument/2006/relationships/slide" Target="/ppt/slides/slide8.xml" Id="Rebab4723594a4b1e" /><Relationship Type="http://schemas.openxmlformats.org/officeDocument/2006/relationships/slide" Target="/ppt/slides/slide9.xml" Id="R2c5e127251594475" /><Relationship Type="http://schemas.openxmlformats.org/officeDocument/2006/relationships/slide" Target="/ppt/slides/slide10.xml" Id="Rc62bd05a67e2419a" /><Relationship Type="http://schemas.openxmlformats.org/officeDocument/2006/relationships/slide" Target="/ppt/slides/slide11.xml" Id="Re273c879416b49fa" /><Relationship Type="http://schemas.openxmlformats.org/officeDocument/2006/relationships/slide" Target="/ppt/slides/slide12.xml" Id="R131b977933364a82" /><Relationship Type="http://schemas.openxmlformats.org/officeDocument/2006/relationships/slide" Target="/ppt/slides/slide13.xml" Id="R1f6f602afaf04242" /><Relationship Type="http://schemas.openxmlformats.org/officeDocument/2006/relationships/slide" Target="/ppt/slides/slide14.xml" Id="R5d296e74ac9142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8af4d27d78745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235cd1aec441c8" /><Relationship Type="http://schemas.openxmlformats.org/officeDocument/2006/relationships/notesMaster" Target="/ppt/notesMasters/notesMaster1.xml" Id="Ra0c10af9941744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4cdcfd974c42b6" /><Relationship Type="http://schemas.openxmlformats.org/officeDocument/2006/relationships/notesMaster" Target="/ppt/notesMasters/notesMaster1.xml" Id="Rb5fc2b1bb9934c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6db013a65c453c" /><Relationship Type="http://schemas.openxmlformats.org/officeDocument/2006/relationships/notesMaster" Target="/ppt/notesMasters/notesMaster1.xml" Id="R7ab559e1af5d42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e5bf4713264fea" /><Relationship Type="http://schemas.openxmlformats.org/officeDocument/2006/relationships/notesMaster" Target="/ppt/notesMasters/notesMaster1.xml" Id="Ra16daee1b3724d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da30ecdab940c6" /><Relationship Type="http://schemas.openxmlformats.org/officeDocument/2006/relationships/notesMaster" Target="/ppt/notesMasters/notesMaster1.xml" Id="Rc0e8f8aef9e349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a46cd4e3b4407e" /><Relationship Type="http://schemas.openxmlformats.org/officeDocument/2006/relationships/notesMaster" Target="/ppt/notesMasters/notesMaster1.xml" Id="Rdfc5d4a271b548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2982229ac64435" /><Relationship Type="http://schemas.openxmlformats.org/officeDocument/2006/relationships/notesMaster" Target="/ppt/notesMasters/notesMaster1.xml" Id="Rac50a3836cde49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8fe5af24774dbf" /><Relationship Type="http://schemas.openxmlformats.org/officeDocument/2006/relationships/notesMaster" Target="/ppt/notesMasters/notesMaster1.xml" Id="R39c2a04b16a549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a4031a1deb4ad4" /><Relationship Type="http://schemas.openxmlformats.org/officeDocument/2006/relationships/notesMaster" Target="/ppt/notesMasters/notesMaster1.xml" Id="R16949455920f49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b104b2862a4237" /><Relationship Type="http://schemas.openxmlformats.org/officeDocument/2006/relationships/notesMaster" Target="/ppt/notesMasters/notesMaster1.xml" Id="R643c5b152f144f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83f421157643bb" /><Relationship Type="http://schemas.openxmlformats.org/officeDocument/2006/relationships/notesMaster" Target="/ppt/notesMasters/notesMaster1.xml" Id="R345facb57cc044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2db217885942b9" /><Relationship Type="http://schemas.openxmlformats.org/officeDocument/2006/relationships/notesMaster" Target="/ppt/notesMasters/notesMaster1.xml" Id="Rb3a5b7e6d5214e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89b25cc5004b0f" /><Relationship Type="http://schemas.openxmlformats.org/officeDocument/2006/relationships/notesMaster" Target="/ppt/notesMasters/notesMaster1.xml" Id="R863c12ddc25147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dc4645af394128" /><Relationship Type="http://schemas.openxmlformats.org/officeDocument/2006/relationships/notesMaster" Target="/ppt/notesMasters/notesMaster1.xml" Id="Rfe50a8ba75784b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【开场 · 约20秒】</a:t>
            </a:r>
          </a:p>
          <a:p xmlns:a="http://schemas.openxmlformats.org/drawingml/2006/main">
            <a:pPr algn="l">
              <a:buNone/>
            </a:pPr>
            <a:r>
              <a:t>各位老师好，我汇报的是 PeriRisk，围术期麻醉风险评估 Agent。今天重点讲三件事：为什么做、怎么实现、以及 5 个不同病例上的验证结果。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【背景 · 约45秒】</a:t>
            </a:r>
          </a:p>
          <a:p xmlns:a="http://schemas.openxmlformats.org/drawingml/2006/main">
            <a:pPr algn="l">
              <a:buNone/>
            </a:pPr>
            <a:r>
              <a:t>术前评估是标准流程。2021 年一项系统综述汇总 15 项研究、31496 例患者，虚拟评估可节省约 24 到 137 分钟/患者。我们不是替代评估流程，而是把信息查询、规则执行和报告草稿串成一条可追溯的链路。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【架构 · 约40秒】</a:t>
            </a:r>
          </a:p>
          <a:p xmlns:a="http://schemas.openxmlformats.org/drawingml/2006/main">
            <a:pPr algn="l">
              <a:buNone/>
            </a:pPr>
            <a:r>
              <a:t>核心原则是：大模型负责决策调度，本地代码负责确定性计算。应用层由 Agent 决定下一步调用什么工具；工具层有查病历、算心率、算 ASA；底层由 DeepSeek 写报告，Python 和 scipy 做数值计算，VitalDB 提供真实数据。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【ASA 规则 · 约45秒】</a:t>
            </a:r>
          </a:p>
          <a:p xmlns:a="http://schemas.openxmlformats.org/drawingml/2006/main">
            <a:pPr algn="l">
              <a:buNone/>
            </a:pPr>
            <a:r>
              <a:t>ASA 用简化规则演示。先按基础疾病定级，再算血压地板，最后取较高值。例如 50 岁、无基础病、收缩压 146，基础是 I 级，但血压地板把它抬到 II 级。82 岁病情不稳定则直接是 V 级，后面的规则不会把它降下来。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【心率方法 · 约40秒】</a:t>
            </a:r>
          </a:p>
          <a:p xmlns:a="http://schemas.openxmlformats.org/drawingml/2006/main">
            <a:pPr algn="l">
              <a:buNone/>
            </a:pPr>
            <a:r>
              <a:t>心率工具从 PLETH 脉搏波找峰。采样率 500Hz，两个峰至少间隔 0.4 秒，prominence 设为 0.5。这里要说明限制：0.4 秒把可检测上限限制在约 150 次/分；prominence 是经验值，还没有做参数网格搜索。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【5 病例结果 · 约50秒】</a:t>
            </a:r>
          </a:p>
          <a:p xmlns:a="http://schemas.openxmlformats.org/drawingml/2006/main">
            <a:pPr algn="l">
              <a:buNone/>
            </a:pPr>
            <a:r>
              <a:t>这部分是这两周新增的工作。我们从 VitalDB 选了 5 个不同病例，每个病例截取 60 秒 PLETH 波形和同窗口的 PLETH_HR、综合 HR。算法心率范围是 71 到 98 次/分；算法对同源 PLETH_HR 的平均差是 1.5，对综合 HR 的平均差是 1.9。注意，这仍然是 5 例小样本，不是临床准确率。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【Agent 主循环 · 约45秒】</a:t>
            </a:r>
          </a:p>
          <a:p xmlns:a="http://schemas.openxmlformats.org/drawingml/2006/main">
            <a:pPr algn="l">
              <a:buNone/>
            </a:pPr>
            <a:r>
              <a:t>Agent 第一轮只拿到系统提示词和用户任务。模型返回 tool_calls 后，本地 Python 执行对应工具，再用 tool_call_id 把结果回填。模型再次看到工具结果，继续决定下一步，直到不再调用工具、直接输出报告。on_event 只负责把过程通知给 CLI 或网页。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【防幻觉 · 约35秒】</a:t>
            </a:r>
          </a:p>
          <a:p xmlns:a="http://schemas.openxmlformats.org/drawingml/2006/main">
            <a:pPr algn="l">
              <a:buNone/>
            </a:pPr>
            <a:r>
              <a:t>报告只允许引用工具真实返回的字段。系统提示词明确禁止写性别、舒张压、造影结果等未返回信息；每条结论后面要附“（依据：…）”；循环最多 8 轮，防止死循环和持续消耗 API。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【三个关键决策 · 约40秒】</a:t>
            </a:r>
          </a:p>
          <a:p xmlns:a="http://schemas.openxmlformats.org/drawingml/2006/main">
            <a:pPr algn="l">
              <a:buNone/>
            </a:pPr>
            <a:r>
              <a:t>这里不再罗列五个工程小坑，只保留三个关键决策：第一，openai 库当时发中文 prompt 会挂起，所以改用 requests 直连；第二，ASA 初版漏了血压，所以加入血压地板；第三，大模型曾编造病历，所以加入字段白名单和依据标注。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【5 例评估 · 约50秒】</a:t>
            </a:r>
          </a:p>
          <a:p xmlns:a="http://schemas.openxmlformats.org/drawingml/2006/main">
            <a:pPr algn="l">
              <a:buNone/>
            </a:pPr>
            <a:r>
              <a:t>这张表要先讲清楚口径。预期分级是本地规则引擎直算；Agent 分级是大模型传参后由同一个规则引擎返回的。5/5 一致说明模型参数传递正确，不代表临床准确率 100%。C01 到 C05 是同源差 0.8、1.4、0.4、1.2、3.8，综合 HR 差分别是 4.4、1.0、0.3、0.5、3.1。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【运行截图 · 约30秒】</a:t>
            </a:r>
          </a:p>
          <a:p xmlns:a="http://schemas.openxmlformats.org/drawingml/2006/main">
            <a:pPr algn="l">
              <a:buNone/>
            </a:pPr>
            <a:r>
              <a:t>这是一次真实运行的报告截图。右边展示三段式结构：风险评估、麻醉关注点、建议；每条结论都带工具依据。现场如果要求完整跑 Agent，我会说明需要 API Key 和网络，公共电脑不适合保存密钥，所以完整流程优先用真实录屏展示。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【当前局限 · 约40秒】</a:t>
            </a:r>
          </a:p>
          <a:p xmlns:a="http://schemas.openxmlformats.org/drawingml/2006/main">
            <a:pPr algn="l">
              <a:buNone/>
            </a:pPr>
            <a:r>
              <a:t>当前仍是 5 个手工病例、5 段波形，样本小；每段只取一个 60 秒窗口；没有做 prominence 和 distance 的网格搜索；ASA 规则也只有 6 个字段。下一步先扩到 20 个以上病例，再做参数调优和 ASA 字段扩展。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【总结与下一步 · 约35秒】</a:t>
            </a:r>
          </a:p>
          <a:p xmlns:a="http://schemas.openxmlformats.org/drawingml/2006/main">
            <a:pPr algn="l">
              <a:buNone/>
            </a:pPr>
            <a:r>
              <a:t>已完成的是三工具 Agent、ASA 规则、5 病例心率工具、字段白名单和双入口界面；已验证的是 5/5 规则一致性、5 个不同波形的同源平均差 1.5 和 15 项单元测试。下一步优先扩病例、做心率参数搜索、补 ASA 字段，再考虑医生反馈闭环。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最后是 5 篇核心参考文献，全部有本地全文 PDF，位于 references/pdf/。老师问到具体结论时，直接打开对应 PDF，搜索 Results 或 Discussion 即可核对原句。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c2696e98242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c159e3ac54c9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daafee84742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d8f4312ed400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90619cb7949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f54a40328849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132544933428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b5cbd459d4ab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cbede8db14dd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ffbd9fc3e486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82e357304446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07ead710a54bb1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2DC5AC3D-D08D-48DC-A334-C9F2B604FFB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40F5183F-1EEC-44B8-B7F7-18BA29AC4B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4A118674-EDAD-452F-9591-973D974C5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AB0B3524-9C58-439D-A3DB-67EDBEAC9F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DEA9C750-3EB7-4898-904C-1D1C3C778D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1DE414B3-88D7-472F-BEFF-65C569CA5F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98935397-A5C6-4328-A767-98410AB960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BBBC5552-6195-4C73-A0FE-030D70409F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7AA29E01-6953-48F7-8014-77F8CD28B3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B0517BA-D2A4-4938-A8BE-217A2387EE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3C2355E7-1CF2-45C4-BD68-6369AAFF9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A6DAD76A-A6F7-4F7D-A47A-92933882D8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F6DEDEA6-B56A-4611-B981-5A880F7539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E24ADCB2-461B-4CD7-A04F-3480C47CE7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0596EB9D-8B57-446B-BF07-1861837225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A710FC25-1EEA-4A5E-A3C3-2D932FEF9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14C0783A-93D5-49C2-8DED-7AE2A761CC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94A31697-58DF-418B-A21F-B2F8342FBD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506B07C2-3443-4C6D-AC50-32830F57E4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80B31FA1-28C9-4AB0-BC4A-F8C38397EA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9C6A3367-1123-4B3A-BC49-2D3F853039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A5FD5A6E-3EB3-4C04-B425-64D2758F2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565F69E-D229-4573-990B-8298932C4D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C5ECB472-E2C6-4859-BAD2-9BAE7925D3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9525727-0ED9-4B3B-B5C6-90D76BD7D45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E77BABEA-A10E-4EA9-8EB3-C8709C9544D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16ACAE6A-00A0-47CF-BF8E-EC46B42137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3625FE45-1528-427A-957F-2C4067D77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81325766-06DC-4945-B4C2-9A79D30BCC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45B34FDB-618A-4897-9694-996A7F30FD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478290D9-629E-4A33-87C0-CF61443933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4CA4FDD2-EBF3-463D-80A6-17DC101DFC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44B56088-5CE4-4E05-BA0F-8F2D7943E7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F056DE59-14B9-4586-A691-14BF5B627B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55BACB4D-7336-4A7C-8CFE-83B05DAC17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3F3AE853-906F-4DAF-BE93-12F780B7A7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052AA20C-87A5-4516-855F-C2BC12965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56F25A0D-68E2-4F6D-9B7F-041A183A04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AFD7AE66-AE27-42BC-875C-E1BB98F2E4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C078A984-9573-43D4-A51B-D8569B15B9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84CA28FF-FD87-4A5A-B784-F1C40B3DAE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4850B3FE-1EC4-4984-ABE2-44E65C3B2D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945A305C-F58F-479C-B45B-8E46124328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4F6C33EB-363F-4144-873B-5E491F3BCAF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198E7E76-9C0E-4099-910F-D0268EF02A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023BC63E-2508-4531-9EE7-370B0C90E4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7EC82EE3-86E4-429C-B054-93853DB797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AFD3D1F5-AECC-4B0B-8616-E2796AACF9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9D3A4B9B-CF08-47A2-B35F-3C1CF09558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D0471C41-1034-47E4-B29F-0243FB3C10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7168C281-466B-4FFD-A456-CF978EA69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E7E62BB8-2A22-4640-85A1-EE7E3BE44C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0D9B7CC5-00EC-43D3-A2E7-733E845E4D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46C95BAA-B29C-407D-A377-9A0B51A87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1A5924D2-6190-49AE-A1B4-2B05CC33D2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75980540-8212-48BE-B574-D317D1245C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E5630ADA-AE65-4B17-8090-7118980055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3BD4C59F-CBFE-4212-A24E-D6F321746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64106d6c9a4fec" /><Relationship Type="http://schemas.openxmlformats.org/officeDocument/2006/relationships/slideLayout" Target="/ppt/slideLayouts/slideLayout1.xml" Id="Rccd7fb0478664ded" /><Relationship Type="http://schemas.openxmlformats.org/officeDocument/2006/relationships/slideLayout" Target="/ppt/slideLayouts/slideLayout2.xml" Id="Rb6eefc6cc8534409" /><Relationship Type="http://schemas.openxmlformats.org/officeDocument/2006/relationships/slideLayout" Target="/ppt/slideLayouts/slideLayout3.xml" Id="R5dd01f77b908414d" /><Relationship Type="http://schemas.openxmlformats.org/officeDocument/2006/relationships/slideLayout" Target="/ppt/slideLayouts/slideLayout4.xml" Id="R215a82a9894e4097" /><Relationship Type="http://schemas.openxmlformats.org/officeDocument/2006/relationships/slideLayout" Target="/ppt/slideLayouts/slideLayout5.xml" Id="Rd9dfd12313df4b80" /><Relationship Type="http://schemas.openxmlformats.org/officeDocument/2006/relationships/slideLayout" Target="/ppt/slideLayouts/slideLayout6.xml" Id="R34e3f04674e344c4" /><Relationship Type="http://schemas.openxmlformats.org/officeDocument/2006/relationships/slideLayout" Target="/ppt/slideLayouts/slideLayout7.xml" Id="R6cde8e0db5fe4345" /><Relationship Type="http://schemas.openxmlformats.org/officeDocument/2006/relationships/slideLayout" Target="/ppt/slideLayouts/slideLayout8.xml" Id="R5c72961576904236" /><Relationship Type="http://schemas.openxmlformats.org/officeDocument/2006/relationships/slideLayout" Target="/ppt/slideLayouts/slideLayout9.xml" Id="Rda359f338bec4e99" /><Relationship Type="http://schemas.openxmlformats.org/officeDocument/2006/relationships/slideLayout" Target="/ppt/slideLayouts/slideLayout10.xml" Id="Reafaf58d005542e6" /><Relationship Type="http://schemas.openxmlformats.org/officeDocument/2006/relationships/slideLayout" Target="/ppt/slideLayouts/slideLayout11.xml" Id="Rf3e6784ee76e427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d4236adfb4f460a" /><Relationship Type="http://schemas.openxmlformats.org/officeDocument/2006/relationships/slideLayout" Target="/ppt/slideLayouts/slideLayout12.xml" Id="R1f448c8d8f0b433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4099B1CE-3B8A-4898-8EE1-89395CBA9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FA02B14-08EC-46EF-9A6F-E4D7F6164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F178A4E9-8037-48BD-A4B0-8068CF4181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6A1E9763-AE73-408E-AF47-B9FCB0ADA3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21D44B6C-CF3C-44E5-B3FF-56707DC8F6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d7fb0478664ded"/>
    <p:sldLayoutId xmlns:r="http://schemas.openxmlformats.org/officeDocument/2006/relationships" id="2147483650" r:id="Rb6eefc6cc8534409"/>
    <p:sldLayoutId xmlns:r="http://schemas.openxmlformats.org/officeDocument/2006/relationships" id="2147483651" r:id="R5dd01f77b908414d"/>
    <p:sldLayoutId xmlns:r="http://schemas.openxmlformats.org/officeDocument/2006/relationships" id="2147483652" r:id="R215a82a9894e4097"/>
    <p:sldLayoutId xmlns:r="http://schemas.openxmlformats.org/officeDocument/2006/relationships" id="2147483653" r:id="Rd9dfd12313df4b80"/>
    <p:sldLayoutId xmlns:r="http://schemas.openxmlformats.org/officeDocument/2006/relationships" id="2147483654" r:id="R34e3f04674e344c4"/>
    <p:sldLayoutId xmlns:r="http://schemas.openxmlformats.org/officeDocument/2006/relationships" id="2147483655" r:id="R6cde8e0db5fe4345"/>
    <p:sldLayoutId xmlns:r="http://schemas.openxmlformats.org/officeDocument/2006/relationships" id="2147483656" r:id="R5c72961576904236"/>
    <p:sldLayoutId xmlns:r="http://schemas.openxmlformats.org/officeDocument/2006/relationships" id="2147483657" r:id="Rda359f338bec4e99"/>
    <p:sldLayoutId xmlns:r="http://schemas.openxmlformats.org/officeDocument/2006/relationships" id="2147483658" r:id="Reafaf58d005542e6"/>
    <p:sldLayoutId xmlns:r="http://schemas.openxmlformats.org/officeDocument/2006/relationships" id="2147483659" r:id="Rf3e6784ee76e427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f448c8d8f0b433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bdc089c1abf4a7b" /><Relationship Type="http://schemas.openxmlformats.org/officeDocument/2006/relationships/notesSlide" Target="/ppt/notesSlides/notesSlide1.xml" Id="R8a6c0c05e55c45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92a7ea10e34ac9" /><Relationship Type="http://schemas.openxmlformats.org/officeDocument/2006/relationships/notesSlide" Target="/ppt/notesSlides/notesSlide2.xml" Id="R79da7612a3204f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6739806f58c4db7" /><Relationship Type="http://schemas.openxmlformats.org/officeDocument/2006/relationships/notesSlide" Target="/ppt/notesSlides/notesSlide3.xml" Id="Rce4f23f4e2e041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66fd759c5a04041" /><Relationship Type="http://schemas.openxmlformats.org/officeDocument/2006/relationships/notesSlide" Target="/ppt/notesSlides/notesSlide4.xml" Id="Rb3997d007f9640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2182bd080b54f5b" /><Relationship Type="http://schemas.openxmlformats.org/officeDocument/2006/relationships/notesSlide" Target="/ppt/notesSlides/notesSlide5.xml" Id="Rb43c5604370c40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1b4a993a0724120" /><Relationship Type="http://schemas.openxmlformats.org/officeDocument/2006/relationships/notesSlide" Target="/ppt/notesSlides/notesSlide6.xml" Id="R46b42754e9fa4e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1e500f7ff424d7b" /><Relationship Type="http://schemas.openxmlformats.org/officeDocument/2006/relationships/notesSlide" Target="/ppt/notesSlides/notesSlide7.xml" Id="R926410888d9043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7baad66064048f0" /><Relationship Type="http://schemas.openxmlformats.org/officeDocument/2006/relationships/notesSlide" Target="/ppt/notesSlides/notesSlide8.xml" Id="R24947bb1b0a64c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03cf669f93e41fb" /><Relationship Type="http://schemas.openxmlformats.org/officeDocument/2006/relationships/notesSlide" Target="/ppt/notesSlides/notesSlide9.xml" Id="R537dec94b9a143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5972f955d842a8" /><Relationship Type="http://schemas.openxmlformats.org/officeDocument/2006/relationships/notesSlide" Target="/ppt/notesSlides/notesSlide10.xml" Id="R28cb91415a764f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7bc8a8e5319455b" /><Relationship Type="http://schemas.openxmlformats.org/officeDocument/2006/relationships/image" Target="/ppt/media/image.png" Id="R0f302cad27f74bb2" /><Relationship Type="http://schemas.openxmlformats.org/officeDocument/2006/relationships/notesSlide" Target="/ppt/notesSlides/notesSlide11.xml" Id="R55869bd18c644f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00e5c667b34767" /><Relationship Type="http://schemas.openxmlformats.org/officeDocument/2006/relationships/notesSlide" Target="/ppt/notesSlides/notesSlide12.xml" Id="R16f89c77fbdb4f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0e787ced5c94f52" /><Relationship Type="http://schemas.openxmlformats.org/officeDocument/2006/relationships/notesSlide" Target="/ppt/notesSlides/notesSlide13.xml" Id="R3c0d872c9b684b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09e3ad30c014a6d" /><Relationship Type="http://schemas.openxmlformats.org/officeDocument/2006/relationships/notesSlide" Target="/ppt/notesSlides/notesSlide14.xml" Id="Rd9d89c1cf0b848c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03366">
                <a:alpha val="100000"/>
              </a:srgbClr>
            </a:gs>
            <a:gs pos="100000">
              <a:srgbClr val="2563E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7C9E97C-0F19-4D69-B2AE-81922C7D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524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生物医学工程 · 课题组组会汇报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EA74A6B-F118-45D0-8A29-726174B4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PeriRisk Agent</a:t>
            </a:r>
            <a:endParaRPr sz="1100"/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46E564C-35BB-4752-8336-8C612164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29000"/>
            <a:ext cx="1016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DCEBFF"/>
                </a:solidFill>
                <a:latin typeface="Noto Sans SC"/>
                <a:ea typeface="Noto Sans SC"/>
                <a:cs typeface="Noto Sans SC"/>
              </a:rPr>
              <a:t>围术期风险评估智能体 —— 开发进度与技术细节汇报</a:t>
            </a:r>
            <a:endParaRPr sz="1100"/>
          </a:p>
        </p:txBody>
      </p:sp>
      <p:cxnSp>
        <p:nvCxnSpPr>
          <p:cNvPr id="5" name="Connector 5">
            <a:extLst xmlns:a="http://schemas.openxmlformats.org/drawingml/2006/main">
              <a:ext uri="{FF2B5EF4-FFF2-40B4-BE49-F238E27FC236}">
                <a16:creationId xmlns:a16="http://schemas.microsoft.com/office/drawing/2014/main" id="{9EA26055-C3E7-4418-BB91-D367540CD16E}"/>
              </a:ext>
            </a:extLst>
          </p:cNvPr>
          <p:cNvCxnSpPr/>
          <p:nvPr/>
        </p:nvCxnSpPr>
        <p:spPr>
          <a:xfrm xmlns:a="http://schemas.openxmlformats.org/drawingml/2006/main" rot="-17188">
            <a:off x="1016016" y="4438650"/>
            <a:ext cx="254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FFC85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F00A0A1-B9DF-4A9E-B018-ABF41F63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826000"/>
            <a:ext cx="5080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汇报人：</a:t>
            </a: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范浩然</a:t>
            </a:r>
            <a:endParaRPr sz="1100"/>
          </a:p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日期：2026 年 10 月</a:t>
            </a: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26</a:t>
            </a:r>
            <a:r>
              <a:rPr sz="1500" b="0" i="0" u="none" strike="noStrike">
                <a:solidFill>
                  <a:srgbClr val="C8DCF5"/>
                </a:solidFill>
                <a:latin typeface="Noto Sans SC"/>
                <a:ea typeface="Noto Sans SC"/>
                <a:cs typeface="Noto Sans SC"/>
              </a:rPr>
              <a:t>日</a:t>
            </a:r>
            <a:endParaRPr sz="1500" b="0" i="0" u="none" strike="noStrike">
              <a:solidFill>
                <a:srgbClr val="C8DCF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FB25748-6A66-4EE4-8D69-3AF65B7D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826000"/>
            <a:ext cx="473075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50000"/>
              </a:lnSpc>
              <a:buNone/>
            </a:pPr>
            <a:r>
              <a:rPr sz="1300" b="0" i="0" u="none" strike="noStrike">
                <a:solidFill>
                  <a:srgbClr val="B4CDF0"/>
                </a:solidFill>
                <a:latin typeface="Noto Sans SC"/>
                <a:ea typeface="Noto Sans SC"/>
                <a:cs typeface="Noto Sans SC"/>
              </a:rPr>
              <a:t>技术栈：DeepSeek Function Calling + Python + Streamlit</a:t>
            </a:r>
            <a:endParaRPr sz="1100"/>
          </a:p>
          <a:p xmlns:a="http://schemas.openxmlformats.org/drawingml/2006/main">
            <a:pPr marL="0" indent="0" algn="r">
              <a:lnSpc>
                <a:spcPct val="150000"/>
              </a:lnSpc>
              <a:buNone/>
            </a:pPr>
            <a:r>
              <a:rPr sz="1300" b="0" i="0" u="none" strike="noStrike">
                <a:solidFill>
                  <a:srgbClr val="B4CDF0"/>
                </a:solidFill>
                <a:latin typeface="Noto Sans SC"/>
                <a:ea typeface="Noto Sans SC"/>
                <a:cs typeface="Noto Sans SC"/>
              </a:rPr>
              <a:t>数据：VitalDB 公开生理数据集</a:t>
            </a:r>
            <a:endParaRPr sz="1300" b="0" i="0" u="none" strike="noStrike">
              <a:solidFill>
                <a:srgbClr val="B4CDF0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501678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AD8E1D8-BBE0-48BD-8159-0B3B9A55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01 · 项目背景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E7F242D-AE97-48CA-B2C4-B7E95BD1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889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术前风险评估：一个被低估的临床瓶颈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61C758C2-F9A4-4EAE-8567-7A8BBEB3F9AC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9074A30-2357-46E1-940E-1FEFB097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3302000" cy="203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BDEB35E7-9350-4AE2-A0F8-FC767F6A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时间成本高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58D47812-35EA-48E8-86C9-73854821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9500"/>
            <a:ext cx="2921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2021 年系统综述汇总 15 项研究、31496 例患者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虚拟评估可节省约 24–137 分钟/患者</a:t>
            </a:r>
            <a:endParaRPr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F29A066-5AE6-4DEA-A189-107416FE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778000"/>
            <a:ext cx="3302000" cy="203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0349FCB-9988-4B19-9CFB-0891A5B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905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主观偏差大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672426E-3609-459E-B70B-07FBCD3F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349500"/>
            <a:ext cx="2921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ASA 分级依赖医生经验判断，</a:t>
            </a:r>
            <a:r>
              <a:rPr sz="13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不同医生对同一患者分级可能差 1–2 级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漏项率在基层医院更高</a:t>
            </a:r>
            <a:endParaRPr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D33955F-8B1C-466B-8F7F-BCD0AAF3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778000"/>
            <a:ext cx="3302000" cy="203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35976DFE-80AC-4015-A1D7-21695255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1905000"/>
            <a:ext cx="292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基层资源缺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CECED31-A1CA-422E-B8EA-A6BF5A52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349500"/>
            <a:ext cx="2921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基层医院麻醉医生短缺，</a:t>
            </a:r>
            <a:r>
              <a:rPr sz="13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评估规范性压力大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缺乏标准化辅助工具</a:t>
            </a:r>
            <a:endParaRPr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DF6D60E-458F-4618-821C-DA9F3CDD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10668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F7C388F1-FB28-44B9-B33F-DD25E5E8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292600"/>
            <a:ext cx="1016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7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本项目目标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2987476B-3D93-40F7-B0E5-12624CC8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724400"/>
            <a:ext cx="10160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构建一个 </a:t>
            </a:r>
            <a:r>
              <a:rPr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大模型自主调度工具链</a:t>
            </a: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 的围术期风险评估 Agent：输入患者病历 + 监护波形（PPG），自动完成病历查询 → 心率检测 → ASA 分级 → 三段式评估报告输出。</a:t>
            </a:r>
            <a:endParaRPr sz="1100"/>
          </a:p>
          <a:p xmlns:a="http://schemas.openxmlformats.org/drawingml/2006/main">
            <a:pPr marL="0" indent="0" algn="l">
              <a:lnSpc>
                <a:spcPct val="150000"/>
              </a:lnSpc>
              <a:buNone/>
            </a:pP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核心设计原则：</a:t>
            </a:r>
            <a:r>
              <a:rPr sz="14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数值计算与规则判定在本地完成，不依赖大模型"猜测"</a:t>
            </a:r>
            <a:r>
              <a:rPr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；大模型只负责任务拆解、工具调度和报告生成。</a:t>
            </a:r>
            <a:endParaRPr sz="14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9FEE8103-EC91-413E-A97A-785970B0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AA998B2-3758-453C-A70B-46269144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02 / 13</a:t>
            </a:r>
            <a:endParaRPr sz="1100"/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1164B7EA-40C4-4224-955B-0D51D9B7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9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证据：[1] Zhang et al., J Clin Anesth 2021（15项研究，节省24–137min/患者）；[2] Sankar et al., Br J Anaesth 2014（ASA观察者间可靠性）；[3] Karim, 2021（ASA-PS分级差异）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68928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256EB4E-A72C-4524-8C96-7024D153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02 · 技术架构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758782EE-0C37-482E-9273-46393532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889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三层架构：大模型决策 + 本地计算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700842CD-42FD-457E-A958-C680FE5CC824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CC0C6D7-BD49-4286-833B-F32F0B60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668000" cy="12065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03366">
              <a:alpha val="100000"/>
            </a:srgbClr>
          </a:solidFill>
          <a:ln xmlns:a="http://schemas.openxmlformats.org/drawingml/2006/main" w="254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717C6E7-15BC-4455-AB1E-50734627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应用层 · Agent 主循环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9F633971-2A7A-4C97-B001-E37F3718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159000"/>
            <a:ext cx="1016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DeepSeek 通过 </a:t>
            </a:r>
            <a:r>
              <a:rPr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Function Calling</a:t>
            </a: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自主拆解任务、调用工具、回填结果；内置 </a:t>
            </a:r>
            <a:r>
              <a:rPr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8 轮对话安全阀</a:t>
            </a:r>
            <a:r>
              <a:rPr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防止死循环；系统提示词限定字段白名单防幻觉</a:t>
            </a:r>
            <a:endParaRPr sz="1100"/>
          </a:p>
        </p:txBody>
      </p:sp>
      <p:cxnSp>
        <p:nvCxnSpPr>
          <p:cNvPr id="8" name="Connector 8">
            <a:extLst xmlns:a="http://schemas.openxmlformats.org/drawingml/2006/main">
              <a:ext uri="{FF2B5EF4-FFF2-40B4-BE49-F238E27FC236}">
                <a16:creationId xmlns:a16="http://schemas.microsoft.com/office/drawing/2014/main" id="{CF67D948-B9D6-40CE-A062-F64AE418281B}"/>
              </a:ext>
            </a:extLst>
          </p:cNvPr>
          <p:cNvCxnSpPr/>
          <p:nvPr/>
        </p:nvCxnSpPr>
        <p:spPr>
          <a:xfrm xmlns:a="http://schemas.openxmlformats.org/drawingml/2006/main" rot="5262563">
            <a:off x="5937250" y="3073527"/>
            <a:ext cx="317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6A73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CD94E42-39D4-4060-A508-059DE20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2174FDC-FEF8-4BEF-8C79-CFC23E0E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3655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工具层 · Function Calling 工具链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1278AB1-4632-465D-AA40-ACD1DD07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746500"/>
            <a:ext cx="3048000" cy="8255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1F9AC0B-7346-4F7A-8000-4E7D619C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5400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get_patient_record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查询病历（年龄/既往史/收缩压）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1485522-323E-4373-A20A-F098D114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6500"/>
            <a:ext cx="3048000" cy="8255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9B96036-C59E-400F-8263-402F2410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3835400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analyze_waveform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PPG 峰值法算心率（scipy 本地）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DE8EB63D-69F4-42F8-BA42-52976EC4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746500"/>
            <a:ext cx="3048000" cy="825500"/>
          </a:xfrm>
          <a:prstGeom xmlns:a="http://schemas.openxmlformats.org/drawingml/2006/main" prst="roundRect">
            <a:avLst>
              <a:gd name="adj" fmla="val 923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AA8615F6-7A17-4AF3-84F3-CA1A1A47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835400"/>
            <a:ext cx="2794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assess_asa_grade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ASA 规则引擎（纯逻辑，不调 AI）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7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68821714-F294-4D37-8620-2D7DE643AFDA}"/>
              </a:ext>
            </a:extLst>
          </p:cNvPr>
          <p:cNvCxnSpPr/>
          <p:nvPr/>
        </p:nvCxnSpPr>
        <p:spPr>
          <a:xfrm xmlns:a="http://schemas.openxmlformats.org/drawingml/2006/main" rot="5262563">
            <a:off x="5937250" y="4915027"/>
            <a:ext cx="317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6A73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8B8ED20-261D-4E86-AC51-DDC3DA1A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10668000" cy="952500"/>
          </a:xfrm>
          <a:prstGeom xmlns:a="http://schemas.openxmlformats.org/drawingml/2006/main" prst="roundRect">
            <a:avLst>
              <a:gd name="adj" fmla="val 10666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7E1F041D-7898-4262-B79F-FEB38158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207000"/>
            <a:ext cx="25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数据模型层</a:t>
            </a:r>
            <a:endParaRPr sz="1100"/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407496E7-EB33-4BC0-A61C-8C5E4BC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524500"/>
            <a:ext cx="10160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大模型：DeepSeek API（llm.py 统一封装） ｜ 数据：VitalDB 公开生理数据集（120s PPG，500Hz） ｜ 计算：Python + scipy（find_peaks 峰值检测）</a:t>
            </a:r>
            <a:endParaRPr sz="1100"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E6E513BC-92F1-46A1-81B5-777A31DB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F9DAE638-70B6-410C-B028-E449B1B0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865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03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45978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154D983-32F4-4EFF-8E73-C6731C68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04 · 模块一 · ASA 规则引擎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4782AF4-79E1-454A-AA6B-0DAD808F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889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ASA 分级：基础规则 + 血压地板，只升不降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447B37E-B620-456B-8DE7-85F18E71E24A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5C70306-A263-43B0-99ED-BAC8B60B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基础规则（按优先级从上到下）</a:t>
            </a:r>
            <a:endParaRPr sz="1100"/>
          </a:p>
        </p:txBody>
      </p:sp>
      <p:graphicFrame>
        <p:nvGraphicFramePr>
          <p:cNvPr id="6" name="Table 6">
            <a:extLst xmlns:a="http://schemas.openxmlformats.org/drawingml/2006/main">
              <a:ext uri="{FF2B5EF4-FFF2-40B4-BE49-F238E27FC236}">
                <a16:creationId xmlns:a16="http://schemas.microsoft.com/office/drawing/2014/main" id="{FAB345F2-2975-4D33-B890-7434B5086964}"/>
              </a:ext>
            </a:extLst>
          </p:cNvPr>
          <p:cNvGraphicFramePr/>
          <p:nvPr/>
        </p:nvGraphicFramePr>
        <p:xfrm>
          <a:off xmlns:a="http://schemas.openxmlformats.org/drawingml/2006/main" x="762000" y="2032000"/>
          <a:ext xmlns:a="http://schemas.openxmlformats.org/drawingml/2006/main" cx="5080000" cy="254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0000"/>
                <a:gridCol w="1016000"/>
                <a:gridCol w="1524000"/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条件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级别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说明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病情不稳定 + 年龄≥80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濒死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病情不稳定 + 年龄&lt;80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随时威胁生命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肾衰 + 冠心病（叠加）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IV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两种重病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冠心病 或 糖尿病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III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重度系统性疾病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 ≥ 65（健康）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 级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高龄</a:t>
                      </a:r>
                      <a:endParaRPr sz="1100"/>
                    </a:p>
                  </a:txBody>
                  <a:tcPr marL="101600" marR="101600" marT="95250" marB="952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其他（健康年轻）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 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正常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62AAA61-84F1-4B66-A5F3-B200A48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6510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血压地板（后加入的优化）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8238D29-8261-434C-BB5C-CD2FB3E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032000"/>
            <a:ext cx="5080000" cy="127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81B7C83-BF4D-4B54-BF5D-86CBBC25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2159000"/>
            <a:ext cx="4699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收缩压 ≥ 180 mmHg → 至少 </a:t>
            </a:r>
            <a:r>
              <a:rPr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III 级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收缩压 140–179 mmHg → 至少 </a:t>
            </a:r>
            <a:r>
              <a:rPr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II 级</a:t>
            </a:r>
            <a:endParaRPr sz="1200" b="1" i="0" u="none" strike="noStrike">
              <a:solidFill>
                <a:srgbClr val="DC262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收缩压 &lt; 140 或未提供 → 不抬高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BF7A96DB-2185-4C9A-B44A-F2D298AA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492500"/>
            <a:ext cx="5080000" cy="1079500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31678FDB-7DC0-49EA-ADD2-157C4C4B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3619500"/>
            <a:ext cx="4699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核心设计：取 max(基础级别, 血压地板)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高血压只负责"抬高级别"，不会让 IV/V 级患者被降级。内部用数字 1-5 定级，最后映射成文案。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2499DFC-CB0A-438E-BE16-50C87B25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10668000" cy="1079500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22063D2F-DA3E-49FB-BC7F-4FD7801F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具体实现要点（asa_risk.py · assess_asa 函数）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ED5B9046-24EC-480E-88C6-EFD80B1E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8600"/>
            <a:ext cx="1028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① systolic_bp 参数默认 None，不传表示不考虑血压，旧调用方一行不改也能运行（向后兼容）；② 规则是演示简化版，真实 ASA 分级由医生结合检查结果综合判断；③ 被别的模块 import 时 __main__ 保护块不执行，避免打印干扰。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F95651E5-6002-43FC-8266-19CC749E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D271279-A03B-42F8-B0FA-5C28D162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04 / 13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81897CE6-3594-4B9A-BF32-68188B25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证据：[2] Sankar et al., Br J Anaesth 2014（ASA观察者间可靠性）；[3] Karim, 2021（ASA-PS分级差异）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0613596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FE092A9-8BA5-46E4-882C-FD0FCE37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05 · 模块二 · 波形心率检测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1FEA73F-B589-4054-BD10-9C7708E0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PPG 峰值法：从真实脉搏波算心率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DAD9F81-B42F-4A5F-A683-1F94BB1495F2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3D3803AD-4EED-471D-A9BD-1E1C3B9C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算法原理（analyze_waveform 函数）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522DCE7-F785-4393-AB6A-8EE9FFCA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5334000" cy="254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D7067E0-D1EE-4FEA-9339-E0D72B39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4400"/>
            <a:ext cx="4953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>
            <a:defPPr>
              <a:defRPr sz="1125"/>
            </a:defPPr>
            <a:lvl1pPr>
              <a:buNone/>
              <a:defRPr sz="1125"/>
            </a:lvl1pPr>
            <a:lvl2pPr>
              <a:buNone/>
              <a:defRPr sz="1125"/>
            </a:lvl2pPr>
            <a:lvl3pPr>
              <a:buNone/>
              <a:defRPr sz="1125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① 读数据：VitalDB 真实脉搏波 waveform_120s.csv，PLETH 通道，采样率 500Hz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② 选窗口：segment_seconds 由模型决定（默认 60 秒），限制在 [5, 120] 秒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③ 找峰值：scipy.signal.find_peaks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　 · distance = fs × 0.4 = 200 点：当前配置可检测上限约 150 次/分，更高心率可能漏检</a:t>
            </a:r>
            <a:endParaRPr sz="112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　 · prominence = 0.5：经验值，尚未调参，可能漏检弱搏动或计入噪声</a:t>
            </a:r>
            <a:endParaRPr sz="112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④ 算心率：心率 = 峰值数 × 60 / 秒数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25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⑤ 对照：同一窗口的 PLETH_HR 与 HR 分开报告</a:t>
            </a:r>
            <a:endParaRPr sz="1125" b="1" i="0" u="none" strike="noStrike">
              <a:solidFill>
                <a:srgbClr val="00336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68C735BE-6F99-46BF-ABCF-CB1E0F6F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510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关键参数选择理由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7E098FE8-8678-4410-A965-0C445B59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2032000"/>
            <a:ext cx="4826000" cy="1143000"/>
          </a:xfrm>
          <a:prstGeom xmlns:a="http://schemas.openxmlformats.org/drawingml/2006/main" prst="roundRect">
            <a:avLst>
              <a:gd name="adj" fmla="val 8888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9719718A-DBC9-4C4D-9B03-54DC837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2159000"/>
            <a:ext cx="4445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distance = 0.4 秒：当前配置把可检测上限限制在约 150 次/分；更高心率可能漏检，这是已知限制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291F5BC4-58CF-4D45-84EB-432E80FE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3365500"/>
            <a:ext cx="4826000" cy="12065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63D1BE5E-03E4-4AFB-8AC3-9D9944C1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3492500"/>
            <a:ext cx="444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prominence = 0.5：经验值，尚未调参；可能漏检弱搏动，或把噪声峰当成心跳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B1F8840C-9262-4368-8769-AF6080D6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10668000" cy="1079500"/>
          </a:xfrm>
          <a:prstGeom xmlns:a="http://schemas.openxmlformats.org/drawingml/2006/main" prst="roundRect">
            <a:avLst>
              <a:gd name="adj" fmla="val 9411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42B51054-B05B-4F69-8C10-791A0F3D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开发中的关键决策：为什么心率检测不交给大模型？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B2321BCC-7710-47BC-ACAE-8D6BAD2D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8600"/>
            <a:ext cx="1028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大模型不擅长数值计算（容易"猜"心率），所以心率检测用 scipy 本地精确计算，大模型只负责"决定分析多长时间的波形"。这是本项目"大模型决策 + 本地计算"架构的核心体现。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36313D7E-220A-4C5F-97B9-11497610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9A2A8F6C-54B5-401B-9273-A3A0E670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05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046945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42C7EF3-E3CD-471B-AF03-81B96052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05 · 模块二 · 心率检测结果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3474EEE2-37E9-4140-86EA-81A31330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5 个不同病例：同源平均差 1.5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7275116-23BC-4D47-A973-C89143958A72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633200F-78D2-4184-B0A3-04207099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3302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003366">
              <a:alpha val="100000"/>
            </a:srgbClr>
          </a:solidFill>
          <a:ln xmlns:a="http://schemas.openxmlformats.org/drawingml/2006/main" w="254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2AA736C-F1A3-44A7-87D2-F83B3B5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685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5 例算法心率范围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0529713-DF24-401C-8725-E6B43E17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49500"/>
            <a:ext cx="279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71–98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723D338-FE4C-48F3-A5C8-B4A720B8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984500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B4D2FF"/>
                </a:solidFill>
                <a:latin typeface="Noto Sans SC"/>
                <a:ea typeface="Noto Sans SC"/>
                <a:cs typeface="Noto Sans SC"/>
              </a:rPr>
              <a:t>次/分（5 个病例，60 秒窗口）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D3C426F-3F53-44CD-B8A1-DD627984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778000"/>
            <a:ext cx="3302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4B2139F8-4B94-4730-8D3F-0DCBE567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9685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同源平均差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48D98982-15B4-44C1-BD4D-11912288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349500"/>
            <a:ext cx="279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1.5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11173F1-569F-4BF4-B8ED-AEFD4F2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984500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次/分（算法 vs PLETH_HR）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CEB68BD-8599-43E1-9B2C-D7D6CC8D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778000"/>
            <a:ext cx="3302000" cy="1524000"/>
          </a:xfrm>
          <a:prstGeom xmlns:a="http://schemas.openxmlformats.org/drawingml/2006/main" prst="roundRect">
            <a:avLst>
              <a:gd name="adj" fmla="val 6666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7B92F616-B9A4-42D0-A36F-7C5832B9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68500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综合 HR 平均差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F6ED4009-6899-4C36-9ACC-0B4F7355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9500"/>
            <a:ext cx="2794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1.9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3CDA1971-FD1D-4C87-A3BB-CBD8E469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84500"/>
            <a:ext cx="279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次/分（算法 vs HR）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B5E76F06-368D-4C4B-AC20-59E802B3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五例范围：同源差 0.4–3.8，平均 1.5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E91840FF-1CD4-4FD4-BD27-503FC117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080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DF60A69D-120C-46DD-9999-C9B7EBC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7500"/>
            <a:ext cx="469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① 五段波形均截取各自 60 秒窗口，来自 5 个不同病例</a:t>
            </a:r>
            <a:endParaRPr sz="1100"/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6C55AD52-CD3F-4A4D-94F1-E87AEC1F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000500"/>
            <a:ext cx="5080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414636E9-E056-4B8F-85F9-A08E4964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4127500"/>
            <a:ext cx="469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② 同源差 0.4–3.8，均值 1.5；综合 HR 差 0.3–4.4，均值 1.9</a:t>
            </a:r>
            <a:endParaRPr sz="1100"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C3FD77EF-9DF1-40B0-8A7F-6F5A1D0F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7000"/>
            <a:ext cx="10668000" cy="69850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13BA6506-40E4-4073-B904-E137DA4B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口径：5 个病例、5 段独立波形；仍是小样本示范，不代表临床准确率。</a:t>
            </a:r>
            <a:endParaRPr sz="1100"/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D360C47C-8923-4994-82E6-E7A91DE4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D7876321-965C-46B9-9A1C-0FA80D76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06 / 13</a:t>
            </a:r>
            <a:endParaRPr sz="1100"/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A4969CF6-3B9E-4545-8F0F-589D51DB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数据：VitalDB 病例 1–5，同一 60 秒窗口的 PLETH 波形与监护仪参考心率。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92201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C7E18AA-E535-4879-AC55-D24A92C4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06 · 模块三 · Agent 主循环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C7A7B23-6084-4F05-AEB1-CAEE26C4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Function Calling：大模型自主调度三工具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8D7EFAB-D627-4A39-BCC0-3472379B8217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E8BC4A0-25E3-483A-BF65-98721146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主循环逻辑（run_agent 函数）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B060CAC-5B3B-4089-8FEE-1C0A18B4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5334000" cy="2794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68F259B-3FD2-4AAC-B83F-2985085B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4400"/>
            <a:ext cx="4953000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① 初始化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：messages = [系统提示词, 用户任务]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② 问大脑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：chat_with_tools(messages, TOOLS)，把工具菜单一并发给 DeepSeek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③ 判断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：返回含 tool_calls → 大脑点名了工具；只有 content → 信息够了，直接出报告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④ 执行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：TOOL_FUNCTIONS[name](**args) 本地执行，出错也把错误喂回去让大脑纠错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⑤ 回填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：结果以 role=tool 追加到 messages，凭 tool_call_id 对账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⑥ 循环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：回到②，最多 8 轮（MAX_ROUNDS=8 安全阀）</a:t>
            </a:r>
            <a:endParaRPr sz="12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B40196C-A486-477C-9CA1-C92A8F8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1651000"/>
            <a:ext cx="482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三个工具的 JSON Schema</a:t>
            </a:r>
            <a:endParaRPr sz="1100"/>
          </a:p>
        </p:txBody>
      </p:sp>
      <p:graphicFrame>
        <p:nvGraphicFramePr>
          <p:cNvPr id="9" name="Table 9">
            <a:extLst xmlns:a="http://schemas.openxmlformats.org/drawingml/2006/main">
              <a:ext uri="{FF2B5EF4-FFF2-40B4-BE49-F238E27FC236}">
                <a16:creationId xmlns:a16="http://schemas.microsoft.com/office/drawing/2014/main" id="{8B26BEA2-30AF-45D3-A2B8-1E6D39E5C56E}"/>
              </a:ext>
            </a:extLst>
          </p:cNvPr>
          <p:cNvGraphicFramePr/>
          <p:nvPr/>
        </p:nvGraphicFramePr>
        <p:xfrm>
          <a:off xmlns:a="http://schemas.openxmlformats.org/drawingml/2006/main" x="6604000" y="2032000"/>
          <a:ext xmlns:a="http://schemas.openxmlformats.org/drawingml/2006/main" cx="4826000" cy="184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1000"/>
                <a:gridCol w="1270000"/>
                <a:gridCol w="1905000"/>
              </a:tblGrid>
              <a:tr h="368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工具名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参数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返回字段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get_patient_record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年龄/既往史/收缩压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analyze_waveform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segment_seconds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算法心率/对照心率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assess_asa_grade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 个必填参数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ASA 分级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（说明）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—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description 写得越清楚，大脑点菜越准</a:t>
                      </a:r>
                      <a:endParaRPr sz="1100"/>
                    </a:p>
                  </a:txBody>
                  <a:tcPr marL="101600" marR="101600" marT="44450" marB="444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58E69799-A8BB-4F52-8156-8A481ADA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064000"/>
            <a:ext cx="4826000" cy="762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EF3C7">
              <a:alpha val="100000"/>
            </a:srgbClr>
          </a:solidFill>
          <a:ln xmlns:a="http://schemas.openxmlformats.org/drawingml/2006/main" w="12700" cap="flat" cmpd="sng">
            <a:solidFill>
              <a:srgbClr val="D9770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DE48F90-4AC7-40CA-9F11-0C0E8CDB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4191000"/>
            <a:ext cx="444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92400E"/>
                </a:solidFill>
                <a:latin typeface="Noto Sans SC"/>
                <a:ea typeface="Noto Sans SC"/>
                <a:cs typeface="Noto Sans SC"/>
              </a:rPr>
              <a:t>API 规则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：大脑的"点名单"必须原样放回对话历史（messages.append(msg)），工具结果凭 tool_call_id 对账，否则对不上号。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60FFD2B0-6C7A-41FB-870D-DEE17C46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0"/>
            <a:ext cx="10668000" cy="825500"/>
          </a:xfrm>
          <a:prstGeom xmlns:a="http://schemas.openxmlformats.org/drawingml/2006/main" prst="roundRect">
            <a:avLst>
              <a:gd name="adj" fmla="val 12307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A2B8C0E-34A8-47A2-A40B-FA221273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07000"/>
            <a:ext cx="10287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on_event 回调设计</a:t>
            </a:r>
            <a:r>
              <a:rPr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：run_agent 接受可选回调函数，每发生一件事（进入思考轮/点名工具/工具返回）就调一次。CLI 模式走彩色打印+Spinner 动画，Web 模式把事件喂给界面——Agent 循环逻辑只写一份，CLI 和 Web 共用。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F84FF621-7C96-41B0-B240-53CDE475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840DCCB5-D11C-4C1D-90F8-F3983028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07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532209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EA01644-160F-4BA2-81F0-ECF605DC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06 · 模块三 · 防幻觉机制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F5665D6-D5A1-4B59-BEF9-52523214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防幻觉：字段白名单 + 依据标注 + 8 轮安全阀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3EEF8889-63FE-4534-9121-5A5BE362F937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F08402F-C37E-4451-B9A6-2DD1B20A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65500" cy="2159000"/>
          </a:xfrm>
          <a:prstGeom xmlns:a="http://schemas.openxmlformats.org/drawingml/2006/main" prst="roundRect">
            <a:avLst>
              <a:gd name="adj" fmla="val 4705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6FF079-40E1-405F-A0AF-C87BE602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298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机制一：字段白名单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FCA2FBA-6D95-4627-A588-B135D7BA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298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系统提示词明确列出三个工具返回的</a:t>
            </a:r>
            <a:r>
              <a:rPr sz="11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全部字段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，限定模型只能引用这些字段。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明确禁止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写入工具未返回的信息：性别、舒张压、高血压诊断、冠脉造影结果等。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布尔值必须写成"有/无"，不许出现 true/false。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A1A9897-AD15-42FF-B62B-CF362915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714500"/>
            <a:ext cx="3365500" cy="2159000"/>
          </a:xfrm>
          <a:prstGeom xmlns:a="http://schemas.openxmlformats.org/drawingml/2006/main" prst="roundRect">
            <a:avLst>
              <a:gd name="adj" fmla="val 4705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B91C650-442B-4831-A404-254D8108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1841500"/>
            <a:ext cx="298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机制二：结论附依据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2350762-42AE-4A84-96B5-381E0A7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222500"/>
            <a:ext cx="298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报告中</a:t>
            </a:r>
            <a:r>
              <a:rPr sz="11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每一条结论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句末必须用括号附实际引用的工具返回值。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示例：（依据：病历工具返回 年龄68岁、收缩压158mmHg；ASA规则引擎判定 III级）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找不到工具返回值支撑的结论，就不写。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55BC2012-8D13-48B0-95CE-EBC13854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714500"/>
            <a:ext cx="3365500" cy="2159000"/>
          </a:xfrm>
          <a:prstGeom xmlns:a="http://schemas.openxmlformats.org/drawingml/2006/main" prst="roundRect">
            <a:avLst>
              <a:gd name="adj" fmla="val 4705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E470FF68-2618-4937-97B8-22E30B7D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841500"/>
            <a:ext cx="298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机制三：8 轮安全阀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849A14B-85FB-4CD1-9CEC-4DFD9794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222500"/>
            <a:ext cx="298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MAX_ROUNDS = 8，Agent 循环超过 8 轮</a:t>
            </a:r>
            <a:r>
              <a:rPr sz="11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</a:rPr>
              <a:t>强制收敛</a:t>
            </a: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，输出当前可用结论。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防止大脑陷入死循环、重复调用同一工具烧 API 额度。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实际运行每例约 3 轮即收敛。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DAAD1418-6CAA-43F8-9295-53A1285B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系统提示词中的字段白名单（原文摘录）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A6714E3-E8F6-43E4-B34A-0CB1AD87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8500"/>
            <a:ext cx="10668000" cy="1397000"/>
          </a:xfrm>
          <a:prstGeom xmlns:a="http://schemas.openxmlformats.org/drawingml/2006/main" prst="roundRect">
            <a:avLst>
              <a:gd name="adj" fmla="val 7272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ap="flat" cmpd="sng">
            <a:solidFill>
              <a:srgbClr val="969BA5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AB72CFB3-0A11-438D-AB00-B9ED41B4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5500"/>
            <a:ext cx="1028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"三个工具返回的字段仅限于：病历工具 get_patient_record（姓名、年龄、冠心病、糖尿病、肾功能不全、病情不稳定、收缩压）；心率工具 analyze_waveform（分析时长秒、检测心跳次数、算法心率、监护仪对照心率）；ASA规则引擎 assess_asa_grade（ASA分级）。"</a:t>
            </a:r>
            <a:endParaRPr sz="1100"/>
          </a:p>
          <a:p xmlns:a="http://schemas.openxmlformats.org/drawingml/2006/main">
            <a:pPr marL="0" indent="0" algn="l">
              <a:lnSpc>
                <a:spcPct val="142000"/>
              </a:lnSpc>
              <a:buNone/>
            </a:pPr>
            <a:r>
              <a:rPr sz="11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"工具不返回性别（绝不能写'男性/女性'）、舒张压、高血压诊断、冠脉造影结果等，这些一律不能写。"</a:t>
            </a:r>
            <a:endParaRPr sz="11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4116B7C6-D10E-47A6-B741-AADB8B80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BE30F33-EEB8-4C68-8198-20C32220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08 / 13</a:t>
            </a:r>
            <a:endParaRPr sz="1100"/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60AB9CC-9C1A-4E1C-8326-C0111964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证据：[4] Roustan &amp; Bastardot, 2025（临床LLM幻觉治理框架）；[5] Omar et al., Commun Med 2025（临床决策支持中的对抗性幻觉）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474629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6BDA0D9-4B71-4B9D-B1EC-083EBCCF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08 · 踩坑记录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E058A56-F038-41B1-B20D-41DD5F85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三个关键问题与设计决策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C59E5FC-7B5B-4F4B-B5AC-855052D0C76A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>
            <a:extLst xmlns:a="http://schemas.openxmlformats.org/drawingml/2006/main">
              <a:ext uri="{FF2B5EF4-FFF2-40B4-BE49-F238E27FC236}">
                <a16:creationId xmlns:a16="http://schemas.microsoft.com/office/drawing/2014/main" id="{81977E49-01E4-4FC3-9178-A83802F41780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06680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8000"/>
                <a:gridCol w="2159000"/>
                <a:gridCol w="3937000"/>
                <a:gridCol w="406400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#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问题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具体表现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解决方案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openai 库中文卡住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peririsk_agent_v1.py 用 openai 库调 DeepSeek，发中文 prompt 时请求挂起无响应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弃用 openai 库，改用 requests 直接 POST API（llm.py），统一封装 chat_with_tools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ASA 没考虑血压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初版规则引擎只看年龄和既往史，高血压患者被低估（如 SBP 146 的 50 岁患者被判 I 级）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加 systolic_bp 参数和"血压地板"，取 max(基础级别, 血压地板)，只升不降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大模型编造病历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报告里出现工具没返回的信息（如"男性"、"舒张压 95"），属于典型幻觉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25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系统提示词加字段白名单 + 每条结论必须附"（依据：…）"，找不到依据就不写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64A8573-3AE4-4BFA-9E1A-0B03CEB7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554BBB7-EF4A-402D-AA73-4C77AB96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09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149109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724BDDC-175F-41F4-8F51-60817A52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09 · 具体结果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C3739FC0-FC56-4444-A8E5-C789C33C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5 例评估：验证参数传递与规则一致性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687EFB70-0AE3-44C7-A3D4-82D7DEB3DE47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6627630-2B8B-4E2F-9454-F51ECE56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3302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FCE7">
              <a:alpha val="100000"/>
            </a:srgbClr>
          </a:solidFill>
          <a:ln xmlns:a="http://schemas.openxmlformats.org/drawingml/2006/main" w="127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7B47B13-1D6A-4FED-BB21-20E9D6A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778000"/>
            <a:ext cx="279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ASA 规则一致性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23AE940-CA4D-407A-8678-FDE7B48B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095500"/>
            <a:ext cx="279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100% (5/5)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0FF7C2BD-C1C2-493C-9341-5ACC33E6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FCE7">
              <a:alpha val="100000"/>
            </a:srgbClr>
          </a:solidFill>
          <a:ln xmlns:a="http://schemas.openxmlformats.org/drawingml/2006/main" w="127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9D27674-F38B-4179-9918-40B29F08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778000"/>
            <a:ext cx="279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工具调用顺序正确率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150B04B0-38C6-4ADC-8388-CB2CEAF6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095500"/>
            <a:ext cx="279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100% (5/5)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E86E428-2AEB-4759-8F92-F5C16966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651000"/>
            <a:ext cx="3302000" cy="101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89AE5CA5-C72C-4932-A7FB-CABFD6EA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78000"/>
            <a:ext cx="279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同源平均差（5例）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CD3A06B4-C3FA-4171-8762-1F669A32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79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1.5 次/分</a:t>
            </a:r>
            <a:endParaRPr sz="1100"/>
          </a:p>
        </p:txBody>
      </p:sp>
      <p:graphicFrame>
        <p:nvGraphicFramePr>
          <p:cNvPr id="14" name="Table 14">
            <a:extLst xmlns:a="http://schemas.openxmlformats.org/drawingml/2006/main">
              <a:ext uri="{FF2B5EF4-FFF2-40B4-BE49-F238E27FC236}">
                <a16:creationId xmlns:a16="http://schemas.microsoft.com/office/drawing/2014/main" id="{95D821B5-8BEB-4094-852D-C4D107F2A072}"/>
              </a:ext>
            </a:extLst>
          </p:cNvPr>
          <p:cNvGraphicFramePr/>
          <p:nvPr/>
        </p:nvGraphicFramePr>
        <p:xfrm>
          <a:off xmlns:a="http://schemas.openxmlformats.org/drawingml/2006/main" x="762000" y="2921000"/>
          <a:ext xmlns:a="http://schemas.openxmlformats.org/drawingml/2006/main" cx="10668000" cy="279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32000"/>
                <a:gridCol w="635000"/>
                <a:gridCol w="1016000"/>
                <a:gridCol w="1016000"/>
                <a:gridCol w="635000"/>
                <a:gridCol w="2286000"/>
                <a:gridCol w="635000"/>
                <a:gridCol w="1016000"/>
                <a:gridCol w="635000"/>
                <a:gridCol w="762000"/>
              </a:tblGrid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年龄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预期ASA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Agent 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一致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调用顺序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顺序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同源差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波形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张三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冠心病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李四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健康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王秀兰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72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无基础病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陈伟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50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II级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轻度高血压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赵芳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病历→心率→ASA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✓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3.8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0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C05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病情不稳定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3C341D5-809A-4D74-84AD-7D26901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9000"/>
            <a:ext cx="1066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本表验证模型参数传递与规则一致性；预期值由同一规则引擎计算，不代表临床准确率。</a:t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281D87BD-3A40-47CA-967A-97E2443B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61B807B1-D83A-436A-BA53-13C4548D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10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988611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37E3CF2-7B8E-4F96-9027-8FB8F4EC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09 · 具体结果 · 运行演示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DBFB1C4-2F59-48A7-860C-879D9021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实际运行效果：三段式术前评估报告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6BCE295A-764C-4E75-B57F-CFBC942FB9CF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9" name="Picture 9">
            <a:extLst xmlns:a="http://schemas.openxmlformats.org/drawingml/2006/main">
              <a:ext uri="{FF2B5EF4-FFF2-40B4-BE49-F238E27FC236}">
                <a16:creationId xmlns:a16="http://schemas.microsoft.com/office/drawing/2014/main" id="{2DE63C30-1167-4D58-A855-71275901A7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02cad27f74bb2"/>
          <a:srcRect xmlns:a="http://schemas.openxmlformats.org/drawingml/2006/main" l="7777" t="0" r="77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524000"/>
            <a:ext cx="7620000" cy="4286250"/>
          </a:xfrm>
          <a:prstGeom xmlns:a="http://schemas.openxmlformats.org/drawingml/2006/main" prst="roundRect">
            <a:avLst>
              <a:gd name="adj" fmla="val 2666"/>
            </a:avLst>
          </a:prstGeom>
          <a:ln xmlns:a="http://schemas.openxmlformats.org/drawingml/2006/main" w="12700" cap="flat" cmpd="sng">
            <a:solidFill>
              <a:srgbClr val="C8D2E1">
                <a:alpha val="100000"/>
              </a:srgbClr>
            </a:solidFill>
            <a:prstDash val="solid"/>
            <a:round/>
          </a:ln>
        </p:spPr>
      </p:pic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E6308650-E8D9-471E-9FEE-03F7D52B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8864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三段式报告：每条结论附（依据：…），引用工具真实返回值，可追溯、可核查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CB9F0A7-353D-4166-80DD-116179F7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41883A2E-E625-456F-8801-275C27AF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865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11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34199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B3BCF20-AC13-4838-878D-9D581B79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10 · 待优化方向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049C9D7-64E0-4D1E-8A6E-A3404B8F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当前不足与具体优化方向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7D4BE00F-0793-4AF3-B5A7-725FD41CF04D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>
            <a:extLst xmlns:a="http://schemas.openxmlformats.org/drawingml/2006/main">
              <a:ext uri="{FF2B5EF4-FFF2-40B4-BE49-F238E27FC236}">
                <a16:creationId xmlns:a16="http://schemas.microsoft.com/office/drawing/2014/main" id="{9E55FFD4-A236-4B3B-89BF-F81B81097D58}"/>
              </a:ext>
            </a:extLst>
          </p:cNvPr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8000"/>
                <a:gridCol w="1905000"/>
                <a:gridCol w="3937000"/>
                <a:gridCol w="4318000"/>
              </a:tblGrid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#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不足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具体表现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优化方案（具体到做法）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91B1B">
                        <a:alpha val="100000"/>
                      </a:srgbClr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样本量太小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 个手工病例；5 份独立波形；ASA 100% 仍是规则一致性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扩充到 20–30 例；增加更多患者波形；规则一致性与临床准确率分开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心率样本仍小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 段 60 秒波形；同源差 0.4–3.8，均值 1.5；仍属小样本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扩充更多病例；再做 prominence×distance 网格搜索与带通滤波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ASA 规则简化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只考虑 6 个布尔/数值字段，未纳入 BMI、吸烟史、手术类型、急诊/择期等真实分级因素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扩展规则引擎字段（BMI≥30 至少 II、急诊手术升一级、恶性肿瘤至少 III）；参考 ASA 官方分级指南逐条映射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无标准数据接入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患者数据硬编码在 patient.py，无法对接真实 HIS/EMR 系统；无 FHIR 标准支持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实现 FHIR Patient/Observation 资源解析器；get_patient_record 改为从 FHIR Bundle 提取字段，兼容标准医疗数据格式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12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1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无医生反馈闭环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报告输出后无法收集医生修正意见，模型和规则无法迭代优化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界面加"医生修正"按钮，记录修正后的 ASA 分级和修改原因；定期用修正数据反哺规则引擎调参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3D128F3-4BD2-4FD7-9661-C1A5D8F0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73F2CA9-D134-473F-B530-1EA303CA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12 / 13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B862120-59E8-418D-AA32-B4E26FCB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注：FHIR 是后续工作方向，不属于当前已验证结果。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25241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A67E1F5-BE8A-4D10-A015-4A008793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12 · 总结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6CE64098-B049-4A87-BF2B-46E1281F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25500"/>
            <a:ext cx="10160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下一步与总结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30AAB10-FA0C-46CD-AEFF-DBB0717147C0}"/>
              </a:ext>
            </a:extLst>
          </p:cNvPr>
          <p:cNvCxnSpPr/>
          <p:nvPr/>
        </p:nvCxnSpPr>
        <p:spPr>
          <a:xfrm xmlns:a="http://schemas.openxmlformats.org/drawingml/2006/main" rot="-34376">
            <a:off x="762032" y="1454150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4FB9A68-12EE-4009-A385-EE8DB705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3365500" cy="3810000"/>
          </a:xfrm>
          <a:prstGeom xmlns:a="http://schemas.openxmlformats.org/drawingml/2006/main" prst="roundRect">
            <a:avLst>
              <a:gd name="adj" fmla="val 3018"/>
            </a:avLst>
          </a:prstGeom>
          <a:solidFill xmlns:a="http://schemas.openxmlformats.org/drawingml/2006/main">
            <a:srgbClr val="DCFCE7">
              <a:alpha val="100000"/>
            </a:srgbClr>
          </a:solidFill>
          <a:ln xmlns:a="http://schemas.openxmlformats.org/drawingml/2006/main" w="12700" cap="flat" cmpd="sng">
            <a:solidFill>
              <a:srgbClr val="16A34A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2D9D6FE1-90E1-4B7B-814E-0F3241C3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8500"/>
            <a:ext cx="29845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</a:rPr>
              <a:t>已完成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2E2C38D4-A5C8-435E-9AA7-4FBD0ACF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29844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defPPr>
              <a:defRPr sz="1275"/>
            </a:defPPr>
            <a:lvl1pPr>
              <a:buNone/>
              <a:defRPr sz="1275"/>
            </a:lvl1pPr>
            <a:lvl2pPr>
              <a:buNone/>
              <a:defRPr sz="1275"/>
            </a:lvl2pPr>
            <a:lvl3pPr>
              <a:buNone/>
              <a:defRPr sz="1275"/>
            </a:lvl3pPr>
            <a:lvl4pPr>
              <a:buNone/>
              <a:defRPr sz="1275"/>
            </a:lvl4pPr>
            <a:lvl5pPr>
              <a:buNone/>
              <a:defRPr sz="1275"/>
            </a:lvl5pPr>
            <a:lvl6pPr>
              <a:buNone/>
              <a:defRPr sz="1275"/>
            </a:lvl6pPr>
            <a:lvl7pPr>
              <a:buNone/>
              <a:defRPr sz="1275"/>
            </a:lvl7pPr>
            <a:lvl8pPr>
              <a:buNone/>
              <a:defRPr sz="1275"/>
            </a:lvl8pPr>
            <a:lvl9pPr>
              <a:buNone/>
              <a:defRPr sz="1275"/>
            </a:lvl9pPr>
          </a:lstStyle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三工具 Agent 主循环</a:t>
            </a:r>
            <a:endParaRPr sz="1100"/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</a:t>
            </a: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ASA 规则引擎 + </a:t>
            </a: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15 项单元测试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PPG 峰值法心率检测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字段白名单 + 依据标注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CLI 与 Streamlit 双入口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1D0F6D00-DD79-4520-AD09-0FA58BE8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778000"/>
            <a:ext cx="3365500" cy="3810000"/>
          </a:xfrm>
          <a:prstGeom xmlns:a="http://schemas.openxmlformats.org/drawingml/2006/main" prst="roundRect">
            <a:avLst>
              <a:gd name="adj" fmla="val 3018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3D1F4F5-4DCC-466D-A351-768EC072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1968500"/>
            <a:ext cx="29845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已验证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17878579-ADBD-4C58-8B08-80C7E5AB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476500"/>
            <a:ext cx="29844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defPPr>
              <a:defRPr sz="1275"/>
            </a:defPPr>
            <a:lvl1pPr>
              <a:buNone/>
              <a:defRPr sz="1275"/>
            </a:lvl1pPr>
            <a:lvl2pPr>
              <a:buNone/>
              <a:defRPr sz="1275"/>
            </a:lvl2pPr>
            <a:lvl3pPr>
              <a:buNone/>
              <a:defRPr sz="1275"/>
            </a:lvl3pPr>
            <a:lvl4pPr>
              <a:buNone/>
              <a:defRPr sz="1275"/>
            </a:lvl4pPr>
            <a:lvl5pPr>
              <a:buNone/>
              <a:defRPr sz="1275"/>
            </a:lvl5pPr>
            <a:lvl6pPr>
              <a:buNone/>
              <a:defRPr sz="1275"/>
            </a:lvl6pPr>
            <a:lvl7pPr>
              <a:buNone/>
              <a:defRPr sz="1275"/>
            </a:lvl7pPr>
            <a:lvl8pPr>
              <a:buNone/>
              <a:defRPr sz="1275"/>
            </a:lvl8pPr>
            <a:lvl9pPr>
              <a:buNone/>
              <a:defRPr sz="1275"/>
            </a:lvl9pPr>
          </a:lstStyle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ASA 规则一致性 5/5</a:t>
            </a:r>
            <a:endParaRPr sz="1100"/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工具顺序正确率 5/5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</a:t>
            </a: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5 病例同源平均差 1.5 次/分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5 例均输出三段式报告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评估结果可复现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45C44C8-1F58-4292-89DE-AC7EC408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778000"/>
            <a:ext cx="3365500" cy="3810000"/>
          </a:xfrm>
          <a:prstGeom xmlns:a="http://schemas.openxmlformats.org/drawingml/2006/main" prst="roundRect">
            <a:avLst>
              <a:gd name="adj" fmla="val 3018"/>
            </a:avLst>
          </a:prstGeom>
          <a:solidFill xmlns:a="http://schemas.openxmlformats.org/drawingml/2006/main">
            <a:srgbClr val="FEF2F2">
              <a:alpha val="100000"/>
            </a:srgbClr>
          </a:solidFill>
          <a:ln xmlns:a="http://schemas.openxmlformats.org/drawingml/2006/main" w="12700" cap="flat" cmpd="sng">
            <a:solidFill>
              <a:srgbClr val="DC2626">
                <a:alpha val="100000"/>
              </a:srgbClr>
            </a:solidFill>
            <a:prstDash val="solid"/>
            <a:round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D90008BC-6826-4A68-AE81-390A293A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1968500"/>
            <a:ext cx="29845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</a:rPr>
              <a:t>下一步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F94C495-71EB-4F5D-8665-7567AF48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76500"/>
            <a:ext cx="29844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defPPr>
              <a:defRPr sz="1275"/>
            </a:defPPr>
            <a:lvl1pPr>
              <a:buNone/>
              <a:defRPr sz="1275"/>
            </a:lvl1pPr>
            <a:lvl2pPr>
              <a:buNone/>
              <a:defRPr sz="1275"/>
            </a:lvl2pPr>
            <a:lvl3pPr>
              <a:buNone/>
              <a:defRPr sz="1275"/>
            </a:lvl3pPr>
            <a:lvl4pPr>
              <a:buNone/>
              <a:defRPr sz="1275"/>
            </a:lvl4pPr>
            <a:lvl5pPr>
              <a:buNone/>
              <a:defRPr sz="1275"/>
            </a:lvl5pPr>
            <a:lvl6pPr>
              <a:buNone/>
              <a:defRPr sz="1275"/>
            </a:lvl6pPr>
            <a:lvl7pPr>
              <a:buNone/>
              <a:defRPr sz="1275"/>
            </a:lvl7pPr>
            <a:lvl8pPr>
              <a:buNone/>
              <a:defRPr sz="1275"/>
            </a:lvl8pPr>
            <a:lvl9pPr>
              <a:buNone/>
              <a:defRPr sz="1275"/>
            </a:lvl9pPr>
          </a:lstStyle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扩充 5–10 个配对病例</a:t>
            </a:r>
            <a:endParaRPr sz="1100"/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心率参数网格搜索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ASA 字段扩展（BMI/急诊/肿瘤）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医生修正反馈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35000"/>
              </a:lnSpc>
              <a:buNone/>
            </a:pPr>
            <a:r>
              <a:rPr sz="1275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· 公网 Demo 或 FHIR 择一推进</a:t>
            </a:r>
            <a:endParaRPr sz="1275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45E6CD8C-4FDC-4229-8901-1BFC86D1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30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PeriRisk Agent 组会汇报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99E736BB-E2E3-4B6E-B9AA-DD0BA7E8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62230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969BA5"/>
                </a:solidFill>
                <a:latin typeface="Noto Sans SC"/>
                <a:ea typeface="Noto Sans SC"/>
                <a:cs typeface="Noto Sans SC"/>
              </a:rPr>
              <a:t>13 / 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434513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043260F-C1DC-4FAC-AAD3-3F669664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600"/>
            <a:ext cx="381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646A73"/>
                </a:solidFill>
                <a:latin typeface="Noto Sans SC"/>
                <a:ea typeface="Noto Sans SC"/>
                <a:cs typeface="Noto Sans SC"/>
              </a:rPr>
              <a:t>13 · 参考文献</a:t>
            </a:r>
            <a:endParaRPr sz="11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E41A932-E866-4ABF-A6A0-F6A37560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00"/>
            <a:ext cx="1016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 cmpd="sng">
            <a:noFill/>
            <a:prstDash val="solid"/>
            <a:round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</a:rPr>
              <a:t>核心参考文献（5 篇）</a:t>
            </a:r>
            <a:endParaRPr sz="1100"/>
          </a:p>
        </p:txBody>
      </p:sp>
      <p:cxnSp>
        <p:nvCxnSpPr>
          <p:cNvPr id="4" name="Connector 4">
            <a:extLst xmlns:a="http://schemas.openxmlformats.org/drawingml/2006/main">
              <a:ext uri="{FF2B5EF4-FFF2-40B4-BE49-F238E27FC236}">
                <a16:creationId xmlns:a16="http://schemas.microsoft.com/office/drawing/2014/main" id="{EB918846-0E0A-45B0-8158-D58C6B885246}"/>
              </a:ext>
            </a:extLst>
          </p:cNvPr>
          <p:cNvCxnSpPr/>
          <p:nvPr/>
        </p:nvCxnSpPr>
        <p:spPr>
          <a:xfrm xmlns:a="http://schemas.openxmlformats.org/drawingml/2006/main" rot="-38195">
            <a:off x="762035" y="1136650"/>
            <a:ext cx="1143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5" name="Table 5">
            <a:extLst xmlns:a="http://schemas.openxmlformats.org/drawingml/2006/main">
              <a:ext uri="{FF2B5EF4-FFF2-40B4-BE49-F238E27FC236}">
                <a16:creationId xmlns:a16="http://schemas.microsoft.com/office/drawing/2014/main" id="{20938159-11E3-40C5-8CE0-D55DDA7C6042}"/>
              </a:ext>
            </a:extLst>
          </p:cNvPr>
          <p:cNvGraphicFramePr/>
          <p:nvPr/>
        </p:nvGraphicFramePr>
        <p:xfrm>
          <a:off xmlns:a="http://schemas.openxmlformats.org/drawingml/2006/main" x="762000" y="1270000"/>
          <a:ext xmlns:a="http://schemas.openxmlformats.org/drawingml/2006/main" cx="10668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6400"/>
                <a:gridCol w="5054600"/>
                <a:gridCol w="5207000"/>
              </a:tblGrid>
              <a:tr h="3238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#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作者 · 标题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9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原文</a:t>
                      </a:r>
                      <a:endParaRPr sz="1100"/>
                    </a:p>
                  </a:txBody>
                  <a:tcPr marL="101600" marR="101600" marT="69850" marB="6985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3366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Zhang K, Rashid-Kolvear M, Waseem R, Englesakis M, Chung F. Virtual preoperative assessment in surgical patients: a systematic review and meta-analysis. J Clin Anesth. 2021;75:110540. doi:10.1016/j.jclinane.2021.110540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开放全文：PMC9759637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Sankar A, Johnson SR, Beattie WS, Tait G, Wijeysundera DN. Reliability of the American Society of Anesthesiologists physical status scale in clinical practice. Br J Anaesth. 2014;113(3):424-432. doi:10.1093/bja/aeu100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开放全文：PMC4136425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Karim HMR. Common Clinical Dilemma Leading to American Society of Anaesthesiologists Physical Status Class Assignment Variation and the Impact of 2019 Amendment. Turk J Anaesthesiol Reanim. 2021;49(2):186-189. doi:10.5152/tjar.2021.178</a:t>
                      </a:r>
                      <a:endParaRPr sz="1100"/>
                    </a:p>
                  </a:txBody>
                  <a:tcPr marL="101600" marR="101600" marT="50800" marB="508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开放全文：PMC8098727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Roustan D, Bastardot F. The Clinicians' Guide to Large Language Models: A General Perspective With a Focus on Hallucinations. Interact J Med Res. 2025;14:e59823. doi:10.2196/59823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开放全文：PMC11815294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5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Omar M, Sorin V, Collins JD, et al. Multi-model assurance analysis showing large language models are highly vulnerable to adversarial hallucination attacks during clinical decision support. Commun Med. 2025;5:330. doi:10.1038/s43856-025-01021-3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sz="788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开放全文：PMC12318031</a:t>
                      </a:r>
                      <a:endParaRPr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4F71D-FD51-44E2-8E25-78C455F0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 algn="l">
              <a:buNone/>
              <a:def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defRPr>
            </a:pPr>
            <a:r>
              <a:rPr sz="788">
                <a:solidFill>
                  <a:srgbClr val="787D87"/>
                </a:solidFill>
                <a:latin typeface="Noto Sans SC"/>
                <a:ea typeface="Noto Sans SC"/>
                <a:cs typeface="Noto Sans SC"/>
              </a:rPr>
              <a:t>全文 PDF 在 references/pdf/；每篇均可翻页，并搜索 Results/Discussion 核对原句。</a:t>
            </a:r>
          </a:p>
        </p:txBody>
      </p:sp>
    </p:spTree>
    <p:extLst>
      <p:ext uri="{BB962C8B-B14F-4D97-AF65-F5344CB8AC3E}">
        <p14:creationId xmlns:p14="http://schemas.microsoft.com/office/powerpoint/2010/main" val="1814802702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2026-10-26T13:45:52.8720000Z</dcterms:created>
  <dcterms:modified xsi:type="dcterms:W3CDTF">2026-10-26T13:45:52.8720000Z</dcterms:modified>
</coreProperties>
</file>