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</p:sldMasterIdLst>
  <p:notesMasterIdLst>
    <p:notesMasterId r:id="rId6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Masters/slideMaster5.xml" Type="http://schemas.openxmlformats.org/officeDocument/2006/relationships/slideMaster"/><Relationship Id="rId12" Target="slides/slide1.xml" Type="http://schemas.openxmlformats.org/officeDocument/2006/relationships/slide"/><Relationship Id="rId13" Target="slides/slide2.xml" Type="http://schemas.openxmlformats.org/officeDocument/2006/relationships/slide"/><Relationship Id="rId14" Target="slides/slide3.xml" Type="http://schemas.openxmlformats.org/officeDocument/2006/relationships/slide"/><Relationship Id="rId15" Target="slides/slide4.xml" Type="http://schemas.openxmlformats.org/officeDocument/2006/relationships/slide"/><Relationship Id="rId16" Target="slides/slide5.xml" Type="http://schemas.openxmlformats.org/officeDocument/2006/relationships/slide"/><Relationship Id="rId17" Target="slides/slide6.xml" Type="http://schemas.openxmlformats.org/officeDocument/2006/relationships/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viewProps.xml" Type="http://schemas.openxmlformats.org/officeDocument/2006/relationships/view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各位评委好，我的作品是围术期风险评估助手 Agent，简称 PeriRisk Agent，是一个面向麻醉科医生的术前风险评估智能体。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我来自深圳技术大学生物医学工程专业，这个作品是医工交叉方向的一次实践。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这一页讲为什么做：术前风险评估是麻醉科术前必经环节，但目前全流程依赖医生人工，单次 20 到 40 分钟，容易漏项，基层医院更缺麻醉医生。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ASA 分级是国际通行的六级风险体系，人工逐项核对时容易受主观判断影响。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PeriRisk 的切入点是把这个环节自动化、标准化：大模型自主调度工具链，输出带依据的三段式报告，让基层也能获得规范的术前评估。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这一页讲创新性：我们调研了开源社区和学术界的同类医疗 Agent 项目，包括 ClearPath、RiskAgent、MedAgent-Pro、MedAgentBench 和微软的 HAO。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这些项目要么是通用临床问答框架，要么走预测模型路线，要么只是评测基准，没有针对围术期麻醉术前评估这个具体场景。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PeriRisk 的差异化在于：聚焦单一垂直场景，用真实波形计算和 ASA 规则引擎支撑结论，每个结论都可追溯依据。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这一页讲技术可行性：整体是"大模型决策 + 本地计算"的三层架构。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应用层是 Agent 主循环，负责自主拆解任务和调度工具，并带 8 轮安全阀防失控。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工具层有三个函数：查病历、波形心率检测、ASA 规则分级，信号处理和规则判定都在本地完成，不靠模型猜。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数据模型层用 DeepSeek 生成报告、VitalDB 提供公开波形、Python 做数值计算。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这一页展示实用性：左边是 Agent 的思考与工具调用过程截图，能看到它一步步查病历、算心率、做 ASA 分级。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右边是最终的三段式报告：风险评估、麻醉关注点、建议，医生可以直接参考。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强调两点：每个结论都附了工具返回的依据，可追溯；代码开源在 GitHub，可复现。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这一页展示完成度证据：我们对 5 个覆盖不同风险层级的示范病例做了批量评估，规则引擎直算结果与 Agent 工具分级结果完全一致，ASA 分级一致率 100%。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工具调用顺序也全部正确：先查病历，再算心率，最后做 ASA 分级。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心率算法误差 5.7 次/分，口径是基于 VitalDB 示范波形的算法与监护仪参考值对照，不是多位患者的平均误差。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这一页讲未来规划：创意评审通过后进入 DEMO 阶段，我们有三个方向：数据上扩展 VitalDB 多案例和真实脱敏病历，补充边界案例提升泛化。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标准上对接 FHIR / EMR，并接入 openJiuwen / WorkSwarm 生态，这是评审加分项。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交付上做 Streamlit Cloud 公网部署和 3 分钟演示视频，答辩时可以直接点开演示。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当前创意阶段的核心材料已经齐备，可以支撑 10 月 31 日的创意提交。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感谢各位评委的聆听，欢迎对我的 PeriRisk Agent 创意提出意见，谢谢。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0666" b="11079"/>
          <a:stretch>
            <a:fillRect/>
          </a:stretch>
        </p:blipFill>
        <p:spPr>
          <a:xfrm rot="0" flipH="false" flipV="false">
            <a:off x="0" y="731519"/>
            <a:ext cx="12192000" cy="536658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1" type="body" sz="quarter" hasCustomPrompt="true"/>
          </p:nvPr>
        </p:nvSpPr>
        <p:spPr>
          <a:xfrm rot="0" flipH="false" flipV="false">
            <a:off x="266700" y="2396357"/>
            <a:ext cx="6629400" cy="1674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3200" b="tru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4" id="4"/>
          <p:cNvSpPr/>
          <p:nvPr>
            <p:ph idx="2" type="body" sz="quarter" hasCustomPrompt="true"/>
          </p:nvPr>
        </p:nvSpPr>
        <p:spPr>
          <a:xfrm rot="0" flipH="false" flipV="false">
            <a:off x="266700" y="4761189"/>
            <a:ext cx="4488180" cy="7993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1800" b="false" i="false" u="none" strike="noStrike" spc="0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" type="body" sz="quarter" hasCustomPrompt="true"/>
          </p:nvPr>
        </p:nvSpPr>
        <p:spPr>
          <a:xfrm rot="0" flipH="false" flipV="false"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ctr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9" type="body" sz="quarter" hasCustomPrompt="true"/>
          </p:nvPr>
        </p:nvSpPr>
        <p:spPr>
          <a:xfrm rot="0" flipH="false" flipV="false"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ctr">
              <a:lnSpc>
                <a:spcPct val="91666"/>
              </a:lnSpc>
              <a:defRPr sz="1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457200" indent="-36195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name="AutoShape 4" id="4"/>
          <p:cNvSpPr/>
          <p:nvPr>
            <p:ph idx="10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11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12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F7DC0199-5E85-4D4E-8649-EEF3177C0B95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14" type="body" sz="quarter" hasCustomPrompt="true"/>
          </p:nvPr>
        </p:nvSpPr>
        <p:spPr>
          <a:xfrm rot="0" flipH="false" flipV="false"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15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16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17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AD461AF3-DEEE-461D-AD72-026FB501A821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 hasCustomPrompt="true"/>
          </p:nvPr>
        </p:nvSpPr>
        <p:spPr>
          <a:xfrm rot="0" flipH="false" flipV="false"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19" type="body" sz="quarter" hasCustomPrompt="true"/>
          </p:nvPr>
        </p:nvSpPr>
        <p:spPr>
          <a:xfrm rot="0" flipH="false" flipV="false"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20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21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22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1AD0420F-F446-4E76-AA26-98281ABFADA7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24" type="body" sz="quarter" hasCustomPrompt="true"/>
          </p:nvPr>
        </p:nvSpPr>
        <p:spPr>
          <a:xfrm rot="0" flipH="false" flipV="false"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25" type="body" sz="quarter" hasCustomPrompt="true"/>
          </p:nvPr>
        </p:nvSpPr>
        <p:spPr>
          <a:xfrm rot="0" flipH="false" flipV="false"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2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2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28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9DCF4BBA-C66D-4C8D-AFD9-451E779B56F7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" type="body" sz="quarter" hasCustomPrompt="true"/>
          </p:nvPr>
        </p:nvSpPr>
        <p:spPr>
          <a:xfrm rot="0" flipH="false" flipV="false"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30" type="body" sz="quarter" hasCustomPrompt="true"/>
          </p:nvPr>
        </p:nvSpPr>
        <p:spPr>
          <a:xfrm rot="0" flipH="false" flipV="false"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31" type="body" sz="quarter" hasCustomPrompt="true"/>
          </p:nvPr>
        </p:nvSpPr>
        <p:spPr>
          <a:xfrm rot="0" flipH="false" flipV="false"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32" type="body" sz="quarter" hasCustomPrompt="true"/>
          </p:nvPr>
        </p:nvSpPr>
        <p:spPr>
          <a:xfrm rot="0" flipH="false" flipV="false"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6" id="6"/>
          <p:cNvSpPr/>
          <p:nvPr>
            <p:ph idx="33" type="body" sz="quarter" hasCustomPrompt="true"/>
          </p:nvPr>
        </p:nvSpPr>
        <p:spPr>
          <a:xfrm rot="0" flipH="false" flipV="false"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7" id="7"/>
          <p:cNvSpPr/>
          <p:nvPr>
            <p:ph idx="34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8" id="8"/>
          <p:cNvSpPr/>
          <p:nvPr>
            <p:ph idx="35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9" id="9"/>
          <p:cNvSpPr/>
          <p:nvPr>
            <p:ph idx="36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A154E108-0C09-4AF6-B623-945B296142F9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3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4" id="4"/>
          <p:cNvSpPr/>
          <p:nvPr>
            <p:ph idx="3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5" id="5"/>
          <p:cNvSpPr/>
          <p:nvPr>
            <p:ph idx="40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B1252B64-CA27-42C8-8BCC-76ADA6A71E5B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3" id="3"/>
          <p:cNvSpPr/>
          <p:nvPr>
            <p:ph idx="4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4" id="4"/>
          <p:cNvSpPr/>
          <p:nvPr>
            <p:ph idx="43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0360D471-DBD5-4832-BCF5-35A4DD689391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45" type="body" sz="quarter" hasCustomPrompt="true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810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46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47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48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49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9906408B-CD1F-4043-823B-17B81603B2FB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51" type="pic" sz="quarter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2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53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54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55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70B4E197-AE8F-46B4-8683-6C3B0A25E2BB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6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57" type="body" sz="quarter" hasCustomPrompt="true"/>
          </p:nvPr>
        </p:nvSpPr>
        <p:spPr>
          <a:xfrm rot="5400000" flipH="false" flipV="false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5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5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60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40FE48D4-CAB4-4168-90FD-B7F9EFD24298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" type="body" sz="quarter" hasCustomPrompt="true"/>
          </p:nvPr>
        </p:nvSpPr>
        <p:spPr>
          <a:xfrm rot="5400000" flipH="false" flipV="false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62" type="body" sz="quarter" hasCustomPrompt="true"/>
          </p:nvPr>
        </p:nvSpPr>
        <p:spPr>
          <a:xfrm rot="5400000" flipH="false" flipV="false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63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64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65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45094A54-1B0F-4262-A4AE-0AAE0D6965C2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目录页">
    <p:bg>
      <p:bgPr>
        <a:solidFill>
          <a:srgbClr val="EBE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6" type="body" sz="quarter" hasCustomPrompt="true"/>
          </p:nvPr>
        </p:nvSpPr>
        <p:spPr>
          <a:xfrm rot="0" flipH="false" flipV="false">
            <a:off x="1033217" y="1843091"/>
            <a:ext cx="10118107" cy="3013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90000" bIns="90000">
            <a:noAutofit/>
          </a:bodyPr>
          <a:lstStyle>
            <a:lvl1pPr algn="l" defTabSz="1186815" marL="692150" indent="-279400">
              <a:lnSpc>
                <a:spcPct val="66666"/>
              </a:lnSpc>
              <a:defRPr sz="2200" b="false" i="false" u="none" strike="noStrike" spc="0">
                <a:solidFill>
                  <a:srgbClr val="1D1D1A">
                    <a:alpha val="100000"/>
                  </a:srgbClr>
                </a:solidFill>
                <a:latin typeface="微软雅黑"/>
              </a:defRPr>
            </a:lvl1pPr>
            <a:lvl2pPr marL="1149350" indent="-279400"/>
            <a:lvl3pPr marL="1606550" indent="-279400"/>
            <a:lvl4pPr marL="2063750" indent="-279400"/>
            <a:lvl5pPr marL="2520950" indent="-279400"/>
            <a:lvl6pPr marL="2978150" indent="-279400"/>
            <a:lvl7pPr marL="3435350" indent="-279400"/>
            <a:lvl8pPr marL="3892550" indent="-279400"/>
            <a:lvl9pPr marL="4349750" indent="-279400"/>
          </a:lstStyle>
          <a:p>
            <a:pPr algn="l" indent="-398780" marL="412750" defTabSz="1186815">
              <a:lnSpc>
                <a:spcPct val="66666"/>
              </a:lnSpc>
              <a:spcBef>
                <a:spcPts val="1300"/>
              </a:spcBef>
              <a:buClr>
                <a:srgbClr val="1D1D1A"/>
              </a:buClr>
              <a:buFont typeface="+mj-lt"/>
              <a:buAutoNum type="arabicPeriod" startAt="1"/>
            </a:pPr>
            <a:r>
              <a:rPr lang="en-US" b="false" i="false" strike="noStrike" u="none" sz="22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单击此处添加文本</a:t>
            </a:r>
          </a:p>
        </p:txBody>
      </p:sp>
      <p:cxnSp>
        <p:nvCxnSpPr>
          <p:cNvPr name="Connector 3" id="3"/>
          <p:cNvCxnSpPr/>
          <p:nvPr/>
        </p:nvCxnSpPr>
        <p:spPr>
          <a:xfrm rot="10800000" flipH="false" flipV="true">
            <a:off x="1029516" y="1349255"/>
            <a:ext cx="885621" cy="0"/>
          </a:xfrm>
          <a:prstGeom prst="line">
            <a:avLst/>
          </a:prstGeom>
          <a:noFill/>
          <a:ln w="25400" cap="flat">
            <a:solidFill>
              <a:srgbClr val="C7000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918559" y="630376"/>
            <a:ext cx="1147037" cy="65350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36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7" type="body" sz="quarter" hasCustomPrompt="true"/>
          </p:nvPr>
        </p:nvSpPr>
        <p:spPr>
          <a:xfrm rot="0" flipH="false" flipV="false">
            <a:off x="728890" y="456134"/>
            <a:ext cx="10736446" cy="99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rmAutofit lnSpcReduction="0"/>
          </a:bodyPr>
          <a:lstStyle>
            <a:lvl1pPr algn="l" defTabSz="1186815">
              <a:lnSpc>
                <a:spcPts val="3429"/>
              </a:lnSpc>
              <a:defRPr sz="2400" b="false" i="false" u="none" strike="noStrike" spc="0">
                <a:solidFill>
                  <a:srgbClr val="1D1D1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 defTabSz="1186815">
              <a:lnSpc>
                <a:spcPts val="3429"/>
              </a:lnSpc>
            </a:pPr>
            <a:r>
              <a:rPr lang="en-US" b="false" i="false" strike="noStrike" u="none" sz="24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单击此处添加标题</a:t>
            </a:r>
          </a:p>
        </p:txBody>
      </p:sp>
      <p:sp>
        <p:nvSpPr>
          <p:cNvPr name="AutoShape 3" id="3"/>
          <p:cNvSpPr/>
          <p:nvPr>
            <p:ph idx="68" type="body" sz="quarter" hasCustomPrompt="true"/>
          </p:nvPr>
        </p:nvSpPr>
        <p:spPr>
          <a:xfrm rot="0" flipH="false" flipV="false">
            <a:off x="736622" y="1501993"/>
            <a:ext cx="10729364" cy="46904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defTabSz="1186815">
              <a:lnSpc>
                <a:spcPct val="100000"/>
              </a:lnSpc>
              <a:tabLst>
                <a:tab pos="1205865" algn="ctr"/>
              </a:tabLst>
              <a:defRPr sz="1800" b="false" i="false" u="none" strike="noStrike" spc="0">
                <a:solidFill>
                  <a:srgbClr val="1D1D1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12065" indent="0" defTabSz="1186815">
              <a:lnSpc>
                <a:spcPct val="100000"/>
              </a:lnSpc>
              <a:tabLst>
                <a:tab pos="1205865" algn="ctr"/>
              </a:tabLst>
            </a:pPr>
            <a:r>
              <a:rPr lang="en-US" b="false" i="false" strike="noStrike" u="none" sz="1800">
                <a:solidFill>
                  <a:srgbClr val="1D1D1A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9" type="body" sz="quarter" hasCustomPrompt="true"/>
          </p:nvPr>
        </p:nvSpPr>
        <p:spPr>
          <a:xfrm rot="0" flipH="false" flipV="false">
            <a:off x="208460" y="284781"/>
            <a:ext cx="10736446" cy="3759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defTabSz="1186815">
              <a:lnSpc>
                <a:spcPts val="3429"/>
              </a:lnSpc>
              <a:defRPr sz="3200" b="true" i="false" u="none" strike="noStrike" spc="0">
                <a:solidFill>
                  <a:srgbClr val="C00000">
                    <a:alpha val="100000"/>
                  </a:srgbClr>
                </a:solidFill>
                <a:latin typeface="Microsoft YaHei"/>
              </a:defRPr>
            </a:lvl1pPr>
          </a:lstStyle>
          <a:p>
            <a:pPr algn="l" marL="0" indent="0" defTabSz="1186815">
              <a:lnSpc>
                <a:spcPts val="3429"/>
              </a:lnSpc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单击此处添加标题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0" type="body" sz="quarter" hasCustomPrompt="true"/>
          </p:nvPr>
        </p:nvSpPr>
        <p:spPr>
          <a:xfrm rot="0" flipH="false" flipV="false"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 defTabSz="1186815">
              <a:lnSpc>
                <a:spcPct val="91666"/>
              </a:lnSpc>
              <a:defRPr sz="6000" b="false" i="false" u="none" strike="noStrike" spc="0">
                <a:solidFill>
                  <a:srgbClr val="1D1D1A">
                    <a:alpha val="100000"/>
                  </a:srgbClr>
                </a:solidFill>
                <a:latin typeface="等线 Light"/>
              </a:defRPr>
            </a:lvl1pPr>
          </a:lstStyle>
          <a:p>
            <a:pPr algn="ctr" marL="0" indent="0" defTabSz="1186815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1D1D1A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1" type="body" sz="quarter" hasCustomPrompt="true"/>
          </p:nvPr>
        </p:nvSpPr>
        <p:spPr>
          <a:xfrm rot="0" flipH="false" flipV="false"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 defTabSz="1186815">
              <a:lnSpc>
                <a:spcPct val="91666"/>
              </a:lnSpc>
              <a:defRPr sz="2400" b="false" i="false" u="none" strike="noStrike" spc="0">
                <a:solidFill>
                  <a:srgbClr val="1D1D1A">
                    <a:alpha val="100000"/>
                  </a:srgbClr>
                </a:solidFill>
                <a:latin typeface="等线"/>
              </a:defRPr>
            </a:lvl1pPr>
          </a:lstStyle>
          <a:p>
            <a:pPr algn="ctr" marL="0" indent="0" defTabSz="1186815">
              <a:lnSpc>
                <a:spcPct val="91666"/>
              </a:lnSpc>
              <a:spcBef>
                <a:spcPts val="1300"/>
              </a:spcBef>
            </a:pPr>
            <a:r>
              <a:rPr lang="en-US" b="false" i="false" strike="noStrike" u="none" sz="24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72" type="body" sz="quarter" hasCustomPrompt="true"/>
          </p:nvPr>
        </p:nvSpPr>
        <p:spPr>
          <a:xfrm rot="0" flipH="false" flipV="false"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1186815">
              <a:lnSpc>
                <a:spcPct val="100000"/>
              </a:lnSpc>
              <a:defRPr sz="2339" b="false" i="false" u="none" strike="noStrike" spc="0">
                <a:solidFill>
                  <a:srgbClr val="1D1D1A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1186815">
              <a:lnSpc>
                <a:spcPct val="100000"/>
              </a:lnSpc>
            </a:pPr>
            <a:r>
              <a:rPr lang="en-US" b="false" i="false" strike="noStrike" u="none" sz="2338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2026/9/9</a:t>
            </a:r>
          </a:p>
        </p:txBody>
      </p:sp>
      <p:sp>
        <p:nvSpPr>
          <p:cNvPr name="AutoShape 5" id="5"/>
          <p:cNvSpPr/>
          <p:nvPr>
            <p:ph idx="73" type="body" sz="quarter" hasCustomPrompt="true"/>
          </p:nvPr>
        </p:nvSpPr>
        <p:spPr>
          <a:xfrm rot="0" flipH="false" flipV="false"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1186815">
              <a:lnSpc>
                <a:spcPct val="100000"/>
              </a:lnSpc>
              <a:defRPr sz="2339" b="false" i="false" u="none" strike="noStrike" spc="0">
                <a:solidFill>
                  <a:srgbClr val="1D1D1A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1186815">
              <a:lnSpc>
                <a:spcPct val="100000"/>
              </a:lnSpc>
            </a:pPr>
            <a:r>
              <a:rPr lang="en-US" b="false" i="false" strike="noStrike" u="none" sz="2338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74" type="body" sz="quarter" hasCustomPrompt="true"/>
          </p:nvPr>
        </p:nvSpPr>
        <p:spPr>
          <a:xfrm rot="0" flipH="false" flipV="false">
            <a:off x="0" y="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1186815">
              <a:lnSpc>
                <a:spcPct val="100000"/>
              </a:lnSpc>
              <a:defRPr sz="2339" b="false" i="false" u="none" strike="noStrike" spc="0">
                <a:solidFill>
                  <a:srgbClr val="1D1D1A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1186815">
              <a:lnSpc>
                <a:spcPct val="100000"/>
              </a:lnSpc>
            </a:pPr>
            <a:fld type="slidenum" id="{3D54EF5F-EC8B-42E1-AE48-2E556FEAD11B}">
              <a:rPr b="false" i="false" strike="noStrike" u="none" sz="2338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56906" y="2856476"/>
            <a:ext cx="3919502" cy="8308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3765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75CFE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lang="en-US"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2.xml" Type="http://schemas.openxmlformats.org/officeDocument/2006/relationships/slideLayout"/><Relationship Id="rId11" Target="../slideLayouts/slideLayout23.xml" Type="http://schemas.openxmlformats.org/officeDocument/2006/relationships/slideLayout"/><Relationship Id="rId12" Target="../slideLayouts/slideLayout24.xml" Type="http://schemas.openxmlformats.org/officeDocument/2006/relationships/slideLayout"/><Relationship Id="rId2" Target="../slideLayouts/slideLayout14.xml" Type="http://schemas.openxmlformats.org/officeDocument/2006/relationships/slideLayout"/><Relationship Id="rId3" Target="../slideLayouts/slideLayout15.xml" Type="http://schemas.openxmlformats.org/officeDocument/2006/relationships/slideLayout"/><Relationship Id="rId4" Target="../slideLayouts/slideLayout16.xml" Type="http://schemas.openxmlformats.org/officeDocument/2006/relationships/slideLayout"/><Relationship Id="rId5" Target="../slideLayouts/slideLayout17.xml" Type="http://schemas.openxmlformats.org/officeDocument/2006/relationships/slideLayout"/><Relationship Id="rId6" Target="../slideLayouts/slideLayout18.xml" Type="http://schemas.openxmlformats.org/officeDocument/2006/relationships/slideLayout"/><Relationship Id="rId7" Target="../slideLayouts/slideLayout19.xml" Type="http://schemas.openxmlformats.org/officeDocument/2006/relationships/slideLayout"/><Relationship Id="rId8" Target="../slideLayouts/slideLayout20.xml" Type="http://schemas.openxmlformats.org/officeDocument/2006/relationships/slideLayout"/><Relationship Id="rId9" Target="../slideLayouts/slideLayout21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slideLayouts/slideLayout25.xml" Type="http://schemas.openxmlformats.org/officeDocument/2006/relationships/slideLayout"/><Relationship Id="rId5" Target="../slideLayouts/slideLayout26.xml" Type="http://schemas.openxmlformats.org/officeDocument/2006/relationships/slideLayout"/><Relationship Id="rId6" Target="../slideLayouts/slideLayout27.xml" Type="http://schemas.openxmlformats.org/officeDocument/2006/relationships/slideLayout"/><Relationship Id="rId7" Target="../slideLayouts/slideLayout28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2" Target="../media/image4.jpeg" Type="http://schemas.openxmlformats.org/officeDocument/2006/relationships/image"/><Relationship Id="rId3" Target="../slideLayouts/slideLayout2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3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100000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2" id="2"/>
          <p:cNvSpPr/>
          <p:nvPr>
            <p:ph idx="4" type="body" sz="quarter" hasCustomPrompt="true"/>
          </p:nvPr>
        </p:nvSpPr>
        <p:spPr>
          <a:xfrm rot="0" flipH="false" flipV="false"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100000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3" id="3"/>
          <p:cNvSpPr/>
          <p:nvPr>
            <p:ph idx="5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4" id="4"/>
          <p:cNvSpPr/>
          <p:nvPr>
            <p:ph idx="6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7" type="body" sz="quarter" hasCustomPrompt="true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 marL="0" indent="0">
              <a:lnSpc>
                <a:spcPct val="100000"/>
              </a:lnSpc>
            </a:pPr>
            <a:fld type="slidenum" id="{249AA076-5F6F-46E1-A239-1B446FEFD13E}">
              <a:rPr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  <p:sldLayoutId id="215748371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6_章节页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 txBox="true"/>
          <p:nvPr/>
        </p:nvSpPr>
        <p:spPr>
          <a:xfrm rot="0" flipH="false" flipV="false">
            <a:off x="733845" y="6526023"/>
            <a:ext cx="499534" cy="1384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890270">
              <a:lnSpc>
                <a:spcPct val="100000"/>
              </a:lnSpc>
              <a:defRPr/>
            </a:pPr>
            <a:fld type="slidenum" id="{33E68D9D-E351-4F58-B756-56F6FAFBDF3D}">
              <a:rPr b="false" i="false" strike="noStrike" u="none" sz="9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12285671" y="2625392"/>
            <a:ext cx="1967204" cy="4233515"/>
            <a:chOff x="12285671" y="2625392"/>
            <a:chExt cx="1967204" cy="4233515"/>
          </a:xfrm>
        </p:grpSpPr>
        <p:sp>
          <p:nvSpPr>
            <p:cNvPr name="AutoShape 3" id="3"/>
            <p:cNvSpPr/>
            <p:nvPr/>
          </p:nvSpPr>
          <p:spPr>
            <a:xfrm rot="0" flipH="false" flipV="false">
              <a:off x="12293197" y="3818350"/>
              <a:ext cx="475974" cy="399691"/>
            </a:xfrm>
            <a:prstGeom prst="rect">
              <a:avLst/>
            </a:prstGeom>
            <a:solidFill>
              <a:srgbClr val="C4005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196/0/84</a:t>
              </a:r>
              <a:endParaRPr lang="en-US" sz="1100"/>
            </a:p>
          </p:txBody>
        </p:sp>
        <p:sp>
          <p:nvSpPr>
            <p:cNvPr name="AutoShape 4" id="4"/>
            <p:cNvSpPr txBox="true"/>
            <p:nvPr/>
          </p:nvSpPr>
          <p:spPr>
            <a:xfrm rot="0" flipH="false" flipV="false">
              <a:off x="12290986" y="3674166"/>
              <a:ext cx="633009" cy="1231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b" rtlCol="false" wrap="square" lIns="0" rIns="0" tIns="0" bIns="0">
              <a:spAutoFit/>
            </a:bodyPr>
            <a:lstStyle/>
            <a:p>
              <a:pPr algn="l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800">
                  <a:solidFill>
                    <a:srgbClr val="1D1D1A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公司辅助色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2791283" y="3818350"/>
              <a:ext cx="475974" cy="399691"/>
            </a:xfrm>
            <a:prstGeom prst="rect">
              <a:avLst/>
            </a:prstGeom>
            <a:solidFill>
              <a:srgbClr val="CB377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203/55/120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12293197" y="4702011"/>
              <a:ext cx="475974" cy="399691"/>
            </a:xfrm>
            <a:prstGeom prst="rect">
              <a:avLst/>
            </a:prstGeom>
            <a:solidFill>
              <a:srgbClr val="ED6D00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237/109/0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2791283" y="4263034"/>
              <a:ext cx="475974" cy="399691"/>
            </a:xfrm>
            <a:prstGeom prst="rect">
              <a:avLst/>
            </a:prstGeom>
            <a:solidFill>
              <a:srgbClr val="993636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3765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153/54/54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12293197" y="5582370"/>
              <a:ext cx="475974" cy="399691"/>
            </a:xfrm>
            <a:prstGeom prst="rect">
              <a:avLst/>
            </a:prstGeom>
            <a:solidFill>
              <a:srgbClr val="62B230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98/178/48</a:t>
              </a:r>
              <a:endParaRPr lang="en-US" sz="1100"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12791283" y="4709705"/>
              <a:ext cx="475974" cy="399691"/>
            </a:xfrm>
            <a:prstGeom prst="rect">
              <a:avLst/>
            </a:prstGeom>
            <a:solidFill>
              <a:srgbClr val="F2894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242/137/68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12291297" y="2766054"/>
              <a:ext cx="475974" cy="399691"/>
            </a:xfrm>
            <a:prstGeom prst="rect">
              <a:avLst/>
            </a:prstGeom>
            <a:solidFill>
              <a:srgbClr val="C7000B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PANTONE 185C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199/0/11  </a:t>
              </a:r>
            </a:p>
          </p:txBody>
        </p:sp>
        <p:sp>
          <p:nvSpPr>
            <p:cNvPr name="AutoShape 12" id="12"/>
            <p:cNvSpPr txBox="true"/>
            <p:nvPr/>
          </p:nvSpPr>
          <p:spPr>
            <a:xfrm rot="0" flipH="false" flipV="false">
              <a:off x="12285671" y="2625392"/>
              <a:ext cx="436873" cy="1231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b" rtlCol="false" wrap="square" lIns="0" rIns="0" tIns="0" bIns="0">
              <a:spAutoFit/>
            </a:bodyPr>
            <a:lstStyle/>
            <a:p>
              <a:pPr algn="l" marL="0" indent="0" defTabSz="914400">
                <a:lnSpc>
                  <a:spcPct val="100000"/>
                </a:lnSpc>
                <a:defRPr/>
              </a:pPr>
              <a:r>
                <a:rPr lang="en-US" b="false" i="false" strike="noStrike" u="none" sz="800">
                  <a:solidFill>
                    <a:srgbClr val="1D1D1A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公司色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2290912" y="3207066"/>
              <a:ext cx="475974" cy="399691"/>
            </a:xfrm>
            <a:prstGeom prst="rect">
              <a:avLst/>
            </a:prstGeom>
            <a:solidFill>
              <a:srgbClr val="C8102E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PANTONE 186C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200/16/46  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2291852" y="4258591"/>
              <a:ext cx="475974" cy="399691"/>
            </a:xfrm>
            <a:prstGeom prst="rect">
              <a:avLst/>
            </a:prstGeom>
            <a:solidFill>
              <a:srgbClr val="7F000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127/0/1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12291852" y="5142253"/>
              <a:ext cx="475974" cy="399691"/>
            </a:xfrm>
            <a:prstGeom prst="rect">
              <a:avLst/>
            </a:prstGeom>
            <a:solidFill>
              <a:srgbClr val="FCC800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52/200/0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12291852" y="6021348"/>
              <a:ext cx="475974" cy="399691"/>
            </a:xfrm>
            <a:prstGeom prst="rect">
              <a:avLst/>
            </a:prstGeom>
            <a:solidFill>
              <a:srgbClr val="30B5C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48/181/197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2791200" y="5582370"/>
              <a:ext cx="475974" cy="399691"/>
            </a:xfrm>
            <a:prstGeom prst="rect">
              <a:avLst/>
            </a:prstGeom>
            <a:solidFill>
              <a:srgbClr val="81C15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129/193/95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2789856" y="5142253"/>
              <a:ext cx="475974" cy="399691"/>
            </a:xfrm>
            <a:prstGeom prst="rect">
              <a:avLst/>
            </a:prstGeom>
            <a:solidFill>
              <a:srgbClr val="FDD35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253/211/81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2786859" y="6021348"/>
              <a:ext cx="475974" cy="399691"/>
            </a:xfrm>
            <a:prstGeom prst="rect">
              <a:avLst/>
            </a:prstGeom>
            <a:solidFill>
              <a:srgbClr val="56C4D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86/196/210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2792224" y="2766054"/>
              <a:ext cx="475974" cy="399691"/>
            </a:xfrm>
            <a:prstGeom prst="rect">
              <a:avLst/>
            </a:prstGeom>
            <a:solidFill>
              <a:srgbClr val="D3394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211/57/65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2791838" y="3207066"/>
              <a:ext cx="475974" cy="399691"/>
            </a:xfrm>
            <a:prstGeom prst="rect">
              <a:avLst/>
            </a:prstGeom>
            <a:solidFill>
              <a:srgbClr val="D33859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211/56/89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3279327" y="3818350"/>
              <a:ext cx="475974" cy="399691"/>
            </a:xfrm>
            <a:prstGeom prst="rect">
              <a:avLst/>
            </a:prstGeom>
            <a:solidFill>
              <a:srgbClr val="DD80AA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221/128/170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3279327" y="4263034"/>
              <a:ext cx="475974" cy="399691"/>
            </a:xfrm>
            <a:prstGeom prst="rect">
              <a:avLst/>
            </a:prstGeom>
            <a:solidFill>
              <a:srgbClr val="BF808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3765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191/128/130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13279327" y="4709705"/>
              <a:ext cx="475974" cy="399691"/>
            </a:xfrm>
            <a:prstGeom prst="rect">
              <a:avLst/>
            </a:prstGeom>
            <a:solidFill>
              <a:srgbClr val="F6B78C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246/183/140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13285239" y="5582370"/>
              <a:ext cx="475974" cy="399691"/>
            </a:xfrm>
            <a:prstGeom prst="rect">
              <a:avLst/>
            </a:prstGeom>
            <a:solidFill>
              <a:srgbClr val="AFD89C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176/216/156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13283894" y="5142253"/>
              <a:ext cx="475974" cy="399691"/>
            </a:xfrm>
            <a:prstGeom prst="rect">
              <a:avLst/>
            </a:prstGeom>
            <a:solidFill>
              <a:srgbClr val="FDE39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253/227/181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13283894" y="6021348"/>
              <a:ext cx="475974" cy="399691"/>
            </a:xfrm>
            <a:prstGeom prst="rect">
              <a:avLst/>
            </a:prstGeom>
            <a:solidFill>
              <a:srgbClr val="94DAE2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148/218/226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13280267" y="2766054"/>
              <a:ext cx="475974" cy="399691"/>
            </a:xfrm>
            <a:prstGeom prst="rect">
              <a:avLst/>
            </a:prstGeom>
            <a:solidFill>
              <a:srgbClr val="E28189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226/129/137</a:t>
              </a:r>
              <a:endParaRPr lang="en-US" sz="1100"/>
            </a:p>
          </p:txBody>
        </p:sp>
        <p:sp>
          <p:nvSpPr>
            <p:cNvPr name="AutoShape 29" id="29"/>
            <p:cNvSpPr/>
            <p:nvPr/>
          </p:nvSpPr>
          <p:spPr>
            <a:xfrm rot="0" flipH="false" flipV="false">
              <a:off x="13279882" y="3207066"/>
              <a:ext cx="475974" cy="399691"/>
            </a:xfrm>
            <a:prstGeom prst="rect">
              <a:avLst/>
            </a:prstGeom>
            <a:solidFill>
              <a:srgbClr val="E2819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226/129/152</a:t>
              </a:r>
              <a:endParaRPr lang="en-US" sz="1100"/>
            </a:p>
          </p:txBody>
        </p:sp>
        <p:sp>
          <p:nvSpPr>
            <p:cNvPr name="AutoShape 30" id="30"/>
            <p:cNvSpPr/>
            <p:nvPr/>
          </p:nvSpPr>
          <p:spPr>
            <a:xfrm rot="0" flipH="false" flipV="false">
              <a:off x="13766341" y="3818350"/>
              <a:ext cx="475974" cy="399691"/>
            </a:xfrm>
            <a:prstGeom prst="rect">
              <a:avLst/>
            </a:prstGeom>
            <a:solidFill>
              <a:srgbClr val="EBB3CC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235/179/204</a:t>
              </a:r>
              <a:endParaRPr lang="en-US" sz="1100"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13766341" y="4263034"/>
              <a:ext cx="475974" cy="399691"/>
            </a:xfrm>
            <a:prstGeom prst="rect">
              <a:avLst/>
            </a:prstGeom>
            <a:solidFill>
              <a:srgbClr val="D8B3B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3765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216/179/179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13769338" y="4709705"/>
              <a:ext cx="475974" cy="399691"/>
            </a:xfrm>
            <a:prstGeom prst="rect">
              <a:avLst/>
            </a:prstGeom>
            <a:solidFill>
              <a:srgbClr val="FAD3BB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250/211/187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13775250" y="5582370"/>
              <a:ext cx="475974" cy="399691"/>
            </a:xfrm>
            <a:prstGeom prst="rect">
              <a:avLst/>
            </a:prstGeom>
            <a:solidFill>
              <a:srgbClr val="D0E8C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208/232/196</a:t>
              </a:r>
              <a:endParaRPr lang="en-US" sz="1100"/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13773904" y="5142253"/>
              <a:ext cx="475974" cy="399691"/>
            </a:xfrm>
            <a:prstGeom prst="rect">
              <a:avLst/>
            </a:prstGeom>
            <a:solidFill>
              <a:srgbClr val="FEEEC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254/238/193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13776901" y="6021348"/>
              <a:ext cx="475974" cy="399691"/>
            </a:xfrm>
            <a:prstGeom prst="rect">
              <a:avLst/>
            </a:prstGeom>
            <a:solidFill>
              <a:srgbClr val="BEE9EE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b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190/233/238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13767281" y="2766054"/>
              <a:ext cx="475974" cy="399691"/>
            </a:xfrm>
            <a:prstGeom prst="rect">
              <a:avLst/>
            </a:prstGeom>
            <a:solidFill>
              <a:srgbClr val="EEB3B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239/178/184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13766896" y="3207066"/>
              <a:ext cx="475974" cy="399691"/>
            </a:xfrm>
            <a:prstGeom prst="rect">
              <a:avLst/>
            </a:prstGeom>
            <a:solidFill>
              <a:srgbClr val="EEB3C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238/179/193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12291855" y="6459216"/>
              <a:ext cx="308840" cy="399691"/>
            </a:xfrm>
            <a:prstGeom prst="rect">
              <a:avLst/>
            </a:prstGeom>
            <a:solidFill>
              <a:srgbClr val="22181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0/0/0</a:t>
              </a:r>
              <a:endParaRPr lang="en-US" sz="1100"/>
            </a:p>
          </p:txBody>
        </p:sp>
        <p:sp>
          <p:nvSpPr>
            <p:cNvPr name="AutoShape 39" id="39"/>
            <p:cNvSpPr/>
            <p:nvPr/>
          </p:nvSpPr>
          <p:spPr>
            <a:xfrm rot="0" flipH="false" flipV="false">
              <a:off x="12620467" y="6459216"/>
              <a:ext cx="308840" cy="399691"/>
            </a:xfrm>
            <a:prstGeom prst="rect">
              <a:avLst/>
            </a:prstGeom>
            <a:solidFill>
              <a:srgbClr val="595757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 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89/87/87</a:t>
              </a:r>
            </a:p>
          </p:txBody>
        </p:sp>
        <p:sp>
          <p:nvSpPr>
            <p:cNvPr name="AutoShape 40" id="40"/>
            <p:cNvSpPr/>
            <p:nvPr/>
          </p:nvSpPr>
          <p:spPr>
            <a:xfrm rot="0" flipH="false" flipV="false">
              <a:off x="12948027" y="6459216"/>
              <a:ext cx="308840" cy="399691"/>
            </a:xfrm>
            <a:prstGeom prst="rect">
              <a:avLst/>
            </a:prstGeom>
            <a:solidFill>
              <a:srgbClr val="888888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137/137/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137</a:t>
              </a:r>
            </a:p>
          </p:txBody>
        </p:sp>
        <p:sp>
          <p:nvSpPr>
            <p:cNvPr name="AutoShape 41" id="41"/>
            <p:cNvSpPr/>
            <p:nvPr/>
          </p:nvSpPr>
          <p:spPr>
            <a:xfrm rot="0" flipH="false" flipV="false">
              <a:off x="13283547" y="6459216"/>
              <a:ext cx="308840" cy="399691"/>
            </a:xfrm>
            <a:prstGeom prst="rect">
              <a:avLst/>
            </a:prstGeom>
            <a:solidFill>
              <a:srgbClr val="B5B5B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181/181/</a:t>
              </a:r>
              <a:b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181</a:t>
              </a:r>
            </a:p>
          </p:txBody>
        </p:sp>
        <p:sp>
          <p:nvSpPr>
            <p:cNvPr name="AutoShape 42" id="42"/>
            <p:cNvSpPr/>
            <p:nvPr/>
          </p:nvSpPr>
          <p:spPr>
            <a:xfrm rot="0" flipH="false" flipV="false">
              <a:off x="13613247" y="6459216"/>
              <a:ext cx="308840" cy="399691"/>
            </a:xfrm>
            <a:prstGeom prst="rect">
              <a:avLst/>
            </a:prstGeom>
            <a:solidFill>
              <a:srgbClr val="DDDDDD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 221/221/</a:t>
              </a:r>
              <a:b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221</a:t>
              </a:r>
              <a:endParaRPr lang="en-US" sz="1100"/>
            </a:p>
          </p:txBody>
        </p:sp>
        <p:sp>
          <p:nvSpPr>
            <p:cNvPr name="AutoShape 43" id="43"/>
            <p:cNvSpPr/>
            <p:nvPr/>
          </p:nvSpPr>
          <p:spPr>
            <a:xfrm rot="0" flipH="false" flipV="false">
              <a:off x="13942193" y="6459216"/>
              <a:ext cx="308840" cy="3996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solidFill>
                <a:srgbClr val="B5B5B5">
                  <a:alpha val="100000"/>
                </a:srgbClr>
              </a:solidFill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marL="0" indent="0" defTabSz="914400">
                <a:lnSpc>
                  <a:spcPts val="620"/>
                </a:lnSpc>
                <a:defRPr/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RGB</a:t>
              </a:r>
              <a:endParaRPr lang="en-US" sz="1100"/>
            </a:p>
            <a:p>
              <a:pPr algn="ctr" marL="0" indent="0" defTabSz="914400">
                <a:lnSpc>
                  <a:spcPts val="620"/>
                </a:lnSpc>
              </a:pP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255/255/</a:t>
              </a:r>
              <a:b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b="true" i="false" strike="noStrike" u="none" sz="500">
                  <a:solidFill>
                    <a:srgbClr val="595757"/>
                  </a:solidFill>
                  <a:latin typeface="Arial"/>
                  <a:ea typeface="Arial"/>
                  <a:cs typeface="Arial"/>
                  <a:sym typeface="Arial"/>
                </a:rPr>
                <a:t>255</a:t>
              </a:r>
            </a:p>
          </p:txBody>
        </p:sp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12" r:id="rId4"/>
    <p:sldLayoutId id="2157483713" r:id="rId5"/>
    <p:sldLayoutId id="2157483714" r:id="rId6"/>
    <p:sldLayoutId id="215748371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End pag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2386662"/>
            <a:ext cx="12192000" cy="208467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" id="2"/>
          <p:cNvSpPr/>
          <p:nvPr>
            <p:ph idx="75" type="body" sz="quarter" hasCustomPrompt="true"/>
          </p:nvPr>
        </p:nvSpPr>
        <p:spPr>
          <a:xfrm rot="0" flipH="false" flipV="false">
            <a:off x="602479" y="2386662"/>
            <a:ext cx="3982676" cy="20846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1186815">
              <a:lnSpc>
                <a:spcPct val="91666"/>
              </a:lnSpc>
              <a:defRPr sz="4400" b="false" i="false" u="none" strike="noStrike" spc="0">
                <a:solidFill>
                  <a:srgbClr val="1D1D1A">
                    <a:alpha val="100000"/>
                  </a:srgbClr>
                </a:solidFill>
                <a:latin typeface="Arial"/>
              </a:defRPr>
            </a:lvl1pPr>
          </a:lstStyle>
          <a:p>
            <a:pPr algn="l" marL="0" indent="0" defTabSz="1186815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1D1D1A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1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0666" b="11079"/>
          <a:stretch>
            <a:fillRect/>
          </a:stretch>
        </p:blipFill>
        <p:spPr>
          <a:xfrm rot="0" flipH="false" flipV="false">
            <a:off x="0" y="731519"/>
            <a:ext cx="12192000" cy="5366583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266700" y="2396357"/>
            <a:ext cx="6629400" cy="1674857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围术期风险评估助手 Agent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66700" y="4761189"/>
            <a:ext cx="4488180" cy="79931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91666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PeriRisk Agent · 参赛作品</a:t>
            </a:r>
            <a:endParaRPr lang="en-US" sz="1100"/>
          </a:p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深圳技术大学 · 生物医学工程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345362" y="249186"/>
            <a:ext cx="10736446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marL="0" indent="0" defTabSz="1187323">
              <a:lnSpc>
                <a:spcPts val="3429"/>
              </a:lnSpc>
              <a:defRPr/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围术期风险评估助手 Agent（PeriRisk Agent）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8689" y="1053884"/>
            <a:ext cx="4138552" cy="369332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b="false" i="false" strike="noStrike" u="none" sz="18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创意描述</a:t>
            </a: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（必填）</a:t>
            </a:r>
            <a:r>
              <a:rPr lang="en-US" b="false" i="false" strike="noStrike" u="none" sz="18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：（</a:t>
            </a:r>
            <a:r>
              <a:rPr lang="en-US" b="false" i="false" strike="noStrike" u="none" sz="1800">
                <a:solidFill>
                  <a:srgbClr val="1D1D1A"/>
                </a:solidFill>
                <a:latin typeface="Calibri"/>
                <a:ea typeface="Calibri"/>
                <a:cs typeface="Calibri"/>
                <a:sym typeface="Calibri"/>
              </a:rPr>
              <a:t>&lt;500</a:t>
            </a:r>
            <a:r>
              <a:rPr lang="en-US" b="false" i="false" strike="noStrike" u="none" sz="18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字）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97658" y="5077577"/>
            <a:ext cx="4138552" cy="369332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所属主题</a:t>
            </a: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（必填）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118384" y="1053884"/>
            <a:ext cx="4138552" cy="369332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等线"/>
                <a:ea typeface="等线"/>
                <a:cs typeface="等线"/>
                <a:sym typeface="等线"/>
              </a:rPr>
              <a:t>应用场景</a:t>
            </a: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（必填）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 w="12700" cmpd="sng" cap="flat">
            <a:solidFill>
              <a:srgbClr val="71716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88900" y="4998070"/>
            <a:ext cx="57953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cxnSp>
        <p:nvCxnSpPr>
          <p:cNvPr name="Connector 10" id="10"/>
          <p:cNvCxnSpPr/>
          <p:nvPr/>
        </p:nvCxnSpPr>
        <p:spPr>
          <a:xfrm rot="5383937" flipH="false" flipV="false">
            <a:off x="3100059" y="3601153"/>
            <a:ext cx="54363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371445" y="2446171"/>
            <a:ext cx="990977" cy="369332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true" strike="noStrike" u="none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&lt;500</a:t>
            </a: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22152" y="5574886"/>
            <a:ext cx="4455759" cy="458459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科研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79031" y="3105834"/>
            <a:ext cx="4967205" cy="1289456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面向麻醉科医生与围术期团队：术前评估输入患者病历与监护波形，输出风险分级与麻醉关注点报告；</a:t>
            </a:r>
            <a:endParaRPr lang="en-US" sz="1100"/>
          </a:p>
          <a:p>
            <a:pPr algn="l" marL="0" indent="0" defTabSz="914400">
              <a:lnSpc>
                <a:spcPct val="150000"/>
              </a:lnSpc>
            </a:pPr>
            <a:r>
              <a:rPr lang="en-US" b="false" i="true" strike="noStrike" u="none" sz="1800">
                <a:solidFill>
                  <a:srgbClr val="0070C0"/>
                </a:solidFill>
                <a:latin typeface="等线"/>
                <a:ea typeface="等线"/>
                <a:cs typeface="等线"/>
                <a:sym typeface="等线"/>
              </a:rPr>
              <a:t>基层医院可借此补齐评估规范性，缓解麻醉医生短缺下的评估质量压力。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96900" y="2921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术前风险评估是麻醉科真实刚需：医生手工翻病历、逐项核对 ASA 等评分并对照指南，一次约 20—40 分钟且易漏项，基层医院更缺人。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PeriRisk Agent 基于大模型 Function Calling 自主调度：输入病历与监护波形，Agent 主动查病历、读波形算心率、按规则判定 ASA 分级，集齐后一键生成【风险评估】【麻醉关注点】【建议】三段式报告。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637520" y="6355080"/>
            <a:ext cx="1463040" cy="411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10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生成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345362" y="249186"/>
            <a:ext cx="10736446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marL="0" indent="0" defTabSz="1187323">
              <a:lnSpc>
                <a:spcPts val="3429"/>
              </a:lnSpc>
              <a:defRPr/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创意方案构想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88900" y="3607496"/>
            <a:ext cx="119507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68123" flipH="false" flipV="false">
            <a:off x="4432069" y="4986722"/>
            <a:ext cx="273931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dash"/>
            <a:miter lim="1000000"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 w="12700" cmpd="sng" cap="flat">
            <a:solidFill>
              <a:srgbClr val="71716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15677" y="3763412"/>
            <a:ext cx="1901315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方案优势（可选）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00624" y="1023604"/>
            <a:ext cx="2414076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方案详情</a:t>
            </a:r>
            <a:r>
              <a:rPr lang="en-US" b="true" i="false" strike="noStrike" u="none" sz="18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（必填）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940344" y="3763412"/>
            <a:ext cx="1984763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技术依赖（可选）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8" y="4729352"/>
            <a:ext cx="5405843" cy="1587500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进展：Demo 已跑通，命令行 + Streamlit，GitHub 可复现；5 例批量测试：ASA 分级一致率 </a:t>
            </a:r>
            <a:r>
              <a:rPr lang="en-US" b="true" i="true" strike="noStrike" u="none" sz="1500">
                <a:solidFill>
                  <a:srgbClr val="C00000"/>
                </a:solidFill>
                <a:latin typeface="DengXian"/>
                <a:ea typeface="DengXian"/>
                <a:cs typeface="DengXian"/>
                <a:sym typeface="DengXian"/>
              </a:rPr>
              <a:t>100%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、工具调用顺序正确率 </a:t>
            </a:r>
            <a:r>
              <a:rPr lang="en-US" b="true" i="true" strike="noStrike" u="none" sz="1500">
                <a:solidFill>
                  <a:srgbClr val="C00000"/>
                </a:solidFill>
                <a:latin typeface="DengXian"/>
                <a:ea typeface="DengXian"/>
                <a:cs typeface="DengXian"/>
                <a:sym typeface="DengXian"/>
              </a:rPr>
              <a:t>100%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，心率算法误差 </a:t>
            </a:r>
            <a:r>
              <a:rPr lang="en-US" b="true" i="true" strike="noStrike" u="none" sz="1500">
                <a:solidFill>
                  <a:srgbClr val="C00000"/>
                </a:solidFill>
                <a:latin typeface="DengXian"/>
                <a:ea typeface="DengXian"/>
                <a:cs typeface="DengXian"/>
                <a:sym typeface="DengXian"/>
              </a:rPr>
              <a:t>5.7 次/分</a:t>
            </a: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（88.0 vs 监护仪 82.3）；</a:t>
            </a:r>
            <a:endParaRPr lang="en-US" sz="1100"/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依赖：DeepSeek API、Python(scipy)、VitalDB；后续接入 openJiuwen / JiuwenSwarm；</a:t>
            </a:r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Demo：3 分钟视频，展示多轮思考与工具调用，输出三段式报告。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0624" y="4729352"/>
            <a:ext cx="5405843" cy="1270000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相比通用大模型直接问答：把信号处理做成 Agent 工具链，结论基于真实波形而非纯文本推测；</a:t>
            </a:r>
            <a:endParaRPr lang="en-US" sz="1100"/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结合 VitalDB 公开数据可复现、可验证；学术上沿 Sel(2023) → IOHFuseLM(2025) → wPINNs(2026) 递进落地。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5362" y="1969431"/>
            <a:ext cx="5405843" cy="1651000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「大模型决策 + 本地计算」三层架构：</a:t>
            </a:r>
            <a:endParaRPr lang="en-US" sz="1100"/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① 应用层：Agent 主循环，自主拆任务、调工具、回填；</a:t>
            </a:r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② 工具层：病历查询、波形心率检测、ASA 规则引擎；</a:t>
            </a:r>
          </a:p>
          <a:p>
            <a:pPr algn="l" marL="0" indent="0" defTabSz="914400">
              <a:lnSpc>
                <a:spcPct val="116666"/>
              </a:lnSpc>
            </a:pPr>
            <a:r>
              <a:rPr lang="en-US" b="false" i="true" strike="noStrike" u="none" sz="15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③ 数据模型层：DeepSeek 出报告，VitalDB 供数，本地算数值。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3429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4000"/>
              </a:lnSpc>
              <a:defRPr/>
            </a:pPr>
            <a:r>
              <a:rPr lang="en-US" b="fals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术前风险评估：麻醉科的真实刚需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914400"/>
            <a:ext cx="3556000" cy="1117600"/>
          </a:xfrm>
          <a:prstGeom prst="roundRect">
            <a:avLst>
              <a:gd name="adj" fmla="val 13636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11200" y="1016000"/>
            <a:ext cx="317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20—40 分钟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11200" y="15494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单次人工评估耗时（翻病历、核对 ASA、对照指南）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18000" y="914400"/>
            <a:ext cx="3556000" cy="1117600"/>
          </a:xfrm>
          <a:prstGeom prst="roundRect">
            <a:avLst>
              <a:gd name="adj" fmla="val 13636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521200" y="1016000"/>
            <a:ext cx="317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ASA I—VI 级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521200" y="15494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六级风险体系，逐项人工核对易漏项、有主观偏差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914400"/>
            <a:ext cx="3556000" cy="1117600"/>
          </a:xfrm>
          <a:prstGeom prst="roundRect">
            <a:avLst>
              <a:gd name="adj" fmla="val 13636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331200" y="1016000"/>
            <a:ext cx="317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基层更缺人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331200" y="15494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麻醉医生短缺，评估规范性与质量压力更大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2286000"/>
            <a:ext cx="5461000" cy="355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" y="2489200"/>
            <a:ext cx="495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现状痛点：全流程依赖人工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62000" y="3048000"/>
            <a:ext cx="4953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手工翻病历、逐项核对 ASA 评分并对照指南；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单次约 20—40 分钟，易漏项、主观偏差难以避免；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基层医院麻醉医生短缺，评估质量压力更大；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评估结论因人而异，缺少统一、可追溯的流程。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286000"/>
            <a:ext cx="5461000" cy="3556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477000" y="2489200"/>
            <a:ext cx="495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PeriRisk 的切入点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477000" y="3048000"/>
            <a:ext cx="4953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大模型 Function Calling 自主调度：查病历、读波形算心率、按规则判定 ASA 分级；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输出三段式报告：风险评估、麻醉关注点、建议；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结论附工具返回依据，可复现、可追溯；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基层医院可借此补齐评估规范性。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550" y="6477000"/>
            <a:ext cx="251460" cy="251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650" y="6483350"/>
            <a:ext cx="887730" cy="1981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3429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4000"/>
              </a:lnSpc>
              <a:defRPr/>
            </a:pPr>
            <a:r>
              <a:rPr lang="en-US" b="fals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与现有医疗 Agent 对比：更垂直、更可验证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08000" y="965200"/>
          <a:ext cx="11176000" cy="3962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2286000"/>
                <a:gridCol w="3048000"/>
                <a:gridCol w="40640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来源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 PeriRisk 的差异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ClearPath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GitHub jbrodev · MIT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临床决策支持 Agent 框架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通用临床问答，不覆盖围术期麻醉术前评估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RiskAgent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AI-in-Health · arXiv 2503.03802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多智能体临床风险预测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走预测模型路线，非规则引擎与波形计算结合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MedAgent-Pro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NUS + Oxford · arXiv 2503.18968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医疗多智能体任务框架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通用任务规划，未绑定术前 ASA 评估场景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MedAgentBench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Stanford · arXiv 2501.14654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医疗 Agent 评测基准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是评测基准，非面向临床的可部署产品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Microsoft HAO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Azure-Samples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医疗数据编排 Agent 参考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企业级架构参考，无麻醉专科功能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508000" y="5130800"/>
            <a:ext cx="11176000" cy="965200"/>
          </a:xfrm>
          <a:prstGeom prst="roundRect">
            <a:avLst>
              <a:gd name="adj" fmla="val 18421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5334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PeriRisk 差异化定位：</a:t>
            </a:r>
            <a:r>
              <a:rPr lang="en-US" b="false" i="false" strike="noStrike" u="none" sz="1500">
                <a:solidFill>
                  <a:srgbClr val="1D1D1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专注围术期麻醉术前评估单一场景，以真实波形计算 + ASA 规则引擎支撑可验证结论，而非通用问答或预测模型。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550" y="6477000"/>
            <a:ext cx="251460" cy="251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650" y="6483350"/>
            <a:ext cx="887730" cy="1981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3429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4000"/>
              </a:lnSpc>
              <a:defRPr/>
            </a:pPr>
            <a:r>
              <a:rPr lang="en-US" b="fals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技术架构：大模型决策 + 本地计算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2895600"/>
            <a:ext cx="1905000" cy="12192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58800" y="3022600"/>
            <a:ext cx="15748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输入</a:t>
            </a: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结构化病历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监护波形 PPG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0" y="1016000"/>
            <a:ext cx="7112000" cy="1270000"/>
          </a:xfrm>
          <a:prstGeom prst="roundRect">
            <a:avLst>
              <a:gd name="adj" fmla="val 12000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794000" y="11684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应用层 · Agent 主循环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0" y="16256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自主拆解任务、调用工具、回填结果；8 轮对话安全阀兜底，防循环失控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2489200"/>
            <a:ext cx="7112000" cy="1778000"/>
          </a:xfrm>
          <a:prstGeom prst="roundRect">
            <a:avLst>
              <a:gd name="adj" fmla="val 8571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794000" y="26416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工具层 · Function Calling 工具链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794000" y="3098800"/>
            <a:ext cx="6604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① get_patient_record：病历查询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② analyze_waveform：PPG 波形峰值法计算心率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③ assess_asa_grade：ASA 分级规则引擎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540000" y="4470400"/>
            <a:ext cx="7112000" cy="1270000"/>
          </a:xfrm>
          <a:prstGeom prst="roundRect">
            <a:avLst>
              <a:gd name="adj" fmla="val 12000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794000" y="46228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数据模型层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794000" y="5080000"/>
            <a:ext cx="660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DeepSeek 生成三段式报告 · VitalDB 公开数据 · Python(scipy) 本地算数值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033000" y="2895600"/>
            <a:ext cx="1905000" cy="12192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210800" y="3022600"/>
            <a:ext cx="15748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三段式报告</a:t>
            </a: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风险评估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麻醉关注点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建议</a:t>
            </a:r>
          </a:p>
        </p:txBody>
      </p:sp>
      <p:cxnSp>
        <p:nvCxnSpPr>
          <p:cNvPr name="Connector 16" id="16"/>
          <p:cNvCxnSpPr/>
          <p:nvPr/>
        </p:nvCxnSpPr>
        <p:spPr>
          <a:xfrm rot="-171744" flipH="false" flipV="false">
            <a:off x="2286159" y="34988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7" id="17"/>
          <p:cNvCxnSpPr/>
          <p:nvPr/>
        </p:nvCxnSpPr>
        <p:spPr>
          <a:xfrm rot="5185419" flipH="false" flipV="false">
            <a:off x="5994400" y="23814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8" id="18"/>
          <p:cNvCxnSpPr/>
          <p:nvPr/>
        </p:nvCxnSpPr>
        <p:spPr>
          <a:xfrm rot="5185419" flipH="false" flipV="false">
            <a:off x="5994400" y="43626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9" id="19"/>
          <p:cNvCxnSpPr/>
          <p:nvPr/>
        </p:nvCxnSpPr>
        <p:spPr>
          <a:xfrm rot="-114549" flipH="false" flipV="false">
            <a:off x="9652106" y="34988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550" y="6477000"/>
            <a:ext cx="251460" cy="251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650" y="6483350"/>
            <a:ext cx="887730" cy="1981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3429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4000"/>
              </a:lnSpc>
              <a:defRPr/>
            </a:pPr>
            <a:r>
              <a:rPr lang="en-US" b="fals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真实运行效果：思考过程与三段式报告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24" r="124" t="0" b="0"/>
          <a:stretch>
            <a:fillRect/>
          </a:stretch>
        </p:blipFill>
        <p:spPr>
          <a:xfrm rot="0" flipH="false" flipV="false">
            <a:off x="635000" y="1117600"/>
            <a:ext cx="5334000" cy="2540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635000" y="37592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图1 · Agent 多轮思考与工具调用过程（含返回依据）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24" r="125" t="0" b="0"/>
          <a:stretch>
            <a:fillRect/>
          </a:stretch>
        </p:blipFill>
        <p:spPr>
          <a:xfrm rot="0" flipH="false" flipV="false">
            <a:off x="6223000" y="1117600"/>
            <a:ext cx="5334000" cy="2540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6223000" y="3759200"/>
            <a:ext cx="533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图2 · 三段式评估报告输出（风险评估 / 麻醉关注点 / 建议）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4368800"/>
            <a:ext cx="10922000" cy="1600200"/>
          </a:xfrm>
          <a:prstGeom prst="roundRect">
            <a:avLst>
              <a:gd name="adj" fmla="val 11111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89000" y="4572000"/>
            <a:ext cx="1041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演示方式：</a:t>
            </a: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命令行 + Streamlit 双入口，输入示范病历与 VitalDB 波形即可运行；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可追溯：</a:t>
            </a: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左侧展示思考与工具调用全过程，报告中的每项结论均附工具返回依据；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可复现：</a:t>
            </a: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完整代码、依赖与运行说明见 GitHub 仓库 README。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10369550" y="6477000"/>
            <a:ext cx="251460" cy="251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0661650" y="6483350"/>
            <a:ext cx="887730" cy="1981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3429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4000"/>
              </a:lnSpc>
              <a:defRPr/>
            </a:pPr>
            <a:r>
              <a:rPr lang="en-US" b="fals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 例批量评估：ASA 分级一致率 100%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89000" y="939800"/>
          <a:ext cx="10414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762000"/>
                <a:gridCol w="2540000"/>
                <a:gridCol w="2159000"/>
                <a:gridCol w="2159000"/>
                <a:gridCol w="889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病例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病情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规则引擎 ASA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ASA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高风险·冠心病老人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冠心病（高危）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III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III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低风险·健康中年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健康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边界·老年无基础病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无基础病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边界·中年轻度高血压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轻度高血压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II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危重·病情不稳定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病情不稳定（濒死）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V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D1D1A"/>
                          </a:solidFill>
                          <a:latin typeface="DengXian"/>
                          <a:ea typeface="DengXian"/>
                          <a:cs typeface="DengXian"/>
                          <a:sym typeface="DengXian"/>
                        </a:rPr>
                        <a:t>V 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889000" y="4876800"/>
            <a:ext cx="3429000" cy="914400"/>
          </a:xfrm>
          <a:prstGeom prst="roundRect">
            <a:avLst>
              <a:gd name="adj" fmla="val 16666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92200" y="5003800"/>
            <a:ext cx="304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 ASA 分级一致率（5/5）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0" y="4876800"/>
            <a:ext cx="3429000" cy="914400"/>
          </a:xfrm>
          <a:prstGeom prst="roundRect">
            <a:avLst>
              <a:gd name="adj" fmla="val 16666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775200" y="5003800"/>
            <a:ext cx="304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 工具调用顺序正确率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55000" y="4876800"/>
            <a:ext cx="3429000" cy="914400"/>
          </a:xfrm>
          <a:prstGeom prst="roundRect">
            <a:avLst>
              <a:gd name="adj" fmla="val 16666"/>
            </a:avLst>
          </a:prstGeom>
          <a:solidFill>
            <a:srgbClr val="0070C0">
              <a:alpha val="8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458200" y="5003800"/>
            <a:ext cx="304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5.7 次/分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 心率算法误差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" y="5994400"/>
            <a:ext cx="1041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口径说明：心率误差为基于 VitalDB 示范波形（waveform_120s.csv）的算法心率与监护仪参考心率对照值（算法 88.0 vs 监护仪 82.3）。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550" y="6477000"/>
            <a:ext cx="251460" cy="251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650" y="6483350"/>
            <a:ext cx="887730" cy="1981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3429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4000"/>
              </a:lnSpc>
              <a:defRPr/>
            </a:pPr>
            <a:r>
              <a:rPr lang="en-US" b="fals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DEMO 阶段规划：从创意走向可运行作品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965200"/>
            <a:ext cx="3556000" cy="1930400"/>
          </a:xfrm>
          <a:prstGeom prst="roundRect">
            <a:avLst>
              <a:gd name="adj" fmla="val 9210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14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数据与验证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600200"/>
            <a:ext cx="3048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扩展 VitalDB 多案例与真实脱敏病历；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补充 ASA II / IV 边界案例，提升分级泛化能力。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18000" y="965200"/>
            <a:ext cx="3556000" cy="1930400"/>
          </a:xfrm>
          <a:prstGeom prst="roundRect">
            <a:avLst>
              <a:gd name="adj" fmla="val 9210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572000" y="114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标准与生态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572000" y="1600200"/>
            <a:ext cx="3048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对接 FHIR / EMR 结构化病历，贴近真实临床流程；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接入 openJiuwen / WorkSwarm 生态，深化技术方案。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965200"/>
            <a:ext cx="3556000" cy="1930400"/>
          </a:xfrm>
          <a:prstGeom prst="roundRect">
            <a:avLst>
              <a:gd name="adj" fmla="val 9210"/>
            </a:avLst>
          </a:prstGeom>
          <a:solidFill>
            <a:srgbClr val="0070C0">
              <a:alpha val="6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382000" y="1143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70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部署与交付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382000" y="1600200"/>
            <a:ext cx="3048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Streamlit Cloud 公网部署，答辩可直接点开演示；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产出 3 分钟演示视频与完整技术报告。</a:t>
            </a:r>
          </a:p>
        </p:txBody>
      </p:sp>
      <p:cxnSp>
        <p:nvCxnSpPr>
          <p:cNvPr name="Connector 12" id="12"/>
          <p:cNvCxnSpPr/>
          <p:nvPr/>
        </p:nvCxnSpPr>
        <p:spPr>
          <a:xfrm rot="-3997" flipH="false" flipV="false">
            <a:off x="635004" y="34988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F6F6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66800" y="3429000"/>
            <a:ext cx="152400" cy="152400"/>
          </a:xfrm>
          <a:prstGeom prst="ellipse">
            <a:avLst/>
          </a:prstGeom>
          <a:solidFill>
            <a:srgbClr val="0070C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87800" y="3429000"/>
            <a:ext cx="152400" cy="152400"/>
          </a:xfrm>
          <a:prstGeom prst="ellipse">
            <a:avLst/>
          </a:prstGeom>
          <a:solidFill>
            <a:srgbClr val="0070C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08800" y="3429000"/>
            <a:ext cx="152400" cy="152400"/>
          </a:xfrm>
          <a:prstGeom prst="ellipse">
            <a:avLst/>
          </a:prstGeom>
          <a:solidFill>
            <a:srgbClr val="0070C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829800" y="3429000"/>
            <a:ext cx="152400" cy="152400"/>
          </a:xfrm>
          <a:prstGeom prst="ellipse">
            <a:avLst/>
          </a:prstGeom>
          <a:solidFill>
            <a:srgbClr val="0070C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08000" y="3708400"/>
            <a:ext cx="241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11/15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创意评审截止</a:t>
            </a:r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3429000" y="3708400"/>
            <a:ext cx="241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12/27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DEMO 提交截止</a:t>
            </a:r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350000" y="3708400"/>
            <a:ext cx="241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12/28—31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DEMO 评审</a:t>
            </a: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271000" y="3708400"/>
            <a:ext cx="241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2027.1</a:t>
            </a: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1D1D1A"/>
                </a:solidFill>
                <a:latin typeface="Noto Sans SC"/>
                <a:ea typeface="Noto Sans SC"/>
                <a:cs typeface="Noto Sans SC"/>
                <a:sym typeface="Noto Sans SC"/>
              </a:rPr>
              <a:t>决赛线上路演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4521200"/>
            <a:ext cx="11176000" cy="1473200"/>
          </a:xfrm>
          <a:prstGeom prst="roundRect">
            <a:avLst>
              <a:gd name="adj" fmla="val 1206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7171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62000" y="4724400"/>
            <a:ext cx="106680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当前进展（创意阶段已齐备）：</a:t>
            </a: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· Demo 已跑通：命令行 + Streamlit 双入口，GitHub 开源可复现；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· 评估证据已就绪：5 例批量测试，ASA 分级一致率 100%、工具调用顺序正确率 100%；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· 技术方案完整：三层架构 + 三工具链 + 8 轮安全阀，数据来源与参考文献已声明。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550" y="6477000"/>
            <a:ext cx="251460" cy="251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650" y="6483350"/>
            <a:ext cx="887730" cy="1981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369233" y="6477212"/>
            <a:ext cx="252000" cy="252000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1216" y="6483431"/>
            <a:ext cx="888325" cy="198000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208460" y="284781"/>
            <a:ext cx="10736446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marL="0" indent="0" defTabSz="1186815">
              <a:lnSpc>
                <a:spcPts val="3429"/>
              </a:lnSpc>
              <a:defRPr/>
            </a:pPr>
            <a:r>
              <a:rPr lang="en-US" b="true" i="false" strike="noStrike" u="none" sz="32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DEMO或示意图（可选，有更好）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" y="1524000"/>
            <a:ext cx="1473200" cy="914400"/>
          </a:xfrm>
          <a:prstGeom prst="roundRect">
            <a:avLst>
              <a:gd name="adj" fmla="val 13888"/>
            </a:avLst>
          </a:prstGeom>
          <a:solidFill>
            <a:srgbClr val="C00000">
              <a:alpha val="5000"/>
            </a:srgbClr>
          </a:solidFill>
          <a:ln w="12700" cmpd="sng" cap="flat">
            <a:solidFill>
              <a:srgbClr val="C00000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输入</a:t>
            </a: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结构化病历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监护波形 PPG</a:t>
            </a:r>
          </a:p>
        </p:txBody>
      </p:sp>
      <p:cxnSp>
        <p:nvCxnSpPr>
          <p:cNvPr name="Connector 6" id="6"/>
          <p:cNvCxnSpPr/>
          <p:nvPr/>
        </p:nvCxnSpPr>
        <p:spPr>
          <a:xfrm rot="-171743" flipH="false" flipV="false">
            <a:off x="1752759" y="19748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00000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2032000" y="1397000"/>
            <a:ext cx="1879600" cy="1168400"/>
          </a:xfrm>
          <a:prstGeom prst="roundRect">
            <a:avLst>
              <a:gd name="adj" fmla="val 10869"/>
            </a:avLst>
          </a:prstGeom>
          <a:solidFill>
            <a:srgbClr val="C00000">
              <a:alpha val="5000"/>
            </a:srgbClr>
          </a:solidFill>
          <a:ln w="12700" cmpd="sng" cap="flat">
            <a:solidFill>
              <a:srgbClr val="C00000">
                <a:alpha val="55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Agent 工具链</a:t>
            </a: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① 查病历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② 波形心率检测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③ ASA 规则分级</a:t>
            </a:r>
          </a:p>
        </p:txBody>
      </p:sp>
      <p:cxnSp>
        <p:nvCxnSpPr>
          <p:cNvPr name="Connector 8" id="8"/>
          <p:cNvCxnSpPr/>
          <p:nvPr/>
        </p:nvCxnSpPr>
        <p:spPr>
          <a:xfrm rot="-171743" flipH="false" flipV="false">
            <a:off x="3937159" y="19748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00000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216400" y="1473200"/>
            <a:ext cx="1473200" cy="1016000"/>
          </a:xfrm>
          <a:prstGeom prst="roundRect">
            <a:avLst>
              <a:gd name="adj" fmla="val 12500"/>
            </a:avLst>
          </a:prstGeom>
          <a:solidFill>
            <a:srgbClr val="C00000">
              <a:alpha val="100000"/>
            </a:srgbClr>
          </a:solidFill>
          <a:ln w="12700" cmpd="sng" cap="flat">
            <a:solidFill>
              <a:srgbClr val="C000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三段式报告</a:t>
            </a: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>风险评估</a:t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>麻醉关注点</a:t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DengXian"/>
                <a:ea typeface="DengXian"/>
                <a:cs typeface="DengXian"/>
                <a:sym typeface="DengXian"/>
              </a:rPr>
              <a:t>建议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54000" y="28956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DengXian"/>
                <a:ea typeface="DengXian"/>
                <a:cs typeface="DengXian"/>
                <a:sym typeface="DengXian"/>
              </a:rPr>
              <a:t>PeriRisk Agent 评估链路示意（输入 → 报告生成）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1206500"/>
            <a:ext cx="5778500" cy="4064000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触发时机：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麻醉医生术前评估环节，医生下达评估任务后 Agent 自主执行</a:t>
            </a:r>
            <a:endParaRPr lang="en-US" sz="1100"/>
          </a:p>
          <a:p>
            <a:pPr algn="l" marL="0" indent="0" defTabSz="91440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输入输出：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输入结构化病历 + 监护波形；输出 ASA 风险分级与三段式评估报告（附工具返回依据）</a:t>
            </a:r>
          </a:p>
          <a:p>
            <a:pPr algn="l" marL="0" indent="0" defTabSz="91440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关键路径：</a:t>
            </a:r>
            <a:r>
              <a:rPr lang="en-US" b="false" i="false" strike="noStrike" u="none" sz="1600">
                <a:solidFill>
                  <a:srgbClr val="1D1D1A"/>
                </a:solidFill>
                <a:latin typeface="DengXian"/>
                <a:ea typeface="DengXian"/>
                <a:cs typeface="DengXian"/>
                <a:sym typeface="DengXian"/>
              </a:rPr>
              <a:t>查病历 → 波形心率检测 → ASA 规则分级 → 信息集齐生成报告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2386662"/>
            <a:ext cx="12192000" cy="2084676"/>
          </a:xfrm>
          <a:prstGeom prst="rect">
            <a:avLst/>
          </a:prstGeom>
          <a:ln w="127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556906" y="2856476"/>
            <a:ext cx="3919502" cy="830868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vert="horz" wrap="none" lIns="91440" rIns="91440" tIns="45720" bIns="45720">
            <a:noAutofit/>
          </a:bodyPr>
          <a:lstStyle/>
          <a:p>
            <a:pPr algn="l" marL="0" indent="0" defTabSz="913765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75CFE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8000" y="6318250"/>
            <a:ext cx="1524000" cy="5397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6_章节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End pag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