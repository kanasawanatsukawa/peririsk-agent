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14" Target="slides/slide4.xml" Type="http://schemas.openxmlformats.org/officeDocument/2006/relationships/slide"/><Relationship Id="rId15" Target="slides/slide5.xml" Type="http://schemas.openxmlformats.org/officeDocument/2006/relationships/slide"/><Relationship Id="rId16" Target="notesSlides/notesSlide1.xml" Type="http://schemas.openxmlformats.org/officeDocument/2006/relationships/notesSlide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各位评委好，我的作品是围术期风险评估助手 Agent，简称 PeriRisk Agent，是一个面向麻醉科医生的术前风险评估智能体。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我来自深圳技术大学生物医学工程专业，这个作品是医工交叉方向的一次实践。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感谢各位评委的聆听，欢迎对我的 PeriRisk Agent 创意提出意见，谢谢。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0667" b="11080"/>
          <a:stretch>
            <a:fillRect/>
          </a:stretch>
        </p:blipFill>
        <p:spPr>
          <a:xfrm rot="0" flipH="false" flipV="false">
            <a:off x="0" y="731519"/>
            <a:ext cx="12192000" cy="536658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" type="body" sz="quarter" hasCustomPrompt="true"/>
          </p:nvPr>
        </p:nvSpPr>
        <p:spPr>
          <a:xfrm rot="0" flipH="false" flipV="false">
            <a:off x="266700" y="2396357"/>
            <a:ext cx="6629400" cy="1674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4" id="4"/>
          <p:cNvSpPr/>
          <p:nvPr>
            <p:ph idx="2" type="body" sz="quarter" hasCustomPrompt="true"/>
          </p:nvPr>
        </p:nvSpPr>
        <p:spPr>
          <a:xfrm rot="0" flipH="false" flipV="false">
            <a:off x="266700" y="4761189"/>
            <a:ext cx="4488180" cy="7993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页">
    <p:bg>
      <p:bgPr>
        <a:solidFill>
          <a:srgbClr val="EBE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1033217" y="1843091"/>
            <a:ext cx="10118107" cy="3013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90000" bIns="90000">
            <a:noAutofit/>
          </a:bodyPr>
          <a:lstStyle>
            <a:lvl1pPr algn="l" defTabSz="1186815" marL="692150" indent="-279400">
              <a:lnSpc>
                <a:spcPct val="66666"/>
              </a:lnSpc>
              <a:defRPr sz="2200" b="false" i="false" u="none" strike="noStrike" spc="0">
                <a:solidFill>
                  <a:srgbClr val="1D1D1A">
                    <a:alpha val="100000"/>
                  </a:srgbClr>
                </a:solidFill>
                <a:latin typeface="微软雅黑"/>
              </a:defRPr>
            </a:lvl1pPr>
            <a:lvl2pPr marL="1149350" indent="-279400"/>
            <a:lvl3pPr marL="1606550" indent="-279400"/>
            <a:lvl4pPr marL="2063750" indent="-279400"/>
            <a:lvl5pPr marL="2520950" indent="-279400"/>
            <a:lvl6pPr marL="2978150" indent="-279400"/>
            <a:lvl7pPr marL="3435350" indent="-279400"/>
            <a:lvl8pPr marL="3892550" indent="-279400"/>
            <a:lvl9pPr marL="4349750" indent="-279400"/>
          </a:lstStyle>
          <a:p>
            <a:pPr algn="l" indent="-398780" marL="412750" defTabSz="1186815">
              <a:lnSpc>
                <a:spcPct val="66666"/>
              </a:lnSpc>
              <a:spcBef>
                <a:spcPts val="1300"/>
              </a:spcBef>
              <a:buClr>
                <a:srgbClr val="1D1D1A"/>
              </a:buClr>
              <a:buFont typeface="+mj-lt"/>
              <a:buAutoNum type="arabicPeriod" startAt="1"/>
            </a:pPr>
            <a:r>
              <a:rPr lang="en-US" b="false" i="false" strike="noStrike" u="none" sz="22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单击此处添加文本</a:t>
            </a:r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1029516" y="1349255"/>
            <a:ext cx="885621" cy="0"/>
          </a:xfrm>
          <a:prstGeom prst="line">
            <a:avLst/>
          </a:prstGeom>
          <a:noFill/>
          <a:ln w="25400" cap="flat">
            <a:solidFill>
              <a:srgbClr val="C7000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918559" y="630376"/>
            <a:ext cx="1147037" cy="6535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36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 hasCustomPrompt="true"/>
          </p:nvPr>
        </p:nvSpPr>
        <p:spPr>
          <a:xfrm rot="0" flipH="false" flipV="false">
            <a:off x="728890" y="456134"/>
            <a:ext cx="10736446" cy="99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 defTabSz="1186815">
              <a:lnSpc>
                <a:spcPts val="3429"/>
              </a:lnSpc>
              <a:defRPr sz="2400" b="false" i="false" u="none" strike="noStrike" spc="0">
                <a:solidFill>
                  <a:srgbClr val="1D1D1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 defTabSz="1186815">
              <a:lnSpc>
                <a:spcPts val="3429"/>
              </a:lnSpc>
            </a:pPr>
            <a:r>
              <a:rPr lang="en-US" b="false" i="false" strike="noStrike" u="none" sz="24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5" type="body" sz="quarter" hasCustomPrompt="true"/>
          </p:nvPr>
        </p:nvSpPr>
        <p:spPr>
          <a:xfrm rot="0" flipH="false" flipV="false">
            <a:off x="736622" y="1501993"/>
            <a:ext cx="10729364" cy="46904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defTabSz="1186815">
              <a:lnSpc>
                <a:spcPct val="100000"/>
              </a:lnSpc>
              <a:tabLst>
                <a:tab pos="1205865" algn="ctr"/>
              </a:tabLst>
              <a:defRPr sz="1800" b="false" i="false" u="none" strike="noStrike" spc="0">
                <a:solidFill>
                  <a:srgbClr val="1D1D1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12065" indent="0" defTabSz="1186815">
              <a:lnSpc>
                <a:spcPct val="100000"/>
              </a:lnSpc>
              <a:tabLst>
                <a:tab pos="1205865" algn="ctr"/>
              </a:tabLst>
            </a:pPr>
            <a:r>
              <a:rPr lang="en-US" b="false" i="false" strike="noStrike" u="none" sz="18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208460" y="284781"/>
            <a:ext cx="10736446" cy="375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defTabSz="1186815">
              <a:lnSpc>
                <a:spcPts val="3429"/>
              </a:lnSpc>
              <a:defRPr sz="3200" b="true" i="false" u="none" strike="noStrike" spc="0">
                <a:solidFill>
                  <a:srgbClr val="C0000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l" marL="0" indent="0" defTabSz="1186815">
              <a:lnSpc>
                <a:spcPts val="3429"/>
              </a:lnSpc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单击此处添加标题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" type="body" sz="quarter" hasCustomPrompt="true"/>
          </p:nvPr>
        </p:nvSpPr>
        <p:spPr>
          <a:xfrm rot="0" flipH="false" flipV="false"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 defTabSz="1186815">
              <a:lnSpc>
                <a:spcPct val="91666"/>
              </a:lnSpc>
              <a:defRPr sz="6000" b="false" i="false" u="none" strike="noStrike" spc="0">
                <a:solidFill>
                  <a:srgbClr val="1D1D1A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1186815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1D1D1A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xfrm rot="0" flipH="false" flipV="false"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 defTabSz="1186815">
              <a:lnSpc>
                <a:spcPct val="91666"/>
              </a:lnSpc>
              <a:defRPr sz="2400" b="false" i="false" u="none" strike="noStrike" spc="0">
                <a:solidFill>
                  <a:srgbClr val="1D1D1A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1186815">
              <a:lnSpc>
                <a:spcPct val="91666"/>
              </a:lnSpc>
              <a:spcBef>
                <a:spcPts val="1300"/>
              </a:spcBef>
            </a:pPr>
            <a:r>
              <a:rPr lang="en-US" b="false" i="false" strike="noStrike" u="none" sz="24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9" type="body" sz="quarter" hasCustomPrompt="true"/>
          </p:nvPr>
        </p:nvSpPr>
        <p:spPr>
          <a:xfrm rot="0" flipH="false" flipV="false"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1186815">
              <a:lnSpc>
                <a:spcPct val="100000"/>
              </a:lnSpc>
              <a:defRPr sz="2340" b="false" i="false" u="none" strike="noStrike" spc="0">
                <a:solidFill>
                  <a:srgbClr val="1D1D1A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1186815">
              <a:lnSpc>
                <a:spcPct val="100000"/>
              </a:lnSpc>
            </a:pPr>
            <a:r>
              <a:rPr lang="en-US" b="false" i="false" strike="noStrike" u="none" sz="2339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2026/9/9</a:t>
            </a:r>
          </a:p>
        </p:txBody>
      </p:sp>
      <p:sp>
        <p:nvSpPr>
          <p:cNvPr name="AutoShape 5" id="5"/>
          <p:cNvSpPr/>
          <p:nvPr>
            <p:ph idx="10" type="body" sz="quarter" hasCustomPrompt="true"/>
          </p:nvPr>
        </p:nvSpPr>
        <p:spPr>
          <a:xfrm rot="0" flipH="false" flipV="false"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1186815">
              <a:lnSpc>
                <a:spcPct val="100000"/>
              </a:lnSpc>
              <a:defRPr sz="234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1186815">
              <a:lnSpc>
                <a:spcPct val="100000"/>
              </a:lnSpc>
            </a:pPr>
            <a:r>
              <a:rPr lang="en-US" b="false" i="false" strike="noStrike" u="none" sz="2339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1" type="body" sz="quarter" hasCustomPrompt="true"/>
          </p:nvPr>
        </p:nvSpPr>
        <p:spPr>
          <a:xfrm rot="0" flipH="false" flipV="false"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1186815">
              <a:lnSpc>
                <a:spcPct val="100000"/>
              </a:lnSpc>
              <a:defRPr sz="2340" b="false" i="false" u="none" strike="noStrike" spc="0">
                <a:solidFill>
                  <a:srgbClr val="1D1D1A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1186815">
              <a:lnSpc>
                <a:spcPct val="100000"/>
              </a:lnSpc>
            </a:pPr>
            <a:fld type="slidenum" id="{4316C6BF-A956-47C0-8D26-CC5823030237}">
              <a:rPr b="false" i="false" strike="noStrike" u="none" sz="2339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56906" y="2856476"/>
            <a:ext cx="3919502" cy="8308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3765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75CFE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lang="en-US"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2" Target="../media/image4.jpeg" Type="http://schemas.openxmlformats.org/officeDocument/2006/relationships/image"/><Relationship Id="rId3" Target="../slideLayouts/slideLayout1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6_章节页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 txBox="true"/>
          <p:nvPr/>
        </p:nvSpPr>
        <p:spPr>
          <a:xfrm rot="0" flipH="false" flipV="false">
            <a:off x="733845" y="6526023"/>
            <a:ext cx="499534" cy="1384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890270">
              <a:lnSpc>
                <a:spcPct val="100000"/>
              </a:lnSpc>
              <a:defRPr/>
            </a:pPr>
            <a:fld type="slidenum" id="{2607FFCE-FC26-4C76-970A-CAF75C4B0E27}">
              <a:rPr b="false" i="false" strike="noStrike" u="none" sz="9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12285671" y="2625392"/>
            <a:ext cx="1967204" cy="4233515"/>
            <a:chOff x="12285671" y="2625392"/>
            <a:chExt cx="1967204" cy="4233515"/>
          </a:xfrm>
        </p:grpSpPr>
        <p:sp>
          <p:nvSpPr>
            <p:cNvPr name="AutoShape 3" id="3"/>
            <p:cNvSpPr/>
            <p:nvPr/>
          </p:nvSpPr>
          <p:spPr>
            <a:xfrm rot="0" flipH="false" flipV="false">
              <a:off x="12293197" y="3818350"/>
              <a:ext cx="475974" cy="399691"/>
            </a:xfrm>
            <a:prstGeom prst="rect">
              <a:avLst/>
            </a:prstGeom>
            <a:solidFill>
              <a:srgbClr val="C4005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196/0/84</a:t>
              </a:r>
              <a:endParaRPr lang="en-US" sz="1100"/>
            </a:p>
          </p:txBody>
        </p:sp>
        <p:sp>
          <p:nvSpPr>
            <p:cNvPr name="AutoShape 4" id="4"/>
            <p:cNvSpPr txBox="true"/>
            <p:nvPr/>
          </p:nvSpPr>
          <p:spPr>
            <a:xfrm rot="0" flipH="false" flipV="false">
              <a:off x="12290986" y="3674166"/>
              <a:ext cx="633009" cy="1231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b" rtlCol="false" wrap="square" lIns="0" rIns="0" tIns="0" bIns="0">
              <a:spAutoFit/>
            </a:bodyPr>
            <a:lstStyle/>
            <a:p>
              <a:pPr algn="l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800">
                  <a:solidFill>
                    <a:srgbClr val="1D1D1A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公司辅助色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2791283" y="3818350"/>
              <a:ext cx="475974" cy="399691"/>
            </a:xfrm>
            <a:prstGeom prst="rect">
              <a:avLst/>
            </a:prstGeom>
            <a:solidFill>
              <a:srgbClr val="CB377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203/55/120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2293197" y="4702011"/>
              <a:ext cx="475974" cy="399691"/>
            </a:xfrm>
            <a:prstGeom prst="rect">
              <a:avLst/>
            </a:prstGeom>
            <a:solidFill>
              <a:srgbClr val="ED6D00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237/109/0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2791283" y="4263034"/>
              <a:ext cx="475974" cy="399691"/>
            </a:xfrm>
            <a:prstGeom prst="rect">
              <a:avLst/>
            </a:prstGeom>
            <a:solidFill>
              <a:srgbClr val="993636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3765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153/54/54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12293197" y="5582370"/>
              <a:ext cx="475974" cy="399691"/>
            </a:xfrm>
            <a:prstGeom prst="rect">
              <a:avLst/>
            </a:prstGeom>
            <a:solidFill>
              <a:srgbClr val="62B230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98/178/48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12791283" y="4709705"/>
              <a:ext cx="475974" cy="399691"/>
            </a:xfrm>
            <a:prstGeom prst="rect">
              <a:avLst/>
            </a:prstGeom>
            <a:solidFill>
              <a:srgbClr val="F2894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242/137/68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12291297" y="2766054"/>
              <a:ext cx="475974" cy="399691"/>
            </a:xfrm>
            <a:prstGeom prst="rect">
              <a:avLst/>
            </a:prstGeom>
            <a:solidFill>
              <a:srgbClr val="C7000B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PANTONE 185C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199/0/11  </a:t>
              </a:r>
            </a:p>
          </p:txBody>
        </p:sp>
        <p:sp>
          <p:nvSpPr>
            <p:cNvPr name="AutoShape 12" id="12"/>
            <p:cNvSpPr txBox="true"/>
            <p:nvPr/>
          </p:nvSpPr>
          <p:spPr>
            <a:xfrm rot="0" flipH="false" flipV="false">
              <a:off x="12285671" y="2625392"/>
              <a:ext cx="436873" cy="1231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b" rtlCol="false" wrap="square" lIns="0" rIns="0" tIns="0" bIns="0">
              <a:spAutoFit/>
            </a:bodyPr>
            <a:lstStyle/>
            <a:p>
              <a:pPr algn="l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800">
                  <a:solidFill>
                    <a:srgbClr val="1D1D1A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公司色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2290912" y="3207066"/>
              <a:ext cx="475974" cy="399691"/>
            </a:xfrm>
            <a:prstGeom prst="rect">
              <a:avLst/>
            </a:prstGeom>
            <a:solidFill>
              <a:srgbClr val="C8102E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PANTONE 186C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200/16/46  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2291852" y="4258591"/>
              <a:ext cx="475974" cy="399691"/>
            </a:xfrm>
            <a:prstGeom prst="rect">
              <a:avLst/>
            </a:prstGeom>
            <a:solidFill>
              <a:srgbClr val="7F000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127/0/1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2291852" y="5142253"/>
              <a:ext cx="475974" cy="399691"/>
            </a:xfrm>
            <a:prstGeom prst="rect">
              <a:avLst/>
            </a:prstGeom>
            <a:solidFill>
              <a:srgbClr val="FCC800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52/200/0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12291852" y="6021348"/>
              <a:ext cx="475974" cy="399691"/>
            </a:xfrm>
            <a:prstGeom prst="rect">
              <a:avLst/>
            </a:prstGeom>
            <a:solidFill>
              <a:srgbClr val="30B5C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48/181/197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2791200" y="5582370"/>
              <a:ext cx="475974" cy="399691"/>
            </a:xfrm>
            <a:prstGeom prst="rect">
              <a:avLst/>
            </a:prstGeom>
            <a:solidFill>
              <a:srgbClr val="81C15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129/193/95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2789856" y="5142253"/>
              <a:ext cx="475974" cy="399691"/>
            </a:xfrm>
            <a:prstGeom prst="rect">
              <a:avLst/>
            </a:prstGeom>
            <a:solidFill>
              <a:srgbClr val="FDD35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253/211/81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2786859" y="6021348"/>
              <a:ext cx="475974" cy="399691"/>
            </a:xfrm>
            <a:prstGeom prst="rect">
              <a:avLst/>
            </a:prstGeom>
            <a:solidFill>
              <a:srgbClr val="56C4D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86/196/210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2792224" y="2766054"/>
              <a:ext cx="475974" cy="399691"/>
            </a:xfrm>
            <a:prstGeom prst="rect">
              <a:avLst/>
            </a:prstGeom>
            <a:solidFill>
              <a:srgbClr val="D3394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211/57/65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2791838" y="3207066"/>
              <a:ext cx="475974" cy="399691"/>
            </a:xfrm>
            <a:prstGeom prst="rect">
              <a:avLst/>
            </a:prstGeom>
            <a:solidFill>
              <a:srgbClr val="D33859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211/56/89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3279327" y="3818350"/>
              <a:ext cx="475974" cy="399691"/>
            </a:xfrm>
            <a:prstGeom prst="rect">
              <a:avLst/>
            </a:prstGeom>
            <a:solidFill>
              <a:srgbClr val="DD80AA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221/128/170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3279327" y="4263034"/>
              <a:ext cx="475974" cy="399691"/>
            </a:xfrm>
            <a:prstGeom prst="rect">
              <a:avLst/>
            </a:prstGeom>
            <a:solidFill>
              <a:srgbClr val="BF808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3765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191/128/130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13279327" y="4709705"/>
              <a:ext cx="475974" cy="399691"/>
            </a:xfrm>
            <a:prstGeom prst="rect">
              <a:avLst/>
            </a:prstGeom>
            <a:solidFill>
              <a:srgbClr val="F6B78C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246/183/140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3285239" y="5582370"/>
              <a:ext cx="475974" cy="399691"/>
            </a:xfrm>
            <a:prstGeom prst="rect">
              <a:avLst/>
            </a:prstGeom>
            <a:solidFill>
              <a:srgbClr val="AFD89C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176/216/156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13283894" y="5142253"/>
              <a:ext cx="475974" cy="399691"/>
            </a:xfrm>
            <a:prstGeom prst="rect">
              <a:avLst/>
            </a:prstGeom>
            <a:solidFill>
              <a:srgbClr val="FDE39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253/227/181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3283894" y="6021348"/>
              <a:ext cx="475974" cy="399691"/>
            </a:xfrm>
            <a:prstGeom prst="rect">
              <a:avLst/>
            </a:prstGeom>
            <a:solidFill>
              <a:srgbClr val="94DAE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148/218/226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13280267" y="2766054"/>
              <a:ext cx="475974" cy="399691"/>
            </a:xfrm>
            <a:prstGeom prst="rect">
              <a:avLst/>
            </a:prstGeom>
            <a:solidFill>
              <a:srgbClr val="E28189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226/129/137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13279882" y="3207066"/>
              <a:ext cx="475974" cy="399691"/>
            </a:xfrm>
            <a:prstGeom prst="rect">
              <a:avLst/>
            </a:prstGeom>
            <a:solidFill>
              <a:srgbClr val="E2819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226/129/152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13766341" y="3818350"/>
              <a:ext cx="475974" cy="399691"/>
            </a:xfrm>
            <a:prstGeom prst="rect">
              <a:avLst/>
            </a:prstGeom>
            <a:solidFill>
              <a:srgbClr val="EBB3CC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235/179/204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13766341" y="4263034"/>
              <a:ext cx="475974" cy="399691"/>
            </a:xfrm>
            <a:prstGeom prst="rect">
              <a:avLst/>
            </a:prstGeom>
            <a:solidFill>
              <a:srgbClr val="D8B3B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3765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216/179/179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13769338" y="4709705"/>
              <a:ext cx="475974" cy="399691"/>
            </a:xfrm>
            <a:prstGeom prst="rect">
              <a:avLst/>
            </a:prstGeom>
            <a:solidFill>
              <a:srgbClr val="FAD3BB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250/211/187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13775250" y="5582370"/>
              <a:ext cx="475974" cy="399691"/>
            </a:xfrm>
            <a:prstGeom prst="rect">
              <a:avLst/>
            </a:prstGeom>
            <a:solidFill>
              <a:srgbClr val="D0E8C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208/232/196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13773904" y="5142253"/>
              <a:ext cx="475974" cy="399691"/>
            </a:xfrm>
            <a:prstGeom prst="rect">
              <a:avLst/>
            </a:prstGeom>
            <a:solidFill>
              <a:srgbClr val="FEEEC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254/238/193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13776901" y="6021348"/>
              <a:ext cx="475974" cy="399691"/>
            </a:xfrm>
            <a:prstGeom prst="rect">
              <a:avLst/>
            </a:prstGeom>
            <a:solidFill>
              <a:srgbClr val="BEE9EE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190/233/238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13767281" y="2766054"/>
              <a:ext cx="475974" cy="399691"/>
            </a:xfrm>
            <a:prstGeom prst="rect">
              <a:avLst/>
            </a:prstGeom>
            <a:solidFill>
              <a:srgbClr val="EEB3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239/178/184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13766896" y="3207066"/>
              <a:ext cx="475974" cy="399691"/>
            </a:xfrm>
            <a:prstGeom prst="rect">
              <a:avLst/>
            </a:prstGeom>
            <a:solidFill>
              <a:srgbClr val="EEB3C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238/179/193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12291855" y="6459216"/>
              <a:ext cx="308840" cy="399691"/>
            </a:xfrm>
            <a:prstGeom prst="rect">
              <a:avLst/>
            </a:prstGeom>
            <a:solidFill>
              <a:srgbClr val="22181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0/0/0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12620467" y="6459216"/>
              <a:ext cx="308840" cy="399691"/>
            </a:xfrm>
            <a:prstGeom prst="rect">
              <a:avLst/>
            </a:prstGeom>
            <a:solidFill>
              <a:srgbClr val="59575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89/87/87</a:t>
              </a:r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12948027" y="6459216"/>
              <a:ext cx="308840" cy="399691"/>
            </a:xfrm>
            <a:prstGeom prst="rect">
              <a:avLst/>
            </a:prstGeom>
            <a:solidFill>
              <a:srgbClr val="88888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137/137/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137</a:t>
              </a:r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13283547" y="6459216"/>
              <a:ext cx="308840" cy="399691"/>
            </a:xfrm>
            <a:prstGeom prst="rect">
              <a:avLst/>
            </a:prstGeom>
            <a:solidFill>
              <a:srgbClr val="B5B5B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181/181/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181</a:t>
              </a:r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13613247" y="6459216"/>
              <a:ext cx="308840" cy="399691"/>
            </a:xfrm>
            <a:prstGeom prst="rect">
              <a:avLst/>
            </a:prstGeom>
            <a:solidFill>
              <a:srgbClr val="DDDDD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221/221/</a:t>
              </a:r>
              <a:b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221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13942193" y="6459216"/>
              <a:ext cx="308840" cy="3996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solidFill>
                <a:srgbClr val="B5B5B5">
                  <a:alpha val="100000"/>
                </a:srgbClr>
              </a:solidFill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255/255/</a:t>
              </a:r>
              <a:b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255</a:t>
              </a:r>
            </a:p>
          </p:txBody>
        </p:sp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01" r:id="rId4"/>
    <p:sldLayoutId id="2157483702" r:id="rId5"/>
    <p:sldLayoutId id="2157483703" r:id="rId6"/>
    <p:sldLayoutId id="215748370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End pag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2386662"/>
            <a:ext cx="12192000" cy="208467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" id="2"/>
          <p:cNvSpPr/>
          <p:nvPr>
            <p:ph idx="12" type="body" sz="quarter" hasCustomPrompt="true"/>
          </p:nvPr>
        </p:nvSpPr>
        <p:spPr>
          <a:xfrm rot="0" flipH="false" flipV="false">
            <a:off x="602479" y="2386662"/>
            <a:ext cx="3982676" cy="20846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1186815">
              <a:lnSpc>
                <a:spcPct val="91666"/>
              </a:lnSpc>
              <a:defRPr sz="4400" b="false" i="false" u="none" strike="noStrike" spc="0">
                <a:solidFill>
                  <a:srgbClr val="1D1D1A">
                    <a:alpha val="100000"/>
                  </a:srgbClr>
                </a:solidFill>
                <a:latin typeface="Arial"/>
              </a:defRPr>
            </a:lvl1pPr>
          </a:lstStyle>
          <a:p>
            <a:pPr algn="l" marL="0" indent="0" defTabSz="1186815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5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0667" b="11080"/>
          <a:stretch>
            <a:fillRect/>
          </a:stretch>
        </p:blipFill>
        <p:spPr>
          <a:xfrm rot="0" flipH="false" flipV="false">
            <a:off x="0" y="731519"/>
            <a:ext cx="12192000" cy="5366583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266700" y="2396357"/>
            <a:ext cx="6629400" cy="167485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围术期风险评估助手 Agent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66700" y="4761189"/>
            <a:ext cx="4488180" cy="79931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PeriRisk Agent · 参赛作品</a:t>
            </a:r>
            <a:endParaRPr lang="en-US" sz="1100"/>
          </a:p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深圳技术大学 · 生物医学工程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345362" y="249186"/>
            <a:ext cx="10736446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1187323">
              <a:lnSpc>
                <a:spcPts val="3429"/>
              </a:lnSpc>
              <a:defRPr/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围术期风险评估助手 Agent（PeriRisk Agent）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8689" y="1053884"/>
            <a:ext cx="4138552" cy="369332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b="false" i="false" strike="noStrike" u="none" sz="18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创意描述</a:t>
            </a: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（必填）</a:t>
            </a:r>
            <a:r>
              <a:rPr lang="en-US" b="false" i="false" strike="noStrike" u="none" sz="18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：（</a:t>
            </a:r>
            <a:r>
              <a:rPr lang="en-US" b="false" i="false" strike="noStrike" u="none" sz="1800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&lt;500</a:t>
            </a:r>
            <a:r>
              <a:rPr lang="en-US" b="false" i="false" strike="noStrike" u="none" sz="18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字）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97658" y="5077577"/>
            <a:ext cx="4138552" cy="369332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所属主题</a:t>
            </a: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（必填）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118384" y="1053884"/>
            <a:ext cx="4138552" cy="369332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应用场景</a:t>
            </a: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（必填）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 w="12700" cmpd="sng" cap="flat">
            <a:solidFill>
              <a:srgbClr val="71716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88900" y="4998070"/>
            <a:ext cx="57953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cxnSp>
        <p:nvCxnSpPr>
          <p:cNvPr name="Connector 10" id="10"/>
          <p:cNvCxnSpPr/>
          <p:nvPr/>
        </p:nvCxnSpPr>
        <p:spPr>
          <a:xfrm rot="5383937" flipH="false" flipV="false">
            <a:off x="3100059" y="3601153"/>
            <a:ext cx="54363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371445" y="2446171"/>
            <a:ext cx="990977" cy="369332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true" strike="noStrike" u="none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&lt;500</a:t>
            </a: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22152" y="5574886"/>
            <a:ext cx="4455759" cy="458459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科研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79031" y="3105834"/>
            <a:ext cx="4967205" cy="1289456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面向麻醉科医生与围术期团队：术前评估输入患者病历与监护波形，输出风险分级与麻醉关注点报告；</a:t>
            </a: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  <a:endParaRPr lang="en-US" sz="1100"/>
          </a:p>
          <a:p>
            <a:pPr algn="l" marL="0" indent="0" defTabSz="914400">
              <a:lnSpc>
                <a:spcPct val="150000"/>
              </a:lnSpc>
            </a:pP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基层医院可借此补齐评估规范性，缓解麻醉医生短缺下的评估质量压力。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96900" y="2921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术前风险评估是麻醉科真实刚需：医生手工翻病历、逐项核对 ASA 等评分并对照指南，一次约 20—40 分钟且易漏项，基层医院更缺人。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PeriRisk Agent 基于大模型 Function Calling 自主调度：输入病历与监护波形，Agent 主动查病历、读波形算心率、按规则判定 ASA 分级，集齐后一键生成【风险评估】【麻醉关注点】【建议】三段式报告。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637520" y="6355080"/>
            <a:ext cx="1463040" cy="411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10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345362" y="249186"/>
            <a:ext cx="10736446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1187323">
              <a:lnSpc>
                <a:spcPts val="3429"/>
              </a:lnSpc>
              <a:defRPr/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创意方案构想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88900" y="3607496"/>
            <a:ext cx="11950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68123" flipH="false" flipV="false">
            <a:off x="4432069" y="4986722"/>
            <a:ext cx="273931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 w="12700" cmpd="sng" cap="flat">
            <a:solidFill>
              <a:srgbClr val="71716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15677" y="3763412"/>
            <a:ext cx="1901315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方案优势（可选）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0624" y="1023604"/>
            <a:ext cx="2414076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方案详情</a:t>
            </a:r>
            <a:r>
              <a:rPr lang="en-US" b="true" i="false" strike="noStrike" u="none"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（必填）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940344" y="3763412"/>
            <a:ext cx="1984763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技术依赖（可选）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8" y="4729352"/>
            <a:ext cx="5405843" cy="158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进展：Demo 已跑通，命令行 + Streamlit，GitHub 可复现；5 例批量测试：ASA 分级一致率 </a:t>
            </a:r>
            <a:r>
              <a:rPr lang="en-US" b="true" i="true" strike="noStrike" u="none" sz="1500">
                <a:solidFill>
                  <a:srgbClr val="C00000"/>
                </a:solidFill>
                <a:latin typeface="DengXian"/>
                <a:ea typeface="DengXian"/>
                <a:cs typeface="DengXian"/>
                <a:sym typeface="DengXian"/>
              </a:rPr>
              <a:t>100%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、工具调用顺序正确率 </a:t>
            </a:r>
            <a:r>
              <a:rPr lang="en-US" b="true" i="true" strike="noStrike" u="none" sz="1500">
                <a:solidFill>
                  <a:srgbClr val="C00000"/>
                </a:solidFill>
                <a:latin typeface="DengXian"/>
                <a:ea typeface="DengXian"/>
                <a:cs typeface="DengXian"/>
                <a:sym typeface="DengXian"/>
              </a:rPr>
              <a:t>100%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，心率算法误差 </a:t>
            </a:r>
            <a:r>
              <a:rPr lang="en-US" b="true" i="true" strike="noStrike" u="none" sz="1500">
                <a:solidFill>
                  <a:srgbClr val="C00000"/>
                </a:solidFill>
                <a:latin typeface="DengXian"/>
                <a:ea typeface="DengXian"/>
                <a:cs typeface="DengXian"/>
                <a:sym typeface="DengXian"/>
              </a:rPr>
              <a:t>5.7 次/分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（88.0 vs 监护仪 82.3）；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依赖：DeepSeek API、Python(scipy)、VitalDB；后续接入 openJiuwen / JiuwenSwarm；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Demo：3 分钟视频，展示多轮思考与工具调用，输出三段式报告。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0624" y="4729352"/>
            <a:ext cx="5405843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相比通用大模型直接问答：把信号处理做成 Agent 工具链，结论基于真实波形而非纯文本推测；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结合 VitalDB 公开数据可复现、可验证；学术上沿 Sel(2023) → IOHFuseLM(2025) → wPINNs(2026) 递进落地。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5362" y="1969431"/>
            <a:ext cx="5405843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「大模型决策 + 本地计算」三层架构：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① 应用层：Agent 主循环，自主拆任务、调工具、回填；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② 工具层：病历查询、波形心率检测、ASA 规则引擎；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③ 数据模型层：DeepSeek 出报告，VitalDB 供数，本地算数值。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208460" y="284781"/>
            <a:ext cx="10736446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1186815">
              <a:lnSpc>
                <a:spcPts val="3429"/>
              </a:lnSpc>
              <a:defRPr/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DEMO或示意图（可选，有更好）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" y="1524000"/>
            <a:ext cx="1473200" cy="914400"/>
          </a:xfrm>
          <a:prstGeom prst="roundRect">
            <a:avLst>
              <a:gd name="adj" fmla="val 13888"/>
            </a:avLst>
          </a:prstGeom>
          <a:solidFill>
            <a:srgbClr val="C00000">
              <a:alpha val="5000"/>
            </a:srgbClr>
          </a:solidFill>
          <a:ln w="12700" cmpd="sng" cap="flat">
            <a:solidFill>
              <a:srgbClr val="C00000">
                <a:alpha val="5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输入</a:t>
            </a: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结构化病历</a:t>
            </a:r>
          </a:p>
          <a:p>
            <a:pPr algn="ctr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监护波形 PPG</a:t>
            </a:r>
          </a:p>
        </p:txBody>
      </p:sp>
      <p:cxnSp>
        <p:nvCxnSpPr>
          <p:cNvPr name="Connector 6" id="6"/>
          <p:cNvCxnSpPr/>
          <p:nvPr/>
        </p:nvCxnSpPr>
        <p:spPr>
          <a:xfrm rot="-171744" flipH="false" flipV="false">
            <a:off x="1752759" y="19748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00000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2032000" y="1397000"/>
            <a:ext cx="1879600" cy="1168400"/>
          </a:xfrm>
          <a:prstGeom prst="roundRect">
            <a:avLst>
              <a:gd name="adj" fmla="val 10869"/>
            </a:avLst>
          </a:prstGeom>
          <a:solidFill>
            <a:srgbClr val="C00000">
              <a:alpha val="5000"/>
            </a:srgbClr>
          </a:solidFill>
          <a:ln w="12700" cmpd="sng" cap="flat">
            <a:solidFill>
              <a:srgbClr val="C00000">
                <a:alpha val="5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Agent 工具链</a:t>
            </a: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① 查病历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② 波形心率检测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③ ASA 规则分级</a:t>
            </a:r>
          </a:p>
        </p:txBody>
      </p:sp>
      <p:cxnSp>
        <p:nvCxnSpPr>
          <p:cNvPr name="Connector 8" id="8"/>
          <p:cNvCxnSpPr/>
          <p:nvPr/>
        </p:nvCxnSpPr>
        <p:spPr>
          <a:xfrm rot="-171744" flipH="false" flipV="false">
            <a:off x="3937159" y="19748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00000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216400" y="1473200"/>
            <a:ext cx="1473200" cy="1016000"/>
          </a:xfrm>
          <a:prstGeom prst="roundRect">
            <a:avLst>
              <a:gd name="adj" fmla="val 12500"/>
            </a:avLst>
          </a:prstGeom>
          <a:solidFill>
            <a:srgbClr val="C00000">
              <a:alpha val="100000"/>
            </a:srgbClr>
          </a:solidFill>
          <a:ln w="12700" cmpd="sng" cap="flat">
            <a:solidFill>
              <a:srgbClr val="C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三段式报告</a:t>
            </a: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>风险评估</a:t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>麻醉关注点</a:t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>建议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54000" y="28956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DengXian"/>
                <a:ea typeface="DengXian"/>
                <a:cs typeface="DengXian"/>
                <a:sym typeface="DengXian"/>
              </a:rPr>
              <a:t>PeriRisk Agent 评估链路示意（输入 → 报告生成）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1206500"/>
            <a:ext cx="5778500" cy="406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触发时机：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麻醉医生术前评估环节，医生下达评估任务后 Agent 自主执行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l" marL="0" indent="0" defTabSz="91440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输入输出：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输入结构化病历 + 监护波形；输出 ASA 风险分级与三段式评估报告（附工具返回依据）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</a:p>
          <a:p>
            <a:pPr algn="l" marL="0" indent="0" defTabSz="91440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关键路径：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查病历 → 波形心率检测 → ASA 规则分级 → 信息集齐生成报告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2386662"/>
            <a:ext cx="12192000" cy="208467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556906" y="2856476"/>
            <a:ext cx="3919502" cy="830868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3765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75CFE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6_章节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End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