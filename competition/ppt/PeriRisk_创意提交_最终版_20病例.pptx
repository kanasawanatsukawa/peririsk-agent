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057d25c9934a88" /><Relationship Type="http://schemas.openxmlformats.org/officeDocument/2006/relationships/extended-properties" Target="/docProps/app.xml" Id="R42d9f065c5b64ad3" /><Relationship Type="http://schemas.openxmlformats.org/officeDocument/2006/relationships/officeDocument" Target="/ppt/presentation.xml" Id="Rf0cd5538180c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ec73617ecb4a02"/>
    <p:sldMasterId xmlns:r="http://schemas.openxmlformats.org/officeDocument/2006/relationships" id="2147483650" r:id="R3f9fc8d3999741da"/>
    <p:sldMasterId xmlns:r="http://schemas.openxmlformats.org/officeDocument/2006/relationships" id="2147483655" r:id="Rf4d122006a1b4eff"/>
  </p:sldMasterIdLst>
  <p:notesMasterIdLst>
    <p:notesMasterId xmlns:r="http://schemas.openxmlformats.org/officeDocument/2006/relationships" r:id="R2ef9d07986fa4377"/>
  </p:notesMasterIdLst>
  <p:sldIdLst>
    <p:sldId xmlns:r="http://schemas.openxmlformats.org/officeDocument/2006/relationships" id="256" r:id="R967759e719184b15"/>
    <p:sldId xmlns:r="http://schemas.openxmlformats.org/officeDocument/2006/relationships" id="257" r:id="R3472480af2964ccb"/>
    <p:sldId xmlns:r="http://schemas.openxmlformats.org/officeDocument/2006/relationships" id="258" r:id="R2662a8cfbcf04493"/>
    <p:sldId xmlns:r="http://schemas.openxmlformats.org/officeDocument/2006/relationships" id="259" r:id="R3a3bb553040d41a5"/>
    <p:sldId xmlns:r="http://schemas.openxmlformats.org/officeDocument/2006/relationships" id="260" r:id="Re38ab9cb902b409b"/>
    <p:sldId xmlns:r="http://schemas.openxmlformats.org/officeDocument/2006/relationships" id="261" r:id="R01b2b0c4e08c4e82"/>
    <p:sldId xmlns:r="http://schemas.openxmlformats.org/officeDocument/2006/relationships" id="262" r:id="Rddb56a1e3bba4fb6"/>
    <p:sldId xmlns:r="http://schemas.openxmlformats.org/officeDocument/2006/relationships" id="263" r:id="Rd29d649ffa764cbf"/>
    <p:sldId xmlns:r="http://schemas.openxmlformats.org/officeDocument/2006/relationships" id="264" r:id="R7b382f668961499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7b565be34a4ed3" /><Relationship Type="http://schemas.openxmlformats.org/officeDocument/2006/relationships/slideMaster" Target="/ppt/slideMasters/slideMaster1.xml" Id="R7cec73617ecb4a02" /><Relationship Type="http://schemas.openxmlformats.org/officeDocument/2006/relationships/slideMaster" Target="/ppt/slideMasters/slideMaster2.xml" Id="R3f9fc8d3999741da" /><Relationship Type="http://schemas.openxmlformats.org/officeDocument/2006/relationships/slideMaster" Target="/ppt/slideMasters/slideMaster3.xml" Id="Rf4d122006a1b4eff" /><Relationship Type="http://schemas.openxmlformats.org/officeDocument/2006/relationships/notesMaster" Target="/ppt/notesMasters/notesMaster1.xml" Id="R2ef9d07986fa4377" /><Relationship Type="http://schemas.openxmlformats.org/officeDocument/2006/relationships/presProps" Target="/ppt/presProps.xml" Id="Rc26940168c724784" /><Relationship Type="http://schemas.openxmlformats.org/officeDocument/2006/relationships/viewProps" Target="/ppt/viewProps.xml" Id="R85ab1eb2a09a45d0" /><Relationship Type="http://schemas.openxmlformats.org/officeDocument/2006/relationships/tableStyles" Target="/ppt/tableStyles.xml" Id="R542ebb5df9fc483b" /><Relationship Type="http://schemas.openxmlformats.org/officeDocument/2006/relationships/slide" Target="/ppt/slides/slide1.xml" Id="R967759e719184b15" /><Relationship Type="http://schemas.openxmlformats.org/officeDocument/2006/relationships/slide" Target="/ppt/slides/slide2.xml" Id="R3472480af2964ccb" /><Relationship Type="http://schemas.openxmlformats.org/officeDocument/2006/relationships/slide" Target="/ppt/slides/slide3.xml" Id="R2662a8cfbcf04493" /><Relationship Type="http://schemas.openxmlformats.org/officeDocument/2006/relationships/slide" Target="/ppt/slides/slide4.xml" Id="R3a3bb553040d41a5" /><Relationship Type="http://schemas.openxmlformats.org/officeDocument/2006/relationships/slide" Target="/ppt/slides/slide5.xml" Id="Re38ab9cb902b409b" /><Relationship Type="http://schemas.openxmlformats.org/officeDocument/2006/relationships/slide" Target="/ppt/slides/slide6.xml" Id="R01b2b0c4e08c4e82" /><Relationship Type="http://schemas.openxmlformats.org/officeDocument/2006/relationships/slide" Target="/ppt/slides/slide7.xml" Id="Rddb56a1e3bba4fb6" /><Relationship Type="http://schemas.openxmlformats.org/officeDocument/2006/relationships/slide" Target="/ppt/slides/slide8.xml" Id="Rd29d649ffa764cbf" /><Relationship Type="http://schemas.openxmlformats.org/officeDocument/2006/relationships/slide" Target="/ppt/slides/slide9.xml" Id="R7b382f668961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c09e7adfe324e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819d8a9f943c7" /><Relationship Type="http://schemas.openxmlformats.org/officeDocument/2006/relationships/notesMaster" Target="/ppt/notesMasters/notesMaster1.xml" Id="R6176d9ebb8f448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46741566d44d66" /><Relationship Type="http://schemas.openxmlformats.org/officeDocument/2006/relationships/notesMaster" Target="/ppt/notesMasters/notesMaster1.xml" Id="Rfef04dea3d7140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78a4061e54054" /><Relationship Type="http://schemas.openxmlformats.org/officeDocument/2006/relationships/notesMaster" Target="/ppt/notesMasters/notesMaster1.xml" Id="R8d31926b3c7c41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e6aa44450d41ae" /><Relationship Type="http://schemas.openxmlformats.org/officeDocument/2006/relationships/notesMaster" Target="/ppt/notesMasters/notesMaster1.xml" Id="Ra9844b9aab0944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9ef6a8ea384451" /><Relationship Type="http://schemas.openxmlformats.org/officeDocument/2006/relationships/notesMaster" Target="/ppt/notesMasters/notesMaster1.xml" Id="R21e5f66f848244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f0a174cdd04cc2" /><Relationship Type="http://schemas.openxmlformats.org/officeDocument/2006/relationships/notesMaster" Target="/ppt/notesMasters/notesMaster1.xml" Id="R564fe9a21f5742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de22714ec242b2" /><Relationship Type="http://schemas.openxmlformats.org/officeDocument/2006/relationships/notesMaster" Target="/ppt/notesMasters/notesMaster1.xml" Id="R07f35719dbae4e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ace85587544aa7" /><Relationship Type="http://schemas.openxmlformats.org/officeDocument/2006/relationships/notesMaster" Target="/ppt/notesMasters/notesMaster1.xml" Id="R98e6420e980449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55e81abeb44f23" /><Relationship Type="http://schemas.openxmlformats.org/officeDocument/2006/relationships/notesMaster" Target="/ppt/notesMasters/notesMaster1.xml" Id="R2a8005c814214f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开场：PeriRisk 面向围术期风险评估，把患者档案和真实 PPG 波形接入可追溯的 Agent 工具链。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PeriRisk把围术期风险评估拆成可验证的工具链。当前使用20个VitalDB病例，每个病例120秒PPG，由工具自动选择60秒分析窗口；人物档案为合成演示数据，不宣称为真实患者。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方案重点是模型负责调度、本地工具负责确定性计算。120秒波形先做质量和稳定性检查，再自动选出60秒窗口。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截图来自当前20病例版本。周敏 case_010 从120秒原始波形中自动选择5到65秒，报告中的每条结论均包含工具依据。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五个工具分别负责病历、数据质量、自动选窗心率、窗口稳定性和ASA规则。主循环最多10轮，报告格式问题最多纠正两次。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每个病例有120秒原始PLETH，工具按5秒步长检查13个候选60秒窗口。陈伟 case_004 最终选择45到105秒，算法心率86.0，PLETH_HR 86.4。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全候选窗口验证覆盖20个病例的260个窗口。当前质量加稳定性策略的同源差均值1.3、最差4.6，优于固定首窗的2.8和9.0。参考最优0.4只作为理论上界。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20例完整Agent评估中，分级、调用顺序和报告校验均为20/20。平均同源差1.3、综合HR差1.8。所有结果属于工程验证，不构成临床准确率。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结束：PeriRisk用五个工具和120秒自动选窗把围术期风险判断变成可审计流程，后续接入openJiuwen、FHIR和实时监护。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0190d65a24d43" /><Relationship Type="http://schemas.openxmlformats.org/officeDocument/2006/relationships/image" Target="/ppt/media/image2.jpeg" Id="R20e3c6bab05240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838a2c7c5c4b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225a061b7c42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1e76348bb444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4d2b11774d44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f6687ff4fcc4f9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729C28F6-5159-4E46-9141-B25C1F00A5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e3c6bab052406e"/>
          <a:srcRect xmlns:a="http://schemas.openxmlformats.org/drawingml/2006/main" l="0" t="10667" r="0" b="11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31519"/>
            <a:ext cx="12192000" cy="5366583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0985168-38C9-42A5-AC24-F3F1DE6F7EE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6700" y="2396357"/>
            <a:ext cx="6629400" cy="16748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94BABC8-1FD1-403C-9B5B-2BBB3728A1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6700" y="4761189"/>
            <a:ext cx="4488180" cy="799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buNone/>
              <a:defRPr sz="1800"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目录页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01A195D-D02E-4140-9959-1ABB5585162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217" y="1843091"/>
            <a:ext cx="10118107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3pPr>
            <a:lvl4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4pPr>
            <a:lvl5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94936FCA-3B24-423B-8EB8-361A02E7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516" y="1349255"/>
            <a:ext cx="8856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EC4B812A-5E9A-40B3-8753-149D7EF0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59" y="630376"/>
            <a:ext cx="1147037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57282D-6820-41F7-B9DA-109B5137715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8890" y="456134"/>
            <a:ext cx="10736446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80"/>
            </a:lvl4pPr>
            <a:lvl5pPr marL="2372995" indent="0" algn="ctr">
              <a:buNone/>
              <a:defRPr sz="2080"/>
            </a:lvl5pPr>
            <a:lvl6pPr marL="2966085" indent="0" algn="ctr">
              <a:buNone/>
              <a:defRPr sz="2080"/>
            </a:lvl6pPr>
            <a:lvl7pPr marL="3559175" indent="0" algn="ctr">
              <a:buNone/>
              <a:defRPr sz="2080"/>
            </a:lvl7pPr>
            <a:lvl8pPr marL="4151630" indent="0" algn="ctr">
              <a:buNone/>
              <a:defRPr sz="2080"/>
            </a:lvl8pPr>
            <a:lvl9pPr marL="4745355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D0168F-AF87-4AF3-9EA0-6A8932C0C907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622" y="1501993"/>
            <a:ext cx="10729364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865" algn="ctr"/>
              </a:tabLst>
              <a:defRPr sz="1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25780" indent="-170815">
              <a:buFont typeface="Arial"/>
              <a:buChar char="•"/>
              <a:tabLst>
                <a:tab pos="1205865" algn="ctr"/>
              </a:tabLst>
              <a:defRPr sz="1300" baseline="0"/>
            </a:lvl2pPr>
            <a:lvl3pPr marL="525780" indent="-170815">
              <a:buFont typeface="Arial"/>
              <a:buChar char="•"/>
              <a:tabLst>
                <a:tab pos="1205865" algn="ctr"/>
              </a:tabLst>
              <a:defRPr sz="1300" baseline="0"/>
            </a:lvl3pPr>
            <a:lvl4pPr marL="525780" indent="-170815">
              <a:buFont typeface="Arial"/>
              <a:buChar char="•"/>
              <a:tabLst>
                <a:tab pos="1205865" algn="ctr"/>
              </a:tabLst>
              <a:defRPr sz="1300" baseline="0"/>
            </a:lvl4pPr>
            <a:lvl5pPr marL="525780" indent="-170815">
              <a:buFont typeface="Arial"/>
              <a:buChar char="•"/>
              <a:tabLst>
                <a:tab pos="120586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08460" y="284781"/>
            <a:ext cx="10736446" cy="375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200" b="1" baseline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1867858-2669-597E-C783-B470BD6D294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B82273E-6DE7-14C0-75BF-DC711DBDCA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69C73CA-6EB6-82F0-72B5-43E11CC83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E19447-A5E6-4AF1-B91C-E41E669677F1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B28757-E571-9327-D531-9F5EAF4AE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F23CA6-8305-A5EE-E436-19C3496A6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7AE1A8-FC57-4C57-A899-A7388D8BB8D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End pag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12D408-EAAC-409C-AFB0-A324E7E9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06" y="2856476"/>
            <a:ext cx="3919502" cy="8308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3765">
              <a:spcBef>
                <a:spcPts val="0"/>
              </a:spcBef>
              <a:spcAft>
                <a:spcPts val="0"/>
              </a:spcAft>
              <a:buNone/>
            </a:pPr>
            <a:r>
              <a:rPr sz="4800" b="1">
                <a:solidFill>
                  <a:srgbClr val="175CFE"/>
                </a:solidFill>
                <a:latin typeface="Arial"/>
                <a:ea typeface="Arial"/>
                <a:cs typeface="Arial"/>
              </a:rPr>
              <a:t>Thank you.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a3ecaeb11497c" /><Relationship Type="http://schemas.openxmlformats.org/officeDocument/2006/relationships/slideLayout" Target="/ppt/slideLayouts/slideLayout1.xml" Id="R5a507de7cf2a4ab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2e47b5e61bf14e17" /><Relationship Type="http://schemas.openxmlformats.org/officeDocument/2006/relationships/image" Target="/ppt/media/image2.png" Id="R6cc0bffab0974cbd" /><Relationship Type="http://schemas.openxmlformats.org/officeDocument/2006/relationships/theme" Target="/ppt/slideMasters/theme/theme3.xml" Id="R1c1477cd90e144e8" /><Relationship Type="http://schemas.openxmlformats.org/officeDocument/2006/relationships/slideLayout" Target="/ppt/slideLayouts/slideLayout2.xml" Id="R8ab7fde1702b40a4" /><Relationship Type="http://schemas.openxmlformats.org/officeDocument/2006/relationships/slideLayout" Target="/ppt/slideLayouts/slideLayout3.xml" Id="R03e6d014ac7b4bb4" /><Relationship Type="http://schemas.openxmlformats.org/officeDocument/2006/relationships/slideLayout" Target="/ppt/slideLayouts/slideLayout4.xml" Id="R9c5ad0c5058d494c" /><Relationship Type="http://schemas.openxmlformats.org/officeDocument/2006/relationships/slideLayout" Target="/ppt/slideLayouts/slideLayout5.xml" Id="R4c6aadc54b434d0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jpeg" Id="R29161f58d8a2475b" /><Relationship Type="http://schemas.openxmlformats.org/officeDocument/2006/relationships/theme" Target="/ppt/slideMasters/theme/theme4.xml" Id="Rd7d2042b8e694998" /><Relationship Type="http://schemas.openxmlformats.org/officeDocument/2006/relationships/slideLayout" Target="/ppt/slideLayouts/slideLayout6.xml" Id="R9f9a3acae1ee46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507de7cf2a4ab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D57870-70BB-4E78-BDE6-9008E199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45" y="6526023"/>
            <a:ext cx="499534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2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88572359-1317-4A26-9974-B1AA75B5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3197" y="381834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67CFEF4E-FAA0-4A09-BD8D-514CCA21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985" y="3674165"/>
            <a:ext cx="633008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0198D811-671D-48CB-BC1D-3E52B63B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282" y="381834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25C7A53E-BBEC-4C34-B3B2-A19CCFC8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3197" y="4702010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2BA8AE9B-5C38-4BE5-B5A5-3DD7F454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282" y="4263033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3765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0C258C28-F7A7-4AAF-94BD-1AB46C51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3197" y="558236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312CB2CA-B401-4D0C-A177-46F99F4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282" y="4709704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1EDA4CDA-98D8-4CBD-B605-D257D11C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296" y="2766053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spcBef>
                <a:spcPts val="0"/>
              </a:spcBef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8509A3C-0858-4B33-AA00-1F0722DE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85671" y="2625392"/>
            <a:ext cx="43687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F28D1A65-D433-498C-9F4A-81FB1BFF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911" y="3207065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5C80AACA-BB7E-44D8-A0C0-97C9DA5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852" y="4258590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5DD38B28-2A20-4007-8255-205E2951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852" y="5142252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708F9C2F-B255-4AC5-8900-D73C7CF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852" y="6021347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1992A2BA-1B71-4DF4-AA3A-26933FF7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200" y="5582369"/>
            <a:ext cx="475974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ABCA73D0-FE47-48B6-998E-2047686D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89856" y="5142252"/>
            <a:ext cx="475974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9642ADC4-5FEC-4724-AB14-160D22F5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86859" y="6021347"/>
            <a:ext cx="475974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594C7106-69A8-4D00-AF8F-84CDE77E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2223" y="2766053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8CE66BAA-E25E-4942-BE53-321DACD5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38" y="3207065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E3C450CC-2EBB-4858-9788-000F6835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9327" y="381834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6D25CCDD-0D3D-4240-99E5-A394EE3D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9327" y="4263033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3765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0153985F-8D57-47A8-8F93-6180B3EF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9327" y="4709704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0FFA2526-34B7-4FA4-9EA2-056457FF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239" y="558236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13745DE5-3A56-471C-B8A6-83AB9131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3893" y="5142252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A5FA0C23-B109-4BA7-9FED-49191271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3893" y="6021347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6D6BA45F-31EE-4828-A893-52E0FB52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0267" y="2766053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C4F1978-C9B2-4C16-A740-BDB266DF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9882" y="3207065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DAA80ECA-7DDA-4A7F-AB17-6294686C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340" y="381834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D0432328-6D29-4E58-A582-1BBB3ED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340" y="4263033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3765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D08157EB-8B4A-4217-A33A-D02A4AB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9337" y="4709704"/>
            <a:ext cx="475974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BE0DA818-9670-4FFE-A0EF-F6D4E342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5249" y="5582369"/>
            <a:ext cx="475974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DAD2464F-CBB7-47A5-80E8-0165EAC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3903" y="5142252"/>
            <a:ext cx="475974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F9C107CC-945D-452E-9BD0-5AC7DD7F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901" y="6021347"/>
            <a:ext cx="475974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6AED7E87-6D07-4855-B13B-FC496C4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7281" y="2766053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35C687AF-22F5-41C6-BCDA-708DD401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96" y="3207065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A8CCDD9F-37B4-4863-8806-94D33B4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855" y="6459215"/>
            <a:ext cx="30884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9FC2FA79-3CA4-48DE-9F3F-98DF8F1E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0467" y="6459215"/>
            <a:ext cx="30884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1F752152-4B2F-4025-A633-DFD16B2E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8027" y="6459215"/>
            <a:ext cx="30884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824C4691-07A5-49E9-9395-DFF3F32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3546" y="6459215"/>
            <a:ext cx="30884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D1B084BE-3A47-44CB-95F6-F9F47AD4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3247" y="6459215"/>
            <a:ext cx="30884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4C984E7D-59FC-4462-97FD-7C94E77E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42192" y="6459215"/>
            <a:ext cx="30884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9" name="图片 48">
            <a:extLst xmlns:a="http://schemas.openxmlformats.org/drawingml/2006/main">
              <a:ext uri="{FF2B5EF4-FFF2-40B4-BE49-F238E27FC236}">
                <a16:creationId xmlns:a16="http://schemas.microsoft.com/office/drawing/2014/main" id="{A5E88BCA-0D9F-44C5-9768-8445F982F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7b5e61bf14e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69233" y="6477212"/>
            <a:ext cx="252000" cy="252000"/>
          </a:xfrm>
          <a:prstGeom xmlns:a="http://schemas.openxmlformats.org/drawingml/2006/main" prst="rect">
            <a:avLst/>
          </a:prstGeom>
        </p:spPr>
      </p:pic>
      <p:pic>
        <p:nvPicPr>
          <p:cNvPr id="50" name="图片 49">
            <a:extLst xmlns:a="http://schemas.openxmlformats.org/drawingml/2006/main">
              <a:ext uri="{FF2B5EF4-FFF2-40B4-BE49-F238E27FC236}">
                <a16:creationId xmlns:a16="http://schemas.microsoft.com/office/drawing/2014/main" id="{1E9C9742-5B74-4FF6-BB56-E2476728D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0bffab0974c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1216" y="6483431"/>
            <a:ext cx="888325" cy="1980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8ab7fde1702b40a4"/>
    <p:sldLayoutId xmlns:r="http://schemas.openxmlformats.org/officeDocument/2006/relationships" id="2147483652" r:id="R03e6d014ac7b4bb4"/>
    <p:sldLayoutId xmlns:r="http://schemas.openxmlformats.org/officeDocument/2006/relationships" id="2147483653" r:id="R9c5ad0c5058d494c"/>
    <p:sldLayoutId xmlns:r="http://schemas.openxmlformats.org/officeDocument/2006/relationships" id="2147483654" r:id="R4c6aadc54b434d01"/>
  </p:sldLayoutIdLst>
  <p:hf hdr="0" ftr="0" dt="0"/>
  <p:txStyles>
    <p:titleStyle>
      <a:lvl1pPr xmlns:a="http://schemas.openxmlformats.org/drawingml/2006/main" algn="l" defTabSz="118681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681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27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336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7085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081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390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57625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135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5075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681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0540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426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735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1080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4170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4789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66B35737-8E46-4392-9B63-3532D8526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61f58d8a2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386662"/>
            <a:ext cx="12192000" cy="2084676"/>
          </a:xfrm>
          <a:prstGeom xmlns:a="http://schemas.openxmlformats.org/drawingml/2006/main" prst="rect">
            <a:avLst/>
          </a:prstGeom>
        </p:spPr>
      </p:pic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4705956-37AE-4159-89A1-8E96B77C9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2479" y="2386662"/>
            <a:ext cx="3982676" cy="20846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9f9a3acae1ee46ab"/>
  </p:sldLayoutIdLst>
  <p:hf sldNum="0" hdr="0" ftr="0"/>
  <p:txStyles>
    <p:titleStyle>
      <a:lvl1pPr xmlns:a="http://schemas.openxmlformats.org/drawingml/2006/main" algn="l" defTabSz="1186815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0" indent="0" algn="l" defTabSz="1186815">
        <a:lnSpc>
          <a:spcPct val="90000"/>
        </a:lnSpc>
        <a:spcBef>
          <a:spcPts val="1300"/>
        </a:spcBef>
        <a:buFont typeface="Arial"/>
        <a:buNone/>
        <a:defRPr sz="1820" kern="1200">
          <a:solidFill>
            <a:srgbClr val="FFFFFF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593725" indent="0" algn="l" defTabSz="1186815">
        <a:lnSpc>
          <a:spcPct val="90000"/>
        </a:lnSpc>
        <a:spcBef>
          <a:spcPts val="650"/>
        </a:spcBef>
        <a:buFont typeface="Arial"/>
        <a:buNone/>
        <a:defRPr sz="311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6815" indent="0" algn="l" defTabSz="1186815">
        <a:lnSpc>
          <a:spcPct val="90000"/>
        </a:lnSpc>
        <a:spcBef>
          <a:spcPts val="650"/>
        </a:spcBef>
        <a:buFont typeface="Arial"/>
        <a:buNone/>
        <a:defRPr sz="259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0540" indent="0" algn="l" defTabSz="1186815">
        <a:lnSpc>
          <a:spcPct val="90000"/>
        </a:lnSpc>
        <a:spcBef>
          <a:spcPts val="650"/>
        </a:spcBef>
        <a:buFont typeface="Arial"/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3630" indent="0" algn="l" defTabSz="1186815">
        <a:lnSpc>
          <a:spcPct val="90000"/>
        </a:lnSpc>
        <a:spcBef>
          <a:spcPts val="650"/>
        </a:spcBef>
        <a:buFont typeface="Arial"/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3900" indent="-296545" algn="l" defTabSz="118681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57625" indent="-296545" algn="l" defTabSz="118681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0715" indent="-296545" algn="l" defTabSz="118681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4440" indent="-296545" algn="l" defTabSz="118681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681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681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6815" algn="l" defTabSz="118681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0540" algn="l" defTabSz="118681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3630" algn="l" defTabSz="118681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7355" algn="l" defTabSz="118681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1080" algn="l" defTabSz="118681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4170" algn="l" defTabSz="118681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47895" algn="l" defTabSz="118681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c08d222c14dac" /><Relationship Type="http://schemas.openxmlformats.org/officeDocument/2006/relationships/notesSlide" Target="/ppt/notesSlides/notesSlide1.xml" Id="Rd107a59d14e6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ef7ee5f24d646ff" /><Relationship Type="http://schemas.openxmlformats.org/officeDocument/2006/relationships/notesSlide" Target="/ppt/notesSlides/notesSlide2.xml" Id="Rd829c70672ee46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1ddce24e34e4df7" /><Relationship Type="http://schemas.openxmlformats.org/officeDocument/2006/relationships/notesSlide" Target="/ppt/notesSlides/notesSlide3.xml" Id="R5b8cf9d25e5340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999bbca180743d1" /><Relationship Type="http://schemas.openxmlformats.org/officeDocument/2006/relationships/image" Target="/ppt/media/image3.png" Id="R65a2dfcae91c4535" /><Relationship Type="http://schemas.openxmlformats.org/officeDocument/2006/relationships/image" Target="/ppt/media/image4.png" Id="R8db261d2cd454252" /><Relationship Type="http://schemas.openxmlformats.org/officeDocument/2006/relationships/notesSlide" Target="/ppt/notesSlides/notesSlide4.xml" Id="Readcb3eba0d3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f1084fe38d64c75" /><Relationship Type="http://schemas.openxmlformats.org/officeDocument/2006/relationships/notesSlide" Target="/ppt/notesSlides/notesSlide5.xml" Id="R515ad1ed62b245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77aba18a5514530" /><Relationship Type="http://schemas.openxmlformats.org/officeDocument/2006/relationships/image" Target="/ppt/media/image5.png" Id="Rbc596a990d084420" /><Relationship Type="http://schemas.openxmlformats.org/officeDocument/2006/relationships/notesSlide" Target="/ppt/notesSlides/notesSlide6.xml" Id="Rce1e991e18ec48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59d86234426404e" /><Relationship Type="http://schemas.openxmlformats.org/officeDocument/2006/relationships/image" Target="/ppt/media/image6.png" Id="R710a648f243d4c80" /><Relationship Type="http://schemas.openxmlformats.org/officeDocument/2006/relationships/notesSlide" Target="/ppt/notesSlides/notesSlide7.xml" Id="R0137bd40d4fc44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73395ee5af49c1" /><Relationship Type="http://schemas.openxmlformats.org/officeDocument/2006/relationships/notesSlide" Target="/ppt/notesSlides/notesSlide8.xml" Id="R1586936d97c346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e2ea8d9d344d21" /><Relationship Type="http://schemas.openxmlformats.org/officeDocument/2006/relationships/notesSlide" Target="/ppt/notesSlides/notesSlide9.xml" Id="Rf7053a41a00d4a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4C43955-FDE6-465B-BE99-DBA97C458A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PeriRisk Agent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C4E53A5-90A8-4045-9FB0-DFCF5D7234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B9270-B788-4394-A9AC-E6822C13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面向围术期数字孪生的可追溯风险评估智能体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51346-1244-4C95-AFF0-F2E9A05D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6858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4E25F-700A-49B0-9616-C52F2524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openJiuwen 智能体创新大赛 · 创意提交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5FC9D-9C5A-44DF-827F-5497BB31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设备互联 · 医疗健康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深圳技术大学 · 生物医学工程</a:t>
            </a:r>
          </a:p>
        </p:txBody>
      </p:sp>
    </p:spTree>
    <p:extLst>
      <p:ext uri="{BB962C8B-B14F-4D97-AF65-F5344CB8AC3E}">
        <p14:creationId xmlns:p14="http://schemas.microsoft.com/office/powerpoint/2010/main" val="11379386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1">
            <a:extLst xmlns:a="http://schemas.openxmlformats.org/drawingml/2006/main">
              <a:ext uri="{FF2B5EF4-FFF2-40B4-BE49-F238E27FC236}">
                <a16:creationId xmlns:a16="http://schemas.microsoft.com/office/drawing/2014/main" id="{1145A6A4-8EAF-45AC-8D5B-79E3BFFB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2" y="249186"/>
            <a:ext cx="10736446" cy="375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 defTabSz="1187323">
              <a:lnSpc>
                <a:spcPts val="3429"/>
              </a:lnSpc>
              <a:spcBef>
                <a:spcPts val="0"/>
              </a:spcBef>
              <a:buFont typeface="Arial"/>
              <a:buNone/>
              <a:defRPr sz="3200" b="1" i="0" kern="1200" baseline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marL="593662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597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87323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337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0986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74648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968309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561971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55634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749295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PeriRisk Agent：围术期数字孪生的风险决策层</a:t>
            </a: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76111ED-963D-46F4-85AB-E9DCC68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89" y="1053884"/>
            <a:ext cx="4138552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创意描述（必填）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5B6ECBD-A721-4AD2-B2AF-9ADDA26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58" y="5077577"/>
            <a:ext cx="4138552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所属主题</a:t>
            </a:r>
            <a:r>
              <a:rPr b="1">
                <a:solidFill>
                  <a:srgbClr val="C00000"/>
                </a:solidFill>
              </a:rPr>
              <a:t>（必填）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C426FC6-34D5-4887-8F37-EB2224DB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384" y="1053884"/>
            <a:ext cx="4138552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应用场景</a:t>
            </a:r>
            <a:r>
              <a:rPr b="1">
                <a:solidFill>
                  <a:srgbClr val="C00000"/>
                </a:solidFill>
              </a:rPr>
              <a:t>（必填）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9C6943AB-BE73-4EA4-86B4-BE89093F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" y="889348"/>
            <a:ext cx="11950700" cy="5436296"/>
          </a:xfrm>
          <a:prstGeom xmlns:a="http://schemas.openxmlformats.org/drawingml/2006/main" prst="roundRect">
            <a:avLst>
              <a:gd name="adj" fmla="val 8257"/>
            </a:avLst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30D1D22-AE90-47AB-BD19-967886A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" y="4998070"/>
            <a:ext cx="579537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>
                <a:lumMod val="50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4E39F87C-8AD2-44AC-9CDB-315ADB5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864" y="889348"/>
            <a:ext cx="0" cy="543629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>
                <a:lumMod val="50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D99E9E4-BDBE-42DC-B774-A2E6D051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429250" cy="1234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面向麻醉科医生和基层围术期团队。系统输入患者档案与连续120秒PPG脉搏波，由Agent按任务自主调度查病历、数据质量、自动选窗心率、窗口稳定性和ASA规则五个本地工具，生成【风险评估】【麻醉关注点】【建议】三段式报告。心率与分级均由本地代码确定性计算，每条结论附工具依据。当前用20个经质量筛选的VitalDB病例验证工具链。</a:t>
            </a:r>
            <a:endParaRPr i="1">
              <a:solidFill>
                <a:srgbClr val="0070C0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EFC3242-0537-4CD3-8635-4D2A7F2E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152" y="5574886"/>
            <a:ext cx="4455759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ctr"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buNone/>
              <a:def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设备互联 · 医疗健康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AC22185-319B-435F-B3DC-ABB20668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953000" cy="15259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术前门诊或病房评估。医生选择患者后触发，系统读取病历和120秒监护脉搏波，自动选择质量最好且最稳定的60秒窗口，输出ASA分级、麻醉关注点和可追溯建议。</a:t>
            </a:r>
            <a:endParaRPr i="1">
              <a:solidFill>
                <a:srgbClr val="0070C0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i="1">
                <a:solidFill>
                  <a:srgbClr val="0070C0"/>
                </a:solidFill>
              </a:rPr>
              <a:t/>
            </a:r>
            <a:endParaRPr i="1">
              <a:solidFill>
                <a:srgbClr val="0070C0"/>
              </a:solidFill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当前为本地Web原型；未来接入HIS/EMR、监护仪和FHIR，将静态病例升级为持续更新的虚拟患者状态。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76D4BBB-26A9-4D81-B7C8-ED116E9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191500" cy="2115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数据：VitalDB（20例）。文献：Zhang 2021、Sankar 2014、Karim 2021。</a:t>
            </a:r>
          </a:p>
        </p:txBody>
      </p:sp>
    </p:spTree>
    <p:extLst>
      <p:ext uri="{BB962C8B-B14F-4D97-AF65-F5344CB8AC3E}">
        <p14:creationId xmlns:p14="http://schemas.microsoft.com/office/powerpoint/2010/main" val="25642877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1">
            <a:extLst xmlns:a="http://schemas.openxmlformats.org/drawingml/2006/main">
              <a:ext uri="{FF2B5EF4-FFF2-40B4-BE49-F238E27FC236}">
                <a16:creationId xmlns:a16="http://schemas.microsoft.com/office/drawing/2014/main" id="{DFE061A5-89C1-4791-A5E4-A22684C2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2" y="249186"/>
            <a:ext cx="10736446" cy="375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 defTabSz="1187323">
              <a:lnSpc>
                <a:spcPts val="3429"/>
              </a:lnSpc>
              <a:spcBef>
                <a:spcPts val="0"/>
              </a:spcBef>
              <a:buFont typeface="Arial"/>
              <a:buNone/>
              <a:defRPr sz="3200" b="1" i="0" kern="1200" baseline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marL="593662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597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87323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337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0986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74648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968309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561971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55634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749295" indent="0" algn="ctr" defTabSz="1187323">
              <a:lnSpc>
                <a:spcPct val="90000"/>
              </a:lnSpc>
              <a:spcBef>
                <a:spcPts val="650"/>
              </a:spcBef>
              <a:buFont typeface="Arial"/>
              <a:buNone/>
              <a:defRPr sz="2078" b="1" i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创意方案：从患者状态到可追溯报告</a:t>
            </a:r>
          </a:p>
        </p:txBody>
      </p:sp>
      <p:cxnSp>
        <p:nvCxn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CFA06AD-BD86-42B5-B157-C99348D95E3C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>
            <a:off x="88900" y="3607496"/>
            <a:ext cx="11950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>
                <a:lumMod val="50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BCD40E15-A23B-4BD0-84BE-76DB0AFD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376" y="3623415"/>
            <a:ext cx="0" cy="273928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>
                <a:lumMod val="50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83F2A6C2-0B11-48B1-B070-FF9968A3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" y="889348"/>
            <a:ext cx="11950700" cy="5436296"/>
          </a:xfrm>
          <a:prstGeom xmlns:a="http://schemas.openxmlformats.org/drawingml/2006/main" prst="roundRect">
            <a:avLst>
              <a:gd name="adj" fmla="val 8257"/>
            </a:avLst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1B0417D-87D1-435A-A19A-C07FC4D3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7" y="3763412"/>
            <a:ext cx="190131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方案优势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3900522-0BC3-4410-943D-64E58AD7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24" y="1023604"/>
            <a:ext cx="2414076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方案详情与核心能力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C809043-1679-4A48-8CD7-9355B9D5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362" y="3763423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技术依赖与DEMO计划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BB58DEC-1461-4546-BD72-3307C4F2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5143500" cy="1041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当前：DeepSeek API、Python、NumPy、SciPy、Streamlit、VitalDB。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i="1">
                <a:solidFill>
                  <a:srgbClr val="0070C0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DEMO阶段：接入openJiuwen，验证FHIR、实时监护和医生反馈闭环。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2A7FA18-2375-45D9-8241-C5C5E731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5143500" cy="1332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模型只决定下一步调用哪个工具，不直接猜心率和分级。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i="1">
                <a:solidFill>
                  <a:srgbClr val="0070C0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120秒原始波形自动选出稳定60秒；全部候选窗口可审计。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i="1">
                <a:solidFill>
                  <a:srgbClr val="0070C0"/>
                </a:solidFill>
              </a:rP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工具结果可回填纠错，新增能力可独立扩展与测试。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A9216FF-5576-48BB-8875-CFBEAAF2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大模型负责选择工具和组织报告，波形质量、心率与ASA分级由本地确定性代码执行。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50BEB-11FD-4FF0-AC8C-40976A5F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8EA9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患者状态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20例合成病历 + 120秒PPG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9B6DA-C127-49C4-9464-63D0C4B3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47875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D8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 主循环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动态选择工具 · 10轮收敛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F6B8B-7FA7-4C0B-8A74-ABE3221D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8EA9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五工具链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病历 · 质量 · 心率 · 稳定性 · ASA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A97AD-0D62-4A11-AA60-853AAEE0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47875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D8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三段式报告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结论逐条附依据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6D049-0CAE-4023-8762-CFBACD56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526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2457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C1FEE-585F-486E-B426-C30E714B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526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2457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0E6EA-7916-4EE4-BF34-A81F8928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2457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599189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副标题 1">
            <a:extLst xmlns:a="http://schemas.openxmlformats.org/drawingml/2006/main">
              <a:ext uri="{FF2B5EF4-FFF2-40B4-BE49-F238E27FC236}">
                <a16:creationId xmlns:a16="http://schemas.microsoft.com/office/drawing/2014/main" id="{01348236-2F22-4551-9242-B378DB13C9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l">
              <a:defRPr sz="24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运行演示：病例输入与可追溯报告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3370E-892D-4FE5-9BD9-B68CAF9927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2dfcae91c453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1095375"/>
            <a:ext cx="5715000" cy="3429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B7732-E133-44D3-9889-375EE5E59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261d2cd45425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86500" y="1095375"/>
            <a:ext cx="5524500" cy="310515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1C8E4-5CF2-4EE7-8EB0-F424BC24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病例输入与场景推演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11449-A9FB-4529-A4DB-83D28E77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三段式评估报告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C1E20-62D4-4878-A739-13366E6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触发：医生选择患者并启动评估    输入：合成病历 + 120秒PPG    输出：ASA分级与逐条依据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374D1-B560-4E85-A512-5822050D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88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示例：周敏 case_010 自动选择5–65秒；算法心率82.0、PLETH_HR 82.4、综合HR 81.7次/分。</a:t>
            </a:r>
          </a:p>
        </p:txBody>
      </p:sp>
    </p:spTree>
    <p:extLst>
      <p:ext uri="{BB962C8B-B14F-4D97-AF65-F5344CB8AC3E}">
        <p14:creationId xmlns:p14="http://schemas.microsoft.com/office/powerpoint/2010/main" val="14627964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394ABE4E-FA56-938F-7201-06F20173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" y="191919"/>
            <a:ext cx="12069763" cy="4360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 defTabSz="1187323">
              <a:lnSpc>
                <a:spcPts val="3429"/>
              </a:lnSpc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技术架构：Agent 调度与确定性工具</a:t>
            </a:r>
            <a:endParaRPr sz="320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47F78-0276-49E7-A7A3-D1F2BEA3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Agent 主循环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EF6BD-8833-4A4A-8A00-10E02E8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953000" cy="175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defPPr algn="l"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① 初始化系统规则与用户任务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② 将五工具Schema发送给DeepSeek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③ 收到tool_calls后执行本地函数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④ 用tool_call_id回填工具结果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⑤ 没有新工具请求则输出报告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⑥ 报告校验最多纠正两次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⑦ 最多10轮，防止无界调用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4F874-66C8-4170-8F14-A3D5D67D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00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五个确定性工具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BC74F-6CEC-421F-AA0D-0CC7096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104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D8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设计边界：模型不直接计算心率或判级，也不得引用工具未返回的字段；最终输出仍由医生复核。</a:t>
            </a:r>
          </a:p>
        </p:txBody>
      </p:sp>
      <p:sp>
        <p:nvSpPr>
          <p:cNvPr id="17" name="tool-chain-list">
            <a:extLst xmlns:a="http://schemas.openxmlformats.org/drawingml/2006/main">
              <a:ext uri="{FF2B5EF4-FFF2-40B4-BE49-F238E27FC236}">
                <a16:creationId xmlns:a16="http://schemas.microsoft.com/office/drawing/2014/main" id="{CB0B8F91-FFEA-4202-B69C-792B533D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334000" cy="2491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125" b="0">
                <a:solidFill>
                  <a:srgbClr val="1D1D1A"/>
                </a:solidFill>
              </a:defRPr>
            </a:defPPr>
            <a:lvl1pPr algn="l">
              <a:defRPr sz="1125" b="0">
                <a:solidFill>
                  <a:srgbClr val="1D1D1A"/>
                </a:solidFill>
              </a:defRPr>
            </a:lvl1pPr>
            <a:lvl2pPr algn="l">
              <a:defRPr sz="1125" b="0">
                <a:solidFill>
                  <a:srgbClr val="1D1D1A"/>
                </a:solidFill>
              </a:defRPr>
            </a:lvl2pPr>
            <a:lvl3pPr algn="l">
              <a:defRPr sz="1125" b="0">
                <a:solidFill>
                  <a:srgbClr val="1D1D1A"/>
                </a:solidFill>
              </a:defRPr>
            </a:lvl3pPr>
            <a:lvl4pPr algn="l">
              <a:defRPr sz="1125" b="0">
                <a:solidFill>
                  <a:srgbClr val="1D1D1A"/>
                </a:solidFill>
              </a:defRPr>
            </a:lvl4pPr>
            <a:lvl5pPr algn="l">
              <a:defRPr sz="1125" b="0">
                <a:solidFill>
                  <a:srgbClr val="1D1D1A"/>
                </a:solidFill>
              </a:defRPr>
            </a:lvl5pPr>
            <a:lvl6pPr algn="l">
              <a:defRPr sz="1125" b="0">
                <a:solidFill>
                  <a:srgbClr val="1D1D1A"/>
                </a:solidFill>
              </a:defRPr>
            </a:lvl6pPr>
            <a:lvl7pPr algn="l">
              <a:defRPr sz="1125" b="0">
                <a:solidFill>
                  <a:srgbClr val="1D1D1A"/>
                </a:solidFill>
              </a:defRPr>
            </a:lvl7pPr>
            <a:lvl8pPr algn="l">
              <a:defRPr sz="1125" b="0">
                <a:solidFill>
                  <a:srgbClr val="1D1D1A"/>
                </a:solidFill>
              </a:defRPr>
            </a:lvl8pPr>
            <a:lvl9pPr algn="l">
              <a:defRPr sz="1125" b="0">
                <a:solidFill>
                  <a:srgbClr val="1D1D1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1  get_patient_record</a:t>
            </a:r>
          </a:p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   病历、BMI、急诊、气道与波形ID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2  validate_case_data</a:t>
            </a:r>
          </a:p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   120秒完整性、缺失值和信号质量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3  analyze_waveform</a:t>
            </a:r>
          </a:p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   13个候选窗口选窗并计算心率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4  compare_hr_windows</a:t>
            </a:r>
          </a:p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   比较30/60秒窗口并判断稳定性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5  assess_asa_grade</a:t>
            </a:r>
          </a:p>
          <a:p xmlns:a="http://schemas.openxmlformats.org/drawingml/2006/main">
            <a:pPr algn="l">
              <a:defRPr sz="1125" b="0">
                <a:solidFill>
                  <a:srgbClr val="1D1D1A"/>
                </a:solidFill>
              </a:defRPr>
            </a:pPr>
            <a:r>
              <a:rPr sz="1125" b="0">
                <a:solidFill>
                  <a:srgbClr val="1D1D1A"/>
                </a:solidFill>
              </a:rPr>
              <a:t>   10项输入、E标识和气道关注</a:t>
            </a:r>
          </a:p>
        </p:txBody>
      </p:sp>
    </p:spTree>
    <p:extLst>
      <p:ext uri="{BB962C8B-B14F-4D97-AF65-F5344CB8AC3E}">
        <p14:creationId xmlns:p14="http://schemas.microsoft.com/office/powerpoint/2010/main" val="10348110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C24975F1-9944-4841-9C5C-8B17501F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" y="889349"/>
            <a:ext cx="11950732" cy="5436299"/>
          </a:xfrm>
          <a:prstGeom xmlns:a="http://schemas.openxmlformats.org/drawingml/2006/main" prst="roundRect">
            <a:avLst>
              <a:gd name="adj" fmla="val 28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D312E3-F73E-4F11-8C3A-49D3C715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77" y="249174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400" b="1">
                <a:solidFill>
                  <a:srgbClr val="B00000"/>
                </a:solidFill>
              </a:defRPr>
            </a:defPPr>
            <a:lvl1pPr algn="l">
              <a:defRPr sz="2400" b="1">
                <a:solidFill>
                  <a:srgbClr val="B00000"/>
                </a:solidFill>
              </a:defRPr>
            </a:lvl1pPr>
            <a:lvl2pPr algn="l">
              <a:defRPr sz="2400" b="1">
                <a:solidFill>
                  <a:srgbClr val="B00000"/>
                </a:solidFill>
              </a:defRPr>
            </a:lvl2pPr>
            <a:lvl3pPr algn="l">
              <a:defRPr sz="2400" b="1">
                <a:solidFill>
                  <a:srgbClr val="B00000"/>
                </a:solidFill>
              </a:defRPr>
            </a:lvl3pPr>
            <a:lvl4pPr algn="l">
              <a:defRPr sz="2400" b="1">
                <a:solidFill>
                  <a:srgbClr val="B00000"/>
                </a:solidFill>
              </a:defRPr>
            </a:lvl4pPr>
            <a:lvl5pPr algn="l">
              <a:defRPr sz="2400" b="1">
                <a:solidFill>
                  <a:srgbClr val="B00000"/>
                </a:solidFill>
              </a:defRPr>
            </a:lvl5pPr>
            <a:lvl6pPr algn="l">
              <a:defRPr sz="2400" b="1">
                <a:solidFill>
                  <a:srgbClr val="B00000"/>
                </a:solidFill>
              </a:defRPr>
            </a:lvl6pPr>
            <a:lvl7pPr algn="l">
              <a:defRPr sz="2400" b="1">
                <a:solidFill>
                  <a:srgbClr val="B00000"/>
                </a:solidFill>
              </a:defRPr>
            </a:lvl7pPr>
            <a:lvl8pPr algn="l">
              <a:defRPr sz="2400" b="1">
                <a:solidFill>
                  <a:srgbClr val="B00000"/>
                </a:solidFill>
              </a:defRPr>
            </a:lvl8pPr>
            <a:lvl9pPr algn="l">
              <a:defRPr sz="2400" b="1">
                <a:solidFill>
                  <a:srgbClr val="B00000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00000"/>
                </a:solidFill>
              </a:defRPr>
            </a:pPr>
            <a:r>
              <a:rPr sz="2400" b="1">
                <a:solidFill>
                  <a:srgbClr val="B00000"/>
                </a:solidFill>
              </a:rPr>
              <a:t>数字孪生推演：从120秒波形到可追溯窗口</a:t>
            </a:r>
          </a:p>
        </p:txBody>
      </p:sp>
      <p:sp>
        <p:nvSpPr>
          <p:cNvPr id="3" name="window-summary">
            <a:extLst xmlns:a="http://schemas.openxmlformats.org/drawingml/2006/main">
              <a:ext uri="{FF2B5EF4-FFF2-40B4-BE49-F238E27FC236}">
                <a16:creationId xmlns:a16="http://schemas.microsoft.com/office/drawing/2014/main" id="{9CD6C914-E4D3-4009-ABD0-36AA8324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49530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350" b="1">
                <a:solidFill>
                  <a:srgbClr val="5F6368"/>
                </a:solidFill>
              </a:defRPr>
            </a:defPPr>
            <a:lvl1pPr algn="l">
              <a:defRPr sz="1350" b="1">
                <a:solidFill>
                  <a:srgbClr val="5F6368"/>
                </a:solidFill>
              </a:defRPr>
            </a:lvl1pPr>
            <a:lvl2pPr algn="l">
              <a:defRPr sz="1350" b="1">
                <a:solidFill>
                  <a:srgbClr val="5F6368"/>
                </a:solidFill>
              </a:defRPr>
            </a:lvl2pPr>
            <a:lvl3pPr algn="l">
              <a:defRPr sz="1350" b="1">
                <a:solidFill>
                  <a:srgbClr val="5F6368"/>
                </a:solidFill>
              </a:defRPr>
            </a:lvl3pPr>
            <a:lvl4pPr algn="l">
              <a:defRPr sz="1350" b="1">
                <a:solidFill>
                  <a:srgbClr val="5F6368"/>
                </a:solidFill>
              </a:defRPr>
            </a:lvl4pPr>
            <a:lvl5pPr algn="l">
              <a:defRPr sz="1350" b="1">
                <a:solidFill>
                  <a:srgbClr val="5F6368"/>
                </a:solidFill>
              </a:defRPr>
            </a:lvl5pPr>
            <a:lvl6pPr algn="l">
              <a:defRPr sz="1350" b="1">
                <a:solidFill>
                  <a:srgbClr val="5F6368"/>
                </a:solidFill>
              </a:defRPr>
            </a:lvl6pPr>
            <a:lvl7pPr algn="l">
              <a:defRPr sz="1350" b="1">
                <a:solidFill>
                  <a:srgbClr val="5F6368"/>
                </a:solidFill>
              </a:defRPr>
            </a:lvl7pPr>
            <a:lvl8pPr algn="l">
              <a:defRPr sz="1350" b="1">
                <a:solidFill>
                  <a:srgbClr val="5F6368"/>
                </a:solidFill>
              </a:defRPr>
            </a:lvl8pPr>
            <a:lvl9pPr algn="l">
              <a:defRPr sz="1350" b="1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原始数据不直接拿来出结果，工具先做质量和稳定性检查。</a:t>
            </a:r>
          </a:p>
        </p:txBody>
      </p:sp>
      <p:sp>
        <p:nvSpPr>
          <p:cNvPr id="4" name="window-steps">
            <a:extLst xmlns:a="http://schemas.openxmlformats.org/drawingml/2006/main">
              <a:ext uri="{FF2B5EF4-FFF2-40B4-BE49-F238E27FC236}">
                <a16:creationId xmlns:a16="http://schemas.microsoft.com/office/drawing/2014/main" id="{FF328FB8-3B18-4C42-82E5-1E39648E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095875" cy="153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350" b="0">
                <a:solidFill>
                  <a:srgbClr val="1D1D1A"/>
                </a:solidFill>
              </a:defRPr>
            </a:defPPr>
            <a:lvl1pPr algn="l">
              <a:defRPr sz="1350" b="0">
                <a:solidFill>
                  <a:srgbClr val="1D1D1A"/>
                </a:solidFill>
              </a:defRPr>
            </a:lvl1pPr>
            <a:lvl2pPr algn="l">
              <a:defRPr sz="1350" b="0">
                <a:solidFill>
                  <a:srgbClr val="1D1D1A"/>
                </a:solidFill>
              </a:defRPr>
            </a:lvl2pPr>
            <a:lvl3pPr algn="l">
              <a:defRPr sz="1350" b="0">
                <a:solidFill>
                  <a:srgbClr val="1D1D1A"/>
                </a:solidFill>
              </a:defRPr>
            </a:lvl3pPr>
            <a:lvl4pPr algn="l">
              <a:defRPr sz="1350" b="0">
                <a:solidFill>
                  <a:srgbClr val="1D1D1A"/>
                </a:solidFill>
              </a:defRPr>
            </a:lvl4pPr>
            <a:lvl5pPr algn="l">
              <a:defRPr sz="1350" b="0">
                <a:solidFill>
                  <a:srgbClr val="1D1D1A"/>
                </a:solidFill>
              </a:defRPr>
            </a:lvl5pPr>
            <a:lvl6pPr algn="l">
              <a:defRPr sz="1350" b="0">
                <a:solidFill>
                  <a:srgbClr val="1D1D1A"/>
                </a:solidFill>
              </a:defRPr>
            </a:lvl6pPr>
            <a:lvl7pPr algn="l">
              <a:defRPr sz="1350" b="0">
                <a:solidFill>
                  <a:srgbClr val="1D1D1A"/>
                </a:solidFill>
              </a:defRPr>
            </a:lvl7pPr>
            <a:lvl8pPr algn="l">
              <a:defRPr sz="1350" b="0">
                <a:solidFill>
                  <a:srgbClr val="1D1D1A"/>
                </a:solidFill>
              </a:defRPr>
            </a:lvl8pPr>
            <a:lvl9pPr algn="l">
              <a:defRPr sz="1350" b="0">
                <a:solidFill>
                  <a:srgbClr val="1D1D1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D1D1A"/>
                </a:solidFill>
              </a:defRPr>
            </a:pPr>
            <a:r>
              <a:rPr sz="1350" b="0">
                <a:solidFill>
                  <a:srgbClr val="1D1D1A"/>
                </a:solidFill>
              </a:rPr>
              <a:t>1  20个病例，每例500Hz、60000个采样点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1D1A"/>
                </a:solidFill>
              </a:defRPr>
            </a:pPr>
            <a:r>
              <a:rPr sz="1350" b="0">
                <a:solidFill>
                  <a:srgbClr val="1D1D1A"/>
                </a:solidFill>
              </a:rPr>
              <a:t>2  每5秒滑动一次，形成13个候选60秒窗口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1D1A"/>
                </a:solidFill>
              </a:defRPr>
            </a:pPr>
            <a:r>
              <a:rPr sz="1350" b="0">
                <a:solidFill>
                  <a:srgbClr val="1D1D1A"/>
                </a:solidFill>
              </a:rPr>
              <a:t>3  先检查缺失、异常和幅度，再比较前后30秒心率差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1D1A"/>
                </a:solidFill>
              </a:defRPr>
            </a:pPr>
            <a:r>
              <a:rPr sz="1350" b="0">
                <a:solidFill>
                  <a:srgbClr val="1D1D1A"/>
                </a:solidFill>
              </a:rPr>
              <a:t>4  选窗不读取参考心率，最终窗口和依据一起返回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561AE-4388-49C7-8D71-38E364A11D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96a990d084420"/>
          <a:srcRect xmlns:a="http://schemas.openxmlformats.org/drawingml/2006/main" l="0" t="4983" r="0" b="4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381125"/>
            <a:ext cx="5619750" cy="3162300"/>
          </a:xfrm>
          <a:prstGeom xmlns:a="http://schemas.openxmlformats.org/drawingml/2006/main" prst="roundRect">
            <a:avLst>
              <a:gd name="adj" fmla="val 2410"/>
            </a:avLst>
          </a:prstGeom>
        </p:spPr>
      </p:pic>
      <p:sp>
        <p:nvSpPr>
          <p:cNvPr id="6" name="window-note">
            <a:extLst xmlns:a="http://schemas.openxmlformats.org/drawingml/2006/main">
              <a:ext uri="{FF2B5EF4-FFF2-40B4-BE49-F238E27FC236}">
                <a16:creationId xmlns:a16="http://schemas.microsoft.com/office/drawing/2014/main" id="{AEED01E6-F76E-4A15-A22A-91936801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67250"/>
            <a:ext cx="56197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050" b="0">
                <a:solidFill>
                  <a:srgbClr val="5F6368"/>
                </a:solidFill>
              </a:defRPr>
            </a:defPPr>
            <a:lvl1pPr algn="l">
              <a:defRPr sz="1050" b="0">
                <a:solidFill>
                  <a:srgbClr val="5F6368"/>
                </a:solidFill>
              </a:defRPr>
            </a:lvl1pPr>
            <a:lvl2pPr algn="l">
              <a:defRPr sz="1050" b="0">
                <a:solidFill>
                  <a:srgbClr val="5F6368"/>
                </a:solidFill>
              </a:defRPr>
            </a:lvl2pPr>
            <a:lvl3pPr algn="l">
              <a:defRPr sz="1050" b="0">
                <a:solidFill>
                  <a:srgbClr val="5F6368"/>
                </a:solidFill>
              </a:defRPr>
            </a:lvl3pPr>
            <a:lvl4pPr algn="l">
              <a:defRPr sz="1050" b="0">
                <a:solidFill>
                  <a:srgbClr val="5F6368"/>
                </a:solidFill>
              </a:defRPr>
            </a:lvl4pPr>
            <a:lvl5pPr algn="l">
              <a:defRPr sz="1050" b="0">
                <a:solidFill>
                  <a:srgbClr val="5F6368"/>
                </a:solidFill>
              </a:defRPr>
            </a:lvl5pPr>
            <a:lvl6pPr algn="l">
              <a:defRPr sz="1050" b="0">
                <a:solidFill>
                  <a:srgbClr val="5F6368"/>
                </a:solidFill>
              </a:defRPr>
            </a:lvl6pPr>
            <a:lvl7pPr algn="l">
              <a:defRPr sz="1050" b="0">
                <a:solidFill>
                  <a:srgbClr val="5F6368"/>
                </a:solidFill>
              </a:defRPr>
            </a:lvl7pPr>
            <a:lvl8pPr algn="l">
              <a:defRPr sz="1050" b="0">
                <a:solidFill>
                  <a:srgbClr val="5F6368"/>
                </a:solidFill>
              </a:defRPr>
            </a:lvl8pPr>
            <a:lvl9pPr algn="l">
              <a:defRPr sz="105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黄色边框为工具最终选择；“同源差”仅用于验证，不参与选窗。</a:t>
            </a:r>
          </a:p>
        </p:txBody>
      </p:sp>
    </p:spTree>
    <p:extLst>
      <p:ext uri="{BB962C8B-B14F-4D97-AF65-F5344CB8AC3E}">
        <p14:creationId xmlns:p14="http://schemas.microsoft.com/office/powerpoint/2010/main" val="2701518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67B09442-8D45-4A8A-AF12-13E41588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" y="889349"/>
            <a:ext cx="11950732" cy="5436299"/>
          </a:xfrm>
          <a:prstGeom xmlns:a="http://schemas.openxmlformats.org/drawingml/2006/main" prst="roundRect">
            <a:avLst>
              <a:gd name="adj" fmla="val 28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444A77-C2D0-4E5B-8995-819DC174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77" y="249174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400" b="1">
                <a:solidFill>
                  <a:srgbClr val="B00000"/>
                </a:solidFill>
              </a:defRPr>
            </a:defPPr>
            <a:lvl1pPr algn="l">
              <a:defRPr sz="2400" b="1">
                <a:solidFill>
                  <a:srgbClr val="B00000"/>
                </a:solidFill>
              </a:defRPr>
            </a:lvl1pPr>
            <a:lvl2pPr algn="l">
              <a:defRPr sz="2400" b="1">
                <a:solidFill>
                  <a:srgbClr val="B00000"/>
                </a:solidFill>
              </a:defRPr>
            </a:lvl2pPr>
            <a:lvl3pPr algn="l">
              <a:defRPr sz="2400" b="1">
                <a:solidFill>
                  <a:srgbClr val="B00000"/>
                </a:solidFill>
              </a:defRPr>
            </a:lvl3pPr>
            <a:lvl4pPr algn="l">
              <a:defRPr sz="2400" b="1">
                <a:solidFill>
                  <a:srgbClr val="B00000"/>
                </a:solidFill>
              </a:defRPr>
            </a:lvl4pPr>
            <a:lvl5pPr algn="l">
              <a:defRPr sz="2400" b="1">
                <a:solidFill>
                  <a:srgbClr val="B00000"/>
                </a:solidFill>
              </a:defRPr>
            </a:lvl5pPr>
            <a:lvl6pPr algn="l">
              <a:defRPr sz="2400" b="1">
                <a:solidFill>
                  <a:srgbClr val="B00000"/>
                </a:solidFill>
              </a:defRPr>
            </a:lvl6pPr>
            <a:lvl7pPr algn="l">
              <a:defRPr sz="2400" b="1">
                <a:solidFill>
                  <a:srgbClr val="B00000"/>
                </a:solidFill>
              </a:defRPr>
            </a:lvl7pPr>
            <a:lvl8pPr algn="l">
              <a:defRPr sz="2400" b="1">
                <a:solidFill>
                  <a:srgbClr val="B00000"/>
                </a:solidFill>
              </a:defRPr>
            </a:lvl8pPr>
            <a:lvl9pPr algn="l">
              <a:defRPr sz="2400" b="1">
                <a:solidFill>
                  <a:srgbClr val="B00000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00000"/>
                </a:solidFill>
              </a:defRPr>
            </a:pPr>
            <a:r>
              <a:rPr sz="2400" b="1">
                <a:solidFill>
                  <a:srgbClr val="B00000"/>
                </a:solidFill>
              </a:rPr>
              <a:t>全候选窗口验证：自动选窗的优势与边界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97A18-F7B6-41FE-80D6-385F3DD922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a648f243d4c80"/>
          <a:srcRect xmlns:a="http://schemas.openxmlformats.org/drawingml/2006/main" l="0" t="4933" r="0" b="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381125"/>
            <a:ext cx="5715000" cy="3219450"/>
          </a:xfrm>
          <a:prstGeom xmlns:a="http://schemas.openxmlformats.org/drawingml/2006/main" prst="roundRect">
            <a:avLst>
              <a:gd name="adj" fmla="val 2367"/>
            </a:avLst>
          </a:prstGeom>
        </p:spPr>
      </p:pic>
      <p:sp>
        <p:nvSpPr>
          <p:cNvPr id="4" name="evidence-kpi">
            <a:extLst xmlns:a="http://schemas.openxmlformats.org/drawingml/2006/main">
              <a:ext uri="{FF2B5EF4-FFF2-40B4-BE49-F238E27FC236}">
                <a16:creationId xmlns:a16="http://schemas.microsoft.com/office/drawing/2014/main" id="{ED695078-1385-4F4A-990B-A5A0D934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50958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500" b="1">
                <a:solidFill>
                  <a:srgbClr val="B00000"/>
                </a:solidFill>
              </a:defRPr>
            </a:defPPr>
            <a:lvl1pPr algn="l">
              <a:defRPr sz="1500" b="1">
                <a:solidFill>
                  <a:srgbClr val="B00000"/>
                </a:solidFill>
              </a:defRPr>
            </a:lvl1pPr>
            <a:lvl2pPr algn="l">
              <a:defRPr sz="1500" b="1">
                <a:solidFill>
                  <a:srgbClr val="B00000"/>
                </a:solidFill>
              </a:defRPr>
            </a:lvl2pPr>
            <a:lvl3pPr algn="l">
              <a:defRPr sz="1500" b="1">
                <a:solidFill>
                  <a:srgbClr val="B00000"/>
                </a:solidFill>
              </a:defRPr>
            </a:lvl3pPr>
            <a:lvl4pPr algn="l">
              <a:defRPr sz="1500" b="1">
                <a:solidFill>
                  <a:srgbClr val="B00000"/>
                </a:solidFill>
              </a:defRPr>
            </a:lvl4pPr>
            <a:lvl5pPr algn="l">
              <a:defRPr sz="1500" b="1">
                <a:solidFill>
                  <a:srgbClr val="B00000"/>
                </a:solidFill>
              </a:defRPr>
            </a:lvl5pPr>
            <a:lvl6pPr algn="l">
              <a:defRPr sz="1500" b="1">
                <a:solidFill>
                  <a:srgbClr val="B00000"/>
                </a:solidFill>
              </a:defRPr>
            </a:lvl6pPr>
            <a:lvl7pPr algn="l">
              <a:defRPr sz="1500" b="1">
                <a:solidFill>
                  <a:srgbClr val="B00000"/>
                </a:solidFill>
              </a:defRPr>
            </a:lvl7pPr>
            <a:lvl8pPr algn="l">
              <a:defRPr sz="1500" b="1">
                <a:solidFill>
                  <a:srgbClr val="B00000"/>
                </a:solidFill>
              </a:defRPr>
            </a:lvl8pPr>
            <a:lvl9pPr algn="l">
              <a:defRPr sz="1500" b="1">
                <a:solidFill>
                  <a:srgbClr val="B00000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00000"/>
                </a:solidFill>
              </a:defRPr>
            </a:pPr>
            <a:r>
              <a:rPr sz="1500" b="1">
                <a:solidFill>
                  <a:srgbClr val="B00000"/>
                </a:solidFill>
              </a:rPr>
              <a:t>20个病例 × 13个候选窗口 = 260个窗口</a:t>
            </a:r>
          </a:p>
        </p:txBody>
      </p:sp>
      <p:sp>
        <p:nvSpPr>
          <p:cNvPr id="5" name="strategy-values">
            <a:extLst xmlns:a="http://schemas.openxmlformats.org/drawingml/2006/main">
              <a:ext uri="{FF2B5EF4-FFF2-40B4-BE49-F238E27FC236}">
                <a16:creationId xmlns:a16="http://schemas.microsoft.com/office/drawing/2014/main" id="{3F32852B-EC95-453C-AEFB-406CF8B2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57375"/>
            <a:ext cx="5095875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350" b="0">
                <a:solidFill>
                  <a:srgbClr val="1D1D1A"/>
                </a:solidFill>
              </a:defRPr>
            </a:defPPr>
            <a:lvl1pPr algn="l">
              <a:defRPr sz="1350" b="0">
                <a:solidFill>
                  <a:srgbClr val="1D1D1A"/>
                </a:solidFill>
              </a:defRPr>
            </a:lvl1pPr>
            <a:lvl2pPr algn="l">
              <a:defRPr sz="1350" b="0">
                <a:solidFill>
                  <a:srgbClr val="1D1D1A"/>
                </a:solidFill>
              </a:defRPr>
            </a:lvl2pPr>
            <a:lvl3pPr algn="l">
              <a:defRPr sz="1350" b="0">
                <a:solidFill>
                  <a:srgbClr val="1D1D1A"/>
                </a:solidFill>
              </a:defRPr>
            </a:lvl3pPr>
            <a:lvl4pPr algn="l">
              <a:defRPr sz="1350" b="0">
                <a:solidFill>
                  <a:srgbClr val="1D1D1A"/>
                </a:solidFill>
              </a:defRPr>
            </a:lvl4pPr>
            <a:lvl5pPr algn="l">
              <a:defRPr sz="1350" b="0">
                <a:solidFill>
                  <a:srgbClr val="1D1D1A"/>
                </a:solidFill>
              </a:defRPr>
            </a:lvl5pPr>
            <a:lvl6pPr algn="l">
              <a:defRPr sz="1350" b="0">
                <a:solidFill>
                  <a:srgbClr val="1D1D1A"/>
                </a:solidFill>
              </a:defRPr>
            </a:lvl6pPr>
            <a:lvl7pPr algn="l">
              <a:defRPr sz="1350" b="0">
                <a:solidFill>
                  <a:srgbClr val="1D1D1A"/>
                </a:solidFill>
              </a:defRPr>
            </a:lvl7pPr>
            <a:lvl8pPr algn="l">
              <a:defRPr sz="1350" b="0">
                <a:solidFill>
                  <a:srgbClr val="1D1D1A"/>
                </a:solidFill>
              </a:defRPr>
            </a:lvl8pPr>
            <a:lvl9pPr algn="l">
              <a:defRPr sz="1350" b="0">
                <a:solidFill>
                  <a:srgbClr val="1D1D1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D1D1A"/>
                </a:solidFill>
              </a:defRPr>
            </a:pPr>
            <a:r>
              <a:rPr sz="1350" b="0">
                <a:solidFill>
                  <a:srgbClr val="1D1D1A"/>
                </a:solidFill>
              </a:rPr>
              <a:t>同源差：均值 / 最差 / 综合均值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1D1A"/>
                </a:solidFill>
              </a:defRPr>
            </a:pPr>
            <a:r>
              <a:rPr sz="1350" b="0">
                <a:solidFill>
                  <a:srgbClr val="1D1D1A"/>
                </a:solidFill>
              </a:rPr>
              <a:t>固定首窗          2.8 / 9.0 / 3.0</a:t>
            </a:r>
          </a:p>
          <a:p xmlns:a="http://schemas.openxmlformats.org/drawingml/2006/main">
            <a:pPr algn="l">
              <a:defRPr sz="1350" b="0">
                <a:solidFill>
                  <a:srgbClr val="1D1D1A"/>
                </a:solidFill>
              </a:defRPr>
            </a:pPr>
            <a:r>
              <a:rPr sz="1350" b="0">
                <a:solidFill>
                  <a:srgbClr val="1D1D1A"/>
                </a:solidFill>
              </a:rPr>
              <a:t>仅信号质量        2.2 / 9.0 / 3.2</a:t>
            </a:r>
          </a:p>
          <a:p xmlns:a="http://schemas.openxmlformats.org/drawingml/2006/main">
            <a:pPr algn="l">
              <a:defRPr sz="1350" b="0">
                <a:solidFill>
                  <a:srgbClr val="1D1D1A"/>
                </a:solidFill>
              </a:defRPr>
            </a:pPr>
            <a:r>
              <a:rPr sz="1350" b="0">
                <a:solidFill>
                  <a:srgbClr val="1D1D1A"/>
                </a:solidFill>
              </a:rPr>
              <a:t>质量+稳定性       1.3 / 4.6 / 1.8</a:t>
            </a:r>
          </a:p>
          <a:p xmlns:a="http://schemas.openxmlformats.org/drawingml/2006/main">
            <a:pPr algn="l">
              <a:defRPr sz="1350" b="0">
                <a:solidFill>
                  <a:srgbClr val="1D1D1A"/>
                </a:solidFill>
              </a:defRPr>
            </a:pPr>
            <a:r>
              <a:rPr sz="1350" b="0">
                <a:solidFill>
                  <a:srgbClr val="1D1D1A"/>
                </a:solidFill>
              </a:rPr>
              <a:t>参考最优          0.4 / 1.9 / 1.1</a:t>
            </a:r>
          </a:p>
        </p:txBody>
      </p:sp>
      <p:sp>
        <p:nvSpPr>
          <p:cNvPr id="6" name="evidence-note">
            <a:extLst xmlns:a="http://schemas.openxmlformats.org/drawingml/2006/main">
              <a:ext uri="{FF2B5EF4-FFF2-40B4-BE49-F238E27FC236}">
                <a16:creationId xmlns:a16="http://schemas.microsoft.com/office/drawing/2014/main" id="{5FC395E1-481F-47B5-8893-C13F5F3A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200" b="0">
                <a:solidFill>
                  <a:srgbClr val="5F6368"/>
                </a:solidFill>
              </a:defRPr>
            </a:defPPr>
            <a:lvl1pPr algn="l">
              <a:defRPr sz="1200" b="0">
                <a:solidFill>
                  <a:srgbClr val="5F6368"/>
                </a:solidFill>
              </a:defRPr>
            </a:lvl1pPr>
            <a:lvl2pPr algn="l">
              <a:defRPr sz="1200" b="0">
                <a:solidFill>
                  <a:srgbClr val="5F6368"/>
                </a:solidFill>
              </a:defRPr>
            </a:lvl2pPr>
            <a:lvl3pPr algn="l">
              <a:defRPr sz="1200" b="0">
                <a:solidFill>
                  <a:srgbClr val="5F6368"/>
                </a:solidFill>
              </a:defRPr>
            </a:lvl3pPr>
            <a:lvl4pPr algn="l">
              <a:defRPr sz="1200" b="0">
                <a:solidFill>
                  <a:srgbClr val="5F6368"/>
                </a:solidFill>
              </a:defRPr>
            </a:lvl4pPr>
            <a:lvl5pPr algn="l">
              <a:defRPr sz="1200" b="0">
                <a:solidFill>
                  <a:srgbClr val="5F6368"/>
                </a:solidFill>
              </a:defRPr>
            </a:lvl5pPr>
            <a:lvl6pPr algn="l">
              <a:defRPr sz="1200" b="0">
                <a:solidFill>
                  <a:srgbClr val="5F6368"/>
                </a:solidFill>
              </a:defRPr>
            </a:lvl6pPr>
            <a:lvl7pPr algn="l">
              <a:defRPr sz="1200" b="0">
                <a:solidFill>
                  <a:srgbClr val="5F6368"/>
                </a:solidFill>
              </a:defRPr>
            </a:lvl7pPr>
            <a:lvl8pPr algn="l">
              <a:defRPr sz="1200" b="0">
                <a:solidFill>
                  <a:srgbClr val="5F6368"/>
                </a:solidFill>
              </a:defRPr>
            </a:lvl8pPr>
            <a:lvl9pPr algn="l">
              <a:defRPr sz="120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当前策略把最差同源差从9.0降到4.6次/分。参考最优直接读取答案，只用于展示理论下界。</a:t>
            </a:r>
          </a:p>
        </p:txBody>
      </p:sp>
      <p:sp>
        <p:nvSpPr>
          <p:cNvPr id="7" name="parameter-note">
            <a:extLst xmlns:a="http://schemas.openxmlformats.org/drawingml/2006/main">
              <a:ext uri="{FF2B5EF4-FFF2-40B4-BE49-F238E27FC236}">
                <a16:creationId xmlns:a16="http://schemas.microsoft.com/office/drawing/2014/main" id="{66BD01A6-7AF9-4D39-94F0-297F01F8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54292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200" b="1">
                <a:solidFill>
                  <a:srgbClr val="1D1D1A"/>
                </a:solidFill>
              </a:defRPr>
            </a:defPPr>
            <a:lvl1pPr algn="l">
              <a:defRPr sz="1200" b="1">
                <a:solidFill>
                  <a:srgbClr val="1D1D1A"/>
                </a:solidFill>
              </a:defRPr>
            </a:lvl1pPr>
            <a:lvl2pPr algn="l">
              <a:defRPr sz="1200" b="1">
                <a:solidFill>
                  <a:srgbClr val="1D1D1A"/>
                </a:solidFill>
              </a:defRPr>
            </a:lvl2pPr>
            <a:lvl3pPr algn="l">
              <a:defRPr sz="1200" b="1">
                <a:solidFill>
                  <a:srgbClr val="1D1D1A"/>
                </a:solidFill>
              </a:defRPr>
            </a:lvl3pPr>
            <a:lvl4pPr algn="l">
              <a:defRPr sz="1200" b="1">
                <a:solidFill>
                  <a:srgbClr val="1D1D1A"/>
                </a:solidFill>
              </a:defRPr>
            </a:lvl4pPr>
            <a:lvl5pPr algn="l">
              <a:defRPr sz="1200" b="1">
                <a:solidFill>
                  <a:srgbClr val="1D1D1A"/>
                </a:solidFill>
              </a:defRPr>
            </a:lvl5pPr>
            <a:lvl6pPr algn="l">
              <a:defRPr sz="1200" b="1">
                <a:solidFill>
                  <a:srgbClr val="1D1D1A"/>
                </a:solidFill>
              </a:defRPr>
            </a:lvl6pPr>
            <a:lvl7pPr algn="l">
              <a:defRPr sz="1200" b="1">
                <a:solidFill>
                  <a:srgbClr val="1D1D1A"/>
                </a:solidFill>
              </a:defRPr>
            </a:lvl7pPr>
            <a:lvl8pPr algn="l">
              <a:defRPr sz="1200" b="1">
                <a:solidFill>
                  <a:srgbClr val="1D1D1A"/>
                </a:solidFill>
              </a:defRPr>
            </a:lvl8pPr>
            <a:lvl9pPr algn="l">
              <a:defRPr sz="1200" b="1">
                <a:solidFill>
                  <a:srgbClr val="1D1D1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参数复核：峰值突出度 prominence 0.5、最小峰距 0.4 秒仍位于最优平台。</a:t>
            </a:r>
          </a:p>
        </p:txBody>
      </p:sp>
    </p:spTree>
    <p:extLst>
      <p:ext uri="{BB962C8B-B14F-4D97-AF65-F5344CB8AC3E}">
        <p14:creationId xmlns:p14="http://schemas.microsoft.com/office/powerpoint/2010/main" val="10930283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65051B87-7043-7750-3C72-244580A5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" y="191919"/>
            <a:ext cx="12069763" cy="4360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 defTabSz="1187323">
              <a:lnSpc>
                <a:spcPts val="3429"/>
              </a:lnSpc>
              <a:buNone/>
              <a:def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当前验证与项目边界</a:t>
            </a:r>
            <a:endParaRPr sz="320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1F56A-A9BA-453B-BC40-632AF05FAD83}"/>
              </a:ext>
            </a:extLst>
          </p:cNvPr>
          <p:cNvGraphicFramePr/>
          <p:nvPr/>
        </p:nvGraphicFramePr>
        <p:xfrm>
          <a:off xmlns:a="http://schemas.openxmlformats.org/drawingml/2006/main" x="571500" y="10668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/>
              <a:tblGrid>
                <a:gridCol w="2882348"/>
                <a:gridCol w="2401957"/>
                <a:gridCol w="5764696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验证项</a:t>
                      </a:r>
                    </a:p>
                  </a:txBody>
                  <a:tcPr marL="91440" marR="91440" marT="45720" marB="45720"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能够说明什么</a:t>
                      </a:r>
                    </a:p>
                  </a:txBody>
                  <a:tcPr marL="91440" marR="91440" marT="45720" marB="45720">
                    <a:solidFill>
                      <a:srgbClr val="B0000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Agent完整评估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/ 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分级、调用顺序、报告校验均通过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心率同窗口差异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 / 1.8 次/分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20例工程对照；同源PLETH_HR / 综合HR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候选窗口评估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260个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20病例 × 13候选；选窗不使用参考心率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选窗策略最差差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 / 9.0 次/分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当前策略 / 固定首窗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B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B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42项通过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B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规则、窗口、路径、报告和页面回归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21BFD-F663-43CC-BFC5-604E4366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数字孪生演进路线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31D05-E2D7-40F8-A321-241018BB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285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8EA9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20例静态快照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681DD-B699-4305-8374-D8937A39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9110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245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C95C4-3624-4F55-B0FC-4ADA4C43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86300"/>
            <a:ext cx="3143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8EA9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DEMO阶段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openJiuwen + 实时监护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B1A2D-5388-407F-8556-B474D389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9110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245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7D53E-5FF0-4EDC-89CF-3539E722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D8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完整数字孪生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连续同步 + 仿真 + 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55816-7B72-4B12-B816-C367B6FF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临床准确率与节时尚未验证；20/20仅表示工程流程一致，不代表临床金标准。</a:t>
            </a:r>
          </a:p>
        </p:txBody>
      </p:sp>
    </p:spTree>
    <p:extLst>
      <p:ext uri="{BB962C8B-B14F-4D97-AF65-F5344CB8AC3E}">
        <p14:creationId xmlns:p14="http://schemas.microsoft.com/office/powerpoint/2010/main" val="218010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5B760-716C-4B75-B715-3E05704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 i="0">
                <a:solidFill>
                  <a:srgbClr val="123A8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 i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 i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 i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 i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 i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 i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 i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 i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 i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rgbClr val="123A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23A8F"/>
                </a:solidFill>
                <a:latin typeface="Microsoft YaHei"/>
                <a:ea typeface="Microsoft YaHei"/>
                <a:cs typeface="Microsoft YaHei"/>
              </a:rPr>
              <a:t>PeriRisk Agent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rgbClr val="123A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23A8F"/>
                </a:solidFill>
                <a:latin typeface="Microsoft YaHei"/>
                <a:ea typeface="Microsoft YaHei"/>
                <a:cs typeface="Microsoft YaHei"/>
              </a:rPr>
              <a:t>让围术期风险判断可计算、可追溯、可验证</a:t>
            </a:r>
          </a:p>
        </p:txBody>
      </p:sp>
    </p:spTree>
    <p:extLst>
      <p:ext uri="{BB962C8B-B14F-4D97-AF65-F5344CB8AC3E}">
        <p14:creationId xmlns:p14="http://schemas.microsoft.com/office/powerpoint/2010/main" val="135861341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2026-10-30T09:57:02.0370000Z</dcterms:created>
  <dcterms:modified xsi:type="dcterms:W3CDTF">2026-10-30T09:57:02.0370000Z</dcterms:modified>
</coreProperties>
</file>